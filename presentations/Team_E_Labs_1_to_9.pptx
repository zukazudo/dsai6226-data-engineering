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labs, one continuous argument. Lab 1 finds three defects. Labs 2 and 3 each close one of them. The dataset is the UCI Adult census extract, 32,561 records from the March 1994 Current Population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a public teaching file, so the consumer and decision are our stated operating assumption. The decision is set in 1995, contemporaneous with the data. A 30 year old file cannot support a present day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was a one page data problem statement plus the team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categories map onto the brief exactly: gaps, strange values,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finding that justifies a dimension table later. The string ? means two different things and the file cannot tell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budget allocated on the uncorrected ranking is allocated on an artifact of the encoding. The Farming-fishing detail is the one to say aloud: it does not move, everything else moves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Deduplication is not safe here. Dropping all 24 risks deleting real people; keeping them risks double counting. Lab 2 makes that decision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 is DuckDB: no server, and the whole warehouse is one file a teammate can rebuild from a clone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cleaned before load. A staging table holds every column as raw text, and all cleaning happens on the way out, so the raw value behind any modelled row stays queryable.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single result in the deck. No amount of cleaning a flat file produces this distinction; it needs a dimension with a row per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this question. Concede the performance point immediately, then make the argument about representation,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command: python scripts/ingest.py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Re-running the same file proves nothing on its own: a pipeline that silently discards all input passes that test perfectly. We caught exactly that bug by feeding it a file it had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education_mapping_mismatch is worth mentioning: dim_education is seeded with the canonical ladder and not inferred from the data, so a file claiming HS-grad at level 12 is rejected, and does not quietly widen the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Ending on the limitation is deliberate. It is the honest position and it is also the strongest one: we know exactly what we cannot do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query is the allocation question from Lab 1, denormalised so that a flat file can answer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load column aloud. PostgreSQL has to be running and loaded before it answers anything, and at the larger size that is 85 seconds before the first query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thrown-away figure is worth admitting out loud. It is the clearest example in the project of a number that looked impressive and was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point of the lab. We found a number of our own that did not reproduce, and kept it in the report instead of quietly dropping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sentences, as the brief asks. The first concedes that speed does not decide it, the second makes the choice, the third names what would change 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dsai6226-team-e, dataset adult, region africa-south1. All 32,561 records, uploaded from the same denormalised table the Lab 4 benchmark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say aloud is that the prediction came first. Anyone can run a query and read a number off the screen. Computing it beforehand and having it match is what shows the pricing model is understood.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dwell on. We set out to confirm the lecture and instead found the rule was looser than stated. The failed query is kept in sql/06_bigquery.sql as a comment, because it teaches more than the one that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Region is africa-south1, chosen rather than defaulted. Unit 5 says much GCP analytics still runs from Europe, which is now out of date for BigQuery. Proximity is still not compliance: Johannesburg is outside Tanzania, so moving personal data there would need PDPA safeguards anyway. This dataset is public US census microdata, so the PDPA does not bite on it, but it would on the outcome records the delivery providers report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names five dimensions of quality: complete, valid, fresh, unique, consistent. The brief asks for three of them. We covered all five, because the two left out are the ones a row-level rule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suite that has only ever been green is a wish. We corrupted a copy of the warehouse five ways. Two got through to the checks and were caught. Three never got that far, because the primary key, a NOT NULL and a foreign key refused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The interesting half of a quality rule is not what it rejects, it is what it must not reject. The control row is the regression test for two labs of modelling.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1 found the top-coding while hunting for data quality defects, with no idea it was looking at disclosure control. Unit 6 gave it the second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anti-pattern Unit 7 names: every chart computes its own numbers from raw data, and ten charts produce ten slightly different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eligible pool filter, income below the threshold and age 25 to 54, is the thing most likely to be applied two different ways. It is defined once, in metrics.md, and applied once, in the mart.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stale data presented as live is a quiet lie, and a hand-typed freshness label rots. Ours is computed from max(refreshed_at) every time the page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32,561 rows, 21 columns, ten engineered features. The target is income above 50,000 dollars, with a base rate of 24.1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Keeping it would have produced a model that scores brilliantly, learns nothing, and fails the first time it meets a population whose income is reported differently. Unit 8's credit scoring example is the same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missing date column cost us twice. Lab 5: nothing to partition on, so column pruning saved three times rather than the hundred the lecture quotes. Lab 8: no time-based split. One absent column, two labs, two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Optimisation without measurement is superstition with extra effort. So is optimisation that only publishes the attempts that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of three full rebuilds into a throwaway database, so profiling never disturbs the warehouse anyone is using. The next slowest step is a fifth of the fact load, so everything else put together could win less than 40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we would keep if we could only keep one from Lab 9. The lesson is not about DuckDB. It is that a measuring instrument needs checking before its readings are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incremental scan looked like the clearest defect in the pipeline: 200 rows cost seventy times the work per row. Two rewrites targeted it, both lost, and a diagnostic variant removing the scan entirely was also no faster. The intuition was good and the test said no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labs, one dataset, one argument: three defects found, the decisions that closed them, the engine the evidence points at, what the same question costs in the cloud, the checks that guard it, the one tap it serves, the feature table it feeds, and the measurement that showed where the time actually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1371600"/>
            <a:ext cx="11027664" cy="274320"/>
          </a:xfrm>
          <a:prstGeom prst="rect">
            <a:avLst/>
          </a:prstGeom>
          <a:noFill/>
          <a:ln/>
        </p:spPr>
        <p:txBody>
          <a:bodyPr wrap="square" lIns="0" tIns="0" rIns="0" bIns="0" rtlCol="0" anchor="ctr"/>
          <a:lstStyle/>
          <a:p>
            <a:pPr indent="0" marL="0">
              <a:buNone/>
            </a:pPr>
            <a:r>
              <a:rPr lang="en-US" sz="1200" b="1" spc="300" kern="0" dirty="0">
                <a:solidFill>
                  <a:srgbClr val="8D9AA6"/>
                </a:solidFill>
                <a:latin typeface="Calibri" pitchFamily="34" charset="0"/>
                <a:ea typeface="Calibri" pitchFamily="34" charset="-122"/>
                <a:cs typeface="Calibri" pitchFamily="34" charset="-120"/>
              </a:rPr>
              <a:t>DSAI 6226 DATA ENGINEERING</a:t>
            </a:r>
            <a:endParaRPr lang="en-US" sz="1200" dirty="0"/>
          </a:p>
        </p:txBody>
      </p:sp>
      <p:sp>
        <p:nvSpPr>
          <p:cNvPr id="3" name="Text 1"/>
          <p:cNvSpPr/>
          <p:nvPr/>
        </p:nvSpPr>
        <p:spPr>
          <a:xfrm>
            <a:off x="566928" y="1828800"/>
            <a:ext cx="8778240" cy="173736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From a broken census file</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to a re-runnable pipeline</a:t>
            </a:r>
            <a:endParaRPr lang="en-US" sz="4000" dirty="0"/>
          </a:p>
        </p:txBody>
      </p:sp>
      <p:sp>
        <p:nvSpPr>
          <p:cNvPr id="4" name="Text 2"/>
          <p:cNvSpPr/>
          <p:nvPr/>
        </p:nvSpPr>
        <p:spPr>
          <a:xfrm>
            <a:off x="566928" y="3611880"/>
            <a:ext cx="8778240" cy="365760"/>
          </a:xfrm>
          <a:prstGeom prst="rect">
            <a:avLst/>
          </a:prstGeom>
          <a:noFill/>
          <a:ln/>
        </p:spPr>
        <p:txBody>
          <a:bodyPr wrap="square" lIns="0" tIns="0" rIns="0" bIns="0" rtlCol="0" anchor="ctr"/>
          <a:lstStyle/>
          <a:p>
            <a:pPr indent="0" marL="0">
              <a:buNone/>
            </a:pPr>
            <a:r>
              <a:rPr lang="en-US" sz="1700" dirty="0">
                <a:solidFill>
                  <a:srgbClr val="A8B4BE"/>
                </a:solidFill>
                <a:latin typeface="Calibri" pitchFamily="34" charset="0"/>
                <a:ea typeface="Calibri" pitchFamily="34" charset="-122"/>
                <a:cs typeface="Calibri" pitchFamily="34" charset="-120"/>
              </a:rPr>
              <a:t>Labs 1 to 5</a:t>
            </a:r>
            <a:endParaRPr lang="en-US" sz="1700" dirty="0"/>
          </a:p>
        </p:txBody>
      </p:sp>
      <p:sp>
        <p:nvSpPr>
          <p:cNvPr id="5" name="Text 3"/>
          <p:cNvSpPr/>
          <p:nvPr/>
        </p:nvSpPr>
        <p:spPr>
          <a:xfrm>
            <a:off x="566928" y="4709160"/>
            <a:ext cx="45720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Team E</a:t>
            </a:r>
            <a:endParaRPr lang="en-US" sz="1400" dirty="0"/>
          </a:p>
        </p:txBody>
      </p:sp>
      <p:sp>
        <p:nvSpPr>
          <p:cNvPr id="6" name="Text 4"/>
          <p:cNvSpPr/>
          <p:nvPr/>
        </p:nvSpPr>
        <p:spPr>
          <a:xfrm>
            <a:off x="566928" y="5029200"/>
            <a:ext cx="10515600" cy="320040"/>
          </a:xfrm>
          <a:prstGeom prst="rect">
            <a:avLst/>
          </a:prstGeom>
          <a:noFill/>
          <a:ln/>
        </p:spPr>
        <p:txBody>
          <a:bodyPr wrap="square" lIns="0" tIns="0" rIns="0" bIns="0" rtlCol="0" anchor="ctr"/>
          <a:lstStyle/>
          <a:p>
            <a:pPr indent="0" marL="0">
              <a:buNone/>
            </a:pPr>
            <a:r>
              <a:rPr lang="en-US" sz="1250" dirty="0">
                <a:solidFill>
                  <a:srgbClr val="A8B4BE"/>
                </a:solidFill>
                <a:latin typeface="Calibri" pitchFamily="34" charset="0"/>
                <a:ea typeface="Calibri" pitchFamily="34" charset="-122"/>
                <a:cs typeface="Calibri" pitchFamily="34" charset="-120"/>
              </a:rPr>
              <a:t>Mhina Lukurunge  ·  Samwel Mmari  ·  Asajile Mwakyalabwe  ·  Essa Mohamedali  ·  Paschal Bizulu</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5E6B77"/>
                </a:solidFill>
                <a:latin typeface="Calibri" pitchFamily="34" charset="0"/>
                <a:ea typeface="Calibri" pitchFamily="34" charset="-122"/>
                <a:cs typeface="Calibri" pitchFamily="34" charset="-120"/>
              </a:rPr>
              <a:t>THE DATASET AND THE DECISION</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What the data is for</a:t>
            </a:r>
            <a:endParaRPr lang="en-US" sz="3200" dirty="0"/>
          </a:p>
        </p:txBody>
      </p:sp>
      <p:sp>
        <p:nvSpPr>
          <p:cNvPr id="4" name="Shape 2"/>
          <p:cNvSpPr/>
          <p:nvPr/>
        </p:nvSpPr>
        <p:spPr>
          <a:xfrm>
            <a:off x="566928" y="1325880"/>
            <a:ext cx="5486400" cy="1874520"/>
          </a:xfrm>
          <a:prstGeom prst="roundRect">
            <a:avLst>
              <a:gd name="adj" fmla="val 2927"/>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5" name="Text 3"/>
          <p:cNvSpPr/>
          <p:nvPr/>
        </p:nvSpPr>
        <p:spPr>
          <a:xfrm>
            <a:off x="841248" y="1554480"/>
            <a:ext cx="4937760" cy="320040"/>
          </a:xfrm>
          <a:prstGeom prst="rect">
            <a:avLst/>
          </a:prstGeom>
          <a:noFill/>
          <a:ln/>
        </p:spPr>
        <p:txBody>
          <a:bodyPr wrap="square" lIns="0" tIns="0" rIns="0" bIns="0" rtlCol="0" anchor="t"/>
          <a:lstStyle/>
          <a:p>
            <a:pPr algn="l" indent="0" marL="0">
              <a:lnSpc>
                <a:spcPct val="115000"/>
              </a:lnSpc>
              <a:buNone/>
            </a:pPr>
            <a:r>
              <a:rPr lang="en-US" sz="1100" dirty="0">
                <a:solidFill>
                  <a:srgbClr val="5E6B77"/>
                </a:solidFill>
                <a:latin typeface="Calibri" pitchFamily="34" charset="0"/>
                <a:ea typeface="Calibri" pitchFamily="34" charset="-122"/>
                <a:cs typeface="Calibri" pitchFamily="34" charset="-120"/>
              </a:rPr>
              <a:t>THE DATA</a:t>
            </a:r>
            <a:endParaRPr lang="en-US" sz="1100" dirty="0"/>
          </a:p>
        </p:txBody>
      </p:sp>
      <p:sp>
        <p:nvSpPr>
          <p:cNvPr id="6" name="Text 4"/>
          <p:cNvSpPr/>
          <p:nvPr/>
        </p:nvSpPr>
        <p:spPr>
          <a:xfrm>
            <a:off x="841248" y="1874520"/>
            <a:ext cx="4937760" cy="1188720"/>
          </a:xfrm>
          <a:prstGeom prst="rect">
            <a:avLst/>
          </a:prstGeom>
          <a:noFill/>
          <a:ln/>
        </p:spPr>
        <p:txBody>
          <a:bodyPr wrap="square" lIns="0" tIns="0" rIns="0" bIns="0" rtlCol="0" anchor="t"/>
          <a:lstStyle/>
          <a:p>
            <a:pPr algn="l" indent="0" marL="0">
              <a:lnSpc>
                <a:spcPct val="115000"/>
              </a:lnSpc>
              <a:buNone/>
            </a:pPr>
            <a:r>
              <a:rPr lang="en-US" sz="1400" dirty="0">
                <a:solidFill>
                  <a:srgbClr val="24303A"/>
                </a:solidFill>
                <a:latin typeface="Calibri" pitchFamily="34" charset="0"/>
                <a:ea typeface="Calibri" pitchFamily="34" charset="-122"/>
                <a:cs typeface="Calibri" pitchFamily="34" charset="-120"/>
              </a:rPr>
              <a:t>adult.csv, the Kaggle mirror of the UCI Adult dataset. An extract of the March 1994 US Current Population Survey.</a:t>
            </a:r>
            <a:endParaRPr lang="en-US" sz="1400" dirty="0"/>
          </a:p>
          <a:p>
            <a:pPr algn="l" indent="0" marL="0">
              <a:lnSpc>
                <a:spcPct val="115000"/>
              </a:lnSpc>
              <a:buNone/>
            </a:pPr>
            <a:r>
              <a:rPr lang="en-US" sz="1400" dirty="0">
                <a:solidFill>
                  <a:srgbClr val="24303A"/>
                </a:solidFill>
                <a:latin typeface="Calibri" pitchFamily="34" charset="0"/>
                <a:ea typeface="Calibri" pitchFamily="34" charset="-122"/>
                <a:cs typeface="Calibri" pitchFamily="34" charset="-120"/>
              </a:rPr>
              <a:t>32,561 records, 15 columns.</a:t>
            </a:r>
            <a:endParaRPr lang="en-US" sz="1400" dirty="0"/>
          </a:p>
        </p:txBody>
      </p:sp>
      <p:sp>
        <p:nvSpPr>
          <p:cNvPr id="7" name="Shape 5"/>
          <p:cNvSpPr/>
          <p:nvPr/>
        </p:nvSpPr>
        <p:spPr>
          <a:xfrm>
            <a:off x="6309360" y="1325880"/>
            <a:ext cx="5285232" cy="1874520"/>
          </a:xfrm>
          <a:prstGeom prst="roundRect">
            <a:avLst>
              <a:gd name="adj" fmla="val 2927"/>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8" name="Text 6"/>
          <p:cNvSpPr/>
          <p:nvPr/>
        </p:nvSpPr>
        <p:spPr>
          <a:xfrm>
            <a:off x="6583680" y="1554480"/>
            <a:ext cx="4754880" cy="320040"/>
          </a:xfrm>
          <a:prstGeom prst="rect">
            <a:avLst/>
          </a:prstGeom>
          <a:noFill/>
          <a:ln/>
        </p:spPr>
        <p:txBody>
          <a:bodyPr wrap="square" lIns="0" tIns="0" rIns="0" bIns="0" rtlCol="0" anchor="t"/>
          <a:lstStyle/>
          <a:p>
            <a:pPr algn="l" indent="0" marL="0">
              <a:lnSpc>
                <a:spcPct val="115000"/>
              </a:lnSpc>
              <a:buNone/>
            </a:pPr>
            <a:r>
              <a:rPr lang="en-US" sz="1100" dirty="0">
                <a:solidFill>
                  <a:srgbClr val="5E6B77"/>
                </a:solidFill>
                <a:latin typeface="Calibri" pitchFamily="34" charset="0"/>
                <a:ea typeface="Calibri" pitchFamily="34" charset="-122"/>
                <a:cs typeface="Calibri" pitchFamily="34" charset="-120"/>
              </a:rPr>
              <a:t>THE CONSUMER</a:t>
            </a:r>
            <a:endParaRPr lang="en-US" sz="1100" dirty="0"/>
          </a:p>
        </p:txBody>
      </p:sp>
      <p:sp>
        <p:nvSpPr>
          <p:cNvPr id="9" name="Text 7"/>
          <p:cNvSpPr/>
          <p:nvPr/>
        </p:nvSpPr>
        <p:spPr>
          <a:xfrm>
            <a:off x="6583680" y="1874520"/>
            <a:ext cx="4754880" cy="1188720"/>
          </a:xfrm>
          <a:prstGeom prst="rect">
            <a:avLst/>
          </a:prstGeom>
          <a:noFill/>
          <a:ln/>
        </p:spPr>
        <p:txBody>
          <a:bodyPr wrap="square" lIns="0" tIns="0" rIns="0" bIns="0" rtlCol="0" anchor="t"/>
          <a:lstStyle/>
          <a:p>
            <a:pPr algn="l" indent="0" marL="0">
              <a:lnSpc>
                <a:spcPct val="115000"/>
              </a:lnSpc>
              <a:buNone/>
            </a:pPr>
            <a:r>
              <a:rPr lang="en-US" sz="1400" dirty="0">
                <a:solidFill>
                  <a:srgbClr val="24303A"/>
                </a:solidFill>
                <a:latin typeface="Calibri" pitchFamily="34" charset="0"/>
                <a:ea typeface="Calibri" pitchFamily="34" charset="-122"/>
                <a:cs typeface="Calibri" pitchFamily="34" charset="-120"/>
              </a:rPr>
              <a:t>US Department of Labor, Employment and Training Administration, dividing a training budget across occupation and education segments in the 1995 funding cycle.</a:t>
            </a:r>
            <a:endParaRPr lang="en-US" sz="1400" dirty="0"/>
          </a:p>
        </p:txBody>
      </p:sp>
      <p:sp>
        <p:nvSpPr>
          <p:cNvPr id="10" name="Text 8"/>
          <p:cNvSpPr/>
          <p:nvPr/>
        </p:nvSpPr>
        <p:spPr>
          <a:xfrm>
            <a:off x="566928" y="3520440"/>
            <a:ext cx="11027664" cy="365760"/>
          </a:xfrm>
          <a:prstGeom prst="rect">
            <a:avLst/>
          </a:prstGeom>
          <a:noFill/>
          <a:ln/>
        </p:spPr>
        <p:txBody>
          <a:bodyPr wrap="square" lIns="0" tIns="0" rIns="0" bIns="0" rtlCol="0" anchor="ctr"/>
          <a:lstStyle/>
          <a:p>
            <a:pPr indent="0" marL="0">
              <a:buNone/>
            </a:pPr>
            <a:r>
              <a:rPr lang="en-US" sz="1900" b="1" dirty="0">
                <a:solidFill>
                  <a:srgbClr val="24303A"/>
                </a:solidFill>
                <a:latin typeface="Cambria" pitchFamily="34" charset="0"/>
                <a:ea typeface="Cambria" pitchFamily="34" charset="-122"/>
                <a:cs typeface="Cambria" pitchFamily="34" charset="-120"/>
              </a:rPr>
              <a:t>The decision the data has to support</a:t>
            </a:r>
            <a:endParaRPr lang="en-US" sz="1900" dirty="0"/>
          </a:p>
        </p:txBody>
      </p:sp>
      <p:sp>
        <p:nvSpPr>
          <p:cNvPr id="11" name="Text 9"/>
          <p:cNvSpPr/>
          <p:nvPr/>
        </p:nvSpPr>
        <p:spPr>
          <a:xfrm>
            <a:off x="566928" y="3931920"/>
            <a:ext cx="11027664" cy="457200"/>
          </a:xfrm>
          <a:prstGeom prst="rect">
            <a:avLst/>
          </a:prstGeom>
          <a:noFill/>
          <a:ln/>
        </p:spPr>
        <p:txBody>
          <a:bodyPr wrap="square" lIns="0" tIns="0" rIns="0" bIns="0" rtlCol="0" anchor="t"/>
          <a:lstStyle/>
          <a:p>
            <a:pPr algn="l" indent="0" marL="0">
              <a:lnSpc>
                <a:spcPct val="115000"/>
              </a:lnSpc>
              <a:buNone/>
            </a:pPr>
            <a:r>
              <a:rPr lang="en-US" sz="1400" dirty="0">
                <a:solidFill>
                  <a:srgbClr val="24303A"/>
                </a:solidFill>
                <a:latin typeface="Calibri" pitchFamily="34" charset="0"/>
                <a:ea typeface="Calibri" pitchFamily="34" charset="-122"/>
                <a:cs typeface="Calibri" pitchFamily="34" charset="-120"/>
              </a:rPr>
              <a:t>Which occupation and education segments receive funded training places, and how many. Success is measured by participants moving from the low income bracket to the high one within 24 months.</a:t>
            </a:r>
            <a:endParaRPr lang="en-US" sz="1400" dirty="0"/>
          </a:p>
        </p:txBody>
      </p:sp>
      <p:sp>
        <p:nvSpPr>
          <p:cNvPr id="12" name="Text 10"/>
          <p:cNvSpPr/>
          <p:nvPr/>
        </p:nvSpPr>
        <p:spPr>
          <a:xfrm>
            <a:off x="566928" y="4709160"/>
            <a:ext cx="2743200" cy="777240"/>
          </a:xfrm>
          <a:prstGeom prst="rect">
            <a:avLst/>
          </a:prstGeom>
          <a:noFill/>
          <a:ln/>
        </p:spPr>
        <p:txBody>
          <a:bodyPr wrap="square" lIns="0" tIns="0" rIns="0" bIns="0" rtlCol="0" anchor="ctr"/>
          <a:lstStyle/>
          <a:p>
            <a:pPr algn="l" indent="0" marL="0">
              <a:buNone/>
            </a:pPr>
            <a:r>
              <a:rPr lang="en-US" sz="3400" b="1" dirty="0">
                <a:solidFill>
                  <a:srgbClr val="2E6F5E"/>
                </a:solidFill>
                <a:latin typeface="Cambria" pitchFamily="34" charset="0"/>
                <a:ea typeface="Cambria" pitchFamily="34" charset="-122"/>
                <a:cs typeface="Cambria" pitchFamily="34" charset="-120"/>
              </a:rPr>
              <a:t>16,005</a:t>
            </a:r>
            <a:endParaRPr lang="en-US" sz="3400" dirty="0"/>
          </a:p>
        </p:txBody>
      </p:sp>
      <p:sp>
        <p:nvSpPr>
          <p:cNvPr id="13" name="Text 11"/>
          <p:cNvSpPr/>
          <p:nvPr/>
        </p:nvSpPr>
        <p:spPr>
          <a:xfrm>
            <a:off x="566928" y="5458968"/>
            <a:ext cx="274320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eligible candidates</a:t>
            </a:r>
            <a:endParaRPr lang="en-US" sz="1200" dirty="0"/>
          </a:p>
          <a:p>
            <a:pPr algn="l" indent="0" marL="0">
              <a:buNone/>
            </a:pPr>
            <a:r>
              <a:rPr lang="en-US" sz="1200" dirty="0">
                <a:solidFill>
                  <a:srgbClr val="5E6B77"/>
                </a:solidFill>
                <a:latin typeface="Calibri" pitchFamily="34" charset="0"/>
                <a:ea typeface="Calibri" pitchFamily="34" charset="-122"/>
                <a:cs typeface="Calibri" pitchFamily="34" charset="-120"/>
              </a:rPr>
              <a:t>aged 25 to 54, low income</a:t>
            </a:r>
            <a:endParaRPr lang="en-US" sz="1200" dirty="0"/>
          </a:p>
        </p:txBody>
      </p:sp>
      <p:sp>
        <p:nvSpPr>
          <p:cNvPr id="14" name="Text 12"/>
          <p:cNvSpPr/>
          <p:nvPr/>
        </p:nvSpPr>
        <p:spPr>
          <a:xfrm>
            <a:off x="4023360" y="4709160"/>
            <a:ext cx="3108960" cy="777240"/>
          </a:xfrm>
          <a:prstGeom prst="rect">
            <a:avLst/>
          </a:prstGeom>
          <a:noFill/>
          <a:ln/>
        </p:spPr>
        <p:txBody>
          <a:bodyPr wrap="square" lIns="0" tIns="0" rIns="0" bIns="0" rtlCol="0" anchor="ctr"/>
          <a:lstStyle/>
          <a:p>
            <a:pPr algn="l" indent="0" marL="0">
              <a:buNone/>
            </a:pPr>
            <a:r>
              <a:rPr lang="en-US" sz="3400" b="1" dirty="0">
                <a:solidFill>
                  <a:srgbClr val="5E6B77"/>
                </a:solidFill>
                <a:latin typeface="Cambria" pitchFamily="34" charset="0"/>
                <a:ea typeface="Cambria" pitchFamily="34" charset="-122"/>
                <a:cs typeface="Cambria" pitchFamily="34" charset="-120"/>
              </a:rPr>
              <a:t>49.2%</a:t>
            </a:r>
            <a:endParaRPr lang="en-US" sz="3400" dirty="0"/>
          </a:p>
        </p:txBody>
      </p:sp>
      <p:sp>
        <p:nvSpPr>
          <p:cNvPr id="15" name="Text 13"/>
          <p:cNvSpPr/>
          <p:nvPr/>
        </p:nvSpPr>
        <p:spPr>
          <a:xfrm>
            <a:off x="4023360" y="5458968"/>
            <a:ext cx="310896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of the dataset</a:t>
            </a:r>
            <a:endParaRPr lang="en-US" sz="1200" dirty="0"/>
          </a:p>
        </p:txBody>
      </p:sp>
      <p:sp>
        <p:nvSpPr>
          <p:cNvPr id="16" name="Text 14"/>
          <p:cNvSpPr/>
          <p:nvPr/>
        </p:nvSpPr>
        <p:spPr>
          <a:xfrm>
            <a:off x="7498080" y="4709160"/>
            <a:ext cx="4023360" cy="777240"/>
          </a:xfrm>
          <a:prstGeom prst="rect">
            <a:avLst/>
          </a:prstGeom>
          <a:noFill/>
          <a:ln/>
        </p:spPr>
        <p:txBody>
          <a:bodyPr wrap="square" lIns="0" tIns="0" rIns="0" bIns="0" rtlCol="0" anchor="ctr"/>
          <a:lstStyle/>
          <a:p>
            <a:pPr algn="l" indent="0" marL="0">
              <a:buNone/>
            </a:pPr>
            <a:r>
              <a:rPr lang="en-US" sz="2600" b="1" dirty="0">
                <a:solidFill>
                  <a:srgbClr val="B3453A"/>
                </a:solidFill>
                <a:latin typeface="Cambria" pitchFamily="34" charset="0"/>
                <a:ea typeface="Cambria" pitchFamily="34" charset="-122"/>
                <a:cs typeface="Cambria" pitchFamily="34" charset="-120"/>
              </a:rPr>
              <a:t>no geography</a:t>
            </a:r>
            <a:endParaRPr lang="en-US" sz="2600" dirty="0"/>
          </a:p>
        </p:txBody>
      </p:sp>
      <p:sp>
        <p:nvSpPr>
          <p:cNvPr id="17" name="Text 15"/>
          <p:cNvSpPr/>
          <p:nvPr/>
        </p:nvSpPr>
        <p:spPr>
          <a:xfrm>
            <a:off x="7498080" y="5458968"/>
            <a:ext cx="402336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no state, county or region field,</a:t>
            </a:r>
            <a:endParaRPr lang="en-US" sz="1200" dirty="0"/>
          </a:p>
          <a:p>
            <a:pPr algn="l" indent="0" marL="0">
              <a:buNone/>
            </a:pPr>
            <a:r>
              <a:rPr lang="en-US" sz="1200" dirty="0">
                <a:solidFill>
                  <a:srgbClr val="5E6B77"/>
                </a:solidFill>
                <a:latin typeface="Calibri" pitchFamily="34" charset="0"/>
                <a:ea typeface="Calibri" pitchFamily="34" charset="-122"/>
                <a:cs typeface="Calibri" pitchFamily="34" charset="-120"/>
              </a:rPr>
              <a:t>so the split must be by kind of worker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2103120"/>
            <a:ext cx="5486400" cy="365760"/>
          </a:xfrm>
          <a:prstGeom prst="rect">
            <a:avLst/>
          </a:prstGeom>
          <a:noFill/>
          <a:ln/>
        </p:spPr>
        <p:txBody>
          <a:bodyPr wrap="square" lIns="0" tIns="0" rIns="0" bIns="0" rtlCol="0" anchor="ctr"/>
          <a:lstStyle/>
          <a:p>
            <a:pPr indent="0" marL="0">
              <a:buNone/>
            </a:pPr>
            <a:r>
              <a:rPr lang="en-US" sz="1300" b="1" spc="300" kern="0" dirty="0">
                <a:solidFill>
                  <a:srgbClr val="E08C80"/>
                </a:solidFill>
                <a:latin typeface="Calibri" pitchFamily="34" charset="0"/>
                <a:ea typeface="Calibri" pitchFamily="34" charset="-122"/>
                <a:cs typeface="Calibri" pitchFamily="34" charset="-120"/>
              </a:rPr>
              <a:t>LAB 1</a:t>
            </a:r>
            <a:endParaRPr lang="en-US" sz="1300" dirty="0"/>
          </a:p>
        </p:txBody>
      </p:sp>
      <p:sp>
        <p:nvSpPr>
          <p:cNvPr id="3" name="Text 1"/>
          <p:cNvSpPr/>
          <p:nvPr/>
        </p:nvSpPr>
        <p:spPr>
          <a:xfrm>
            <a:off x="566928" y="2514600"/>
            <a:ext cx="100584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Adopt your dataset</a:t>
            </a:r>
            <a:endParaRPr lang="en-US" sz="4000" dirty="0"/>
          </a:p>
        </p:txBody>
      </p:sp>
      <p:sp>
        <p:nvSpPr>
          <p:cNvPr id="4" name="Text 2"/>
          <p:cNvSpPr/>
          <p:nvPr/>
        </p:nvSpPr>
        <p:spPr>
          <a:xfrm>
            <a:off x="566928" y="3520440"/>
            <a:ext cx="9601200" cy="457200"/>
          </a:xfrm>
          <a:prstGeom prst="rect">
            <a:avLst/>
          </a:prstGeom>
          <a:noFill/>
          <a:ln/>
        </p:spPr>
        <p:txBody>
          <a:bodyPr wrap="square" lIns="0" tIns="0" rIns="0" bIns="0" rtlCol="0" anchor="ctr"/>
          <a:lstStyle/>
          <a:p>
            <a:pPr indent="0" marL="0">
              <a:buNone/>
            </a:pPr>
            <a:r>
              <a:rPr lang="en-US" sz="1600" dirty="0">
                <a:solidFill>
                  <a:srgbClr val="A8B4BE"/>
                </a:solidFill>
                <a:latin typeface="Calibri" pitchFamily="34" charset="0"/>
                <a:ea typeface="Calibri" pitchFamily="34" charset="-122"/>
                <a:cs typeface="Calibri" pitchFamily="34" charset="-120"/>
              </a:rPr>
              <a:t>Explore it just enough to see what is broken, and write down three concrete problems.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1</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Three defects, and what each one costs</a:t>
            </a:r>
            <a:endParaRPr lang="en-US" sz="3200" dirty="0"/>
          </a:p>
        </p:txBody>
      </p:sp>
      <p:sp>
        <p:nvSpPr>
          <p:cNvPr id="4" name="Shape 2"/>
          <p:cNvSpPr/>
          <p:nvPr/>
        </p:nvSpPr>
        <p:spPr>
          <a:xfrm>
            <a:off x="566928" y="1371600"/>
            <a:ext cx="3520440" cy="3310128"/>
          </a:xfrm>
          <a:prstGeom prst="roundRect">
            <a:avLst>
              <a:gd name="adj" fmla="val 1657"/>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5" name="Shape 3"/>
          <p:cNvSpPr/>
          <p:nvPr/>
        </p:nvSpPr>
        <p:spPr>
          <a:xfrm>
            <a:off x="859536" y="1664208"/>
            <a:ext cx="384048" cy="384048"/>
          </a:xfrm>
          <a:prstGeom prst="ellipse">
            <a:avLst/>
          </a:prstGeom>
          <a:solidFill>
            <a:srgbClr val="B3453A"/>
          </a:solidFill>
          <a:ln w="12700">
            <a:solidFill>
              <a:srgbClr val="B3453A"/>
            </a:solidFill>
            <a:prstDash val="solid"/>
          </a:ln>
        </p:spPr>
      </p:sp>
      <p:sp>
        <p:nvSpPr>
          <p:cNvPr id="6" name="Text 4"/>
          <p:cNvSpPr/>
          <p:nvPr/>
        </p:nvSpPr>
        <p:spPr>
          <a:xfrm>
            <a:off x="859536" y="16642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59536" y="2212848"/>
            <a:ext cx="2926080" cy="320040"/>
          </a:xfrm>
          <a:prstGeom prst="rect">
            <a:avLst/>
          </a:prstGeom>
          <a:noFill/>
          <a:ln/>
        </p:spPr>
        <p:txBody>
          <a:bodyPr wrap="square" lIns="0" tIns="0" rIns="0" bIns="0" rtlCol="0" anchor="ctr"/>
          <a:lstStyle/>
          <a:p>
            <a:pPr indent="0" marL="0">
              <a:buNone/>
            </a:pPr>
            <a:r>
              <a:rPr lang="en-US" sz="1800" b="1" dirty="0">
                <a:solidFill>
                  <a:srgbClr val="24303A"/>
                </a:solidFill>
                <a:latin typeface="Cambria" pitchFamily="34" charset="0"/>
                <a:ea typeface="Cambria" pitchFamily="34" charset="-122"/>
                <a:cs typeface="Cambria" pitchFamily="34" charset="-120"/>
              </a:rPr>
              <a:t>Gaps</a:t>
            </a:r>
            <a:endParaRPr lang="en-US" sz="1800" dirty="0"/>
          </a:p>
        </p:txBody>
      </p:sp>
      <p:sp>
        <p:nvSpPr>
          <p:cNvPr id="8" name="Text 6"/>
          <p:cNvSpPr/>
          <p:nvPr/>
        </p:nvSpPr>
        <p:spPr>
          <a:xfrm>
            <a:off x="859536" y="2606040"/>
            <a:ext cx="2926080" cy="1371600"/>
          </a:xfrm>
          <a:prstGeom prst="rect">
            <a:avLst/>
          </a:prstGeom>
          <a:noFill/>
          <a:ln/>
        </p:spPr>
        <p:txBody>
          <a:bodyPr wrap="square" lIns="0" tIns="0" rIns="0" bIns="0" rtlCol="0" anchor="t"/>
          <a:lstStyle/>
          <a:p>
            <a:pPr algn="l" indent="0" marL="0">
              <a:lnSpc>
                <a:spcPct val="115000"/>
              </a:lnSpc>
              <a:buNone/>
            </a:pPr>
            <a:r>
              <a:rPr lang="en-US" sz="1300" dirty="0">
                <a:solidFill>
                  <a:srgbClr val="5E6B77"/>
                </a:solidFill>
                <a:latin typeface="Calibri" pitchFamily="34" charset="0"/>
                <a:ea typeface="Calibri" pitchFamily="34" charset="-122"/>
                <a:cs typeface="Calibri" pitchFamily="34" charset="-120"/>
              </a:rPr>
              <a:t>Missing values written as the string "?", so isna() reports a completely clean file</a:t>
            </a:r>
            <a:endParaRPr lang="en-US" sz="1300" dirty="0"/>
          </a:p>
        </p:txBody>
      </p:sp>
      <p:sp>
        <p:nvSpPr>
          <p:cNvPr id="9" name="Text 7"/>
          <p:cNvSpPr/>
          <p:nvPr/>
        </p:nvSpPr>
        <p:spPr>
          <a:xfrm>
            <a:off x="859536" y="3639312"/>
            <a:ext cx="2926080" cy="548640"/>
          </a:xfrm>
          <a:prstGeom prst="rect">
            <a:avLst/>
          </a:prstGeom>
          <a:noFill/>
          <a:ln/>
        </p:spPr>
        <p:txBody>
          <a:bodyPr wrap="square" lIns="0" tIns="0" rIns="0" bIns="0" rtlCol="0" anchor="ctr"/>
          <a:lstStyle/>
          <a:p>
            <a:pPr indent="0" marL="0">
              <a:buNone/>
            </a:pPr>
            <a:r>
              <a:rPr lang="en-US" sz="3200" b="1" dirty="0">
                <a:solidFill>
                  <a:srgbClr val="B3453A"/>
                </a:solidFill>
                <a:latin typeface="Cambria" pitchFamily="34" charset="0"/>
                <a:ea typeface="Cambria" pitchFamily="34" charset="-122"/>
                <a:cs typeface="Cambria" pitchFamily="34" charset="-120"/>
              </a:rPr>
              <a:t>4,262</a:t>
            </a:r>
            <a:endParaRPr lang="en-US" sz="3200" dirty="0"/>
          </a:p>
        </p:txBody>
      </p:sp>
      <p:sp>
        <p:nvSpPr>
          <p:cNvPr id="10" name="Text 8"/>
          <p:cNvSpPr/>
          <p:nvPr/>
        </p:nvSpPr>
        <p:spPr>
          <a:xfrm>
            <a:off x="859536" y="4206240"/>
            <a:ext cx="2926080" cy="457200"/>
          </a:xfrm>
          <a:prstGeom prst="rect">
            <a:avLst/>
          </a:prstGeom>
          <a:noFill/>
          <a:ln/>
        </p:spPr>
        <p:txBody>
          <a:bodyPr wrap="square" lIns="0" tIns="0" rIns="0" bIns="0" rtlCol="0" anchor="t"/>
          <a:lstStyle/>
          <a:p>
            <a:pPr algn="l" indent="0" marL="0">
              <a:lnSpc>
                <a:spcPct val="115000"/>
              </a:lnSpc>
              <a:buNone/>
            </a:pPr>
            <a:r>
              <a:rPr lang="en-US" sz="1150" dirty="0">
                <a:solidFill>
                  <a:srgbClr val="5E6B77"/>
                </a:solidFill>
                <a:latin typeface="Calibri" pitchFamily="34" charset="0"/>
                <a:ea typeface="Calibri" pitchFamily="34" charset="-122"/>
                <a:cs typeface="Calibri" pitchFamily="34" charset="-120"/>
              </a:rPr>
              <a:t>cells across 2,399 records</a:t>
            </a:r>
            <a:endParaRPr lang="en-US" sz="1150" dirty="0"/>
          </a:p>
        </p:txBody>
      </p:sp>
      <p:sp>
        <p:nvSpPr>
          <p:cNvPr id="11" name="Shape 9"/>
          <p:cNvSpPr/>
          <p:nvPr/>
        </p:nvSpPr>
        <p:spPr>
          <a:xfrm>
            <a:off x="4325112" y="1371600"/>
            <a:ext cx="3520440" cy="3310128"/>
          </a:xfrm>
          <a:prstGeom prst="roundRect">
            <a:avLst>
              <a:gd name="adj" fmla="val 1657"/>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12" name="Shape 10"/>
          <p:cNvSpPr/>
          <p:nvPr/>
        </p:nvSpPr>
        <p:spPr>
          <a:xfrm>
            <a:off x="4617720" y="1664208"/>
            <a:ext cx="384048" cy="384048"/>
          </a:xfrm>
          <a:prstGeom prst="ellipse">
            <a:avLst/>
          </a:prstGeom>
          <a:solidFill>
            <a:srgbClr val="B3453A"/>
          </a:solidFill>
          <a:ln w="12700">
            <a:solidFill>
              <a:srgbClr val="B3453A"/>
            </a:solidFill>
            <a:prstDash val="solid"/>
          </a:ln>
        </p:spPr>
      </p:sp>
      <p:sp>
        <p:nvSpPr>
          <p:cNvPr id="13" name="Text 11"/>
          <p:cNvSpPr/>
          <p:nvPr/>
        </p:nvSpPr>
        <p:spPr>
          <a:xfrm>
            <a:off x="4617720" y="16642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p:nvPr/>
        </p:nvSpPr>
        <p:spPr>
          <a:xfrm>
            <a:off x="4617720" y="2212848"/>
            <a:ext cx="2926080" cy="320040"/>
          </a:xfrm>
          <a:prstGeom prst="rect">
            <a:avLst/>
          </a:prstGeom>
          <a:noFill/>
          <a:ln/>
        </p:spPr>
        <p:txBody>
          <a:bodyPr wrap="square" lIns="0" tIns="0" rIns="0" bIns="0" rtlCol="0" anchor="ctr"/>
          <a:lstStyle/>
          <a:p>
            <a:pPr indent="0" marL="0">
              <a:buNone/>
            </a:pPr>
            <a:r>
              <a:rPr lang="en-US" sz="1800" b="1" dirty="0">
                <a:solidFill>
                  <a:srgbClr val="24303A"/>
                </a:solidFill>
                <a:latin typeface="Cambria" pitchFamily="34" charset="0"/>
                <a:ea typeface="Cambria" pitchFamily="34" charset="-122"/>
                <a:cs typeface="Cambria" pitchFamily="34" charset="-120"/>
              </a:rPr>
              <a:t>Strange values</a:t>
            </a:r>
            <a:endParaRPr lang="en-US" sz="1800" dirty="0"/>
          </a:p>
        </p:txBody>
      </p:sp>
      <p:sp>
        <p:nvSpPr>
          <p:cNvPr id="15" name="Text 13"/>
          <p:cNvSpPr/>
          <p:nvPr/>
        </p:nvSpPr>
        <p:spPr>
          <a:xfrm>
            <a:off x="4617720" y="2606040"/>
            <a:ext cx="2926080" cy="1371600"/>
          </a:xfrm>
          <a:prstGeom prst="rect">
            <a:avLst/>
          </a:prstGeom>
          <a:noFill/>
          <a:ln/>
        </p:spPr>
        <p:txBody>
          <a:bodyPr wrap="square" lIns="0" tIns="0" rIns="0" bIns="0" rtlCol="0" anchor="t"/>
          <a:lstStyle/>
          <a:p>
            <a:pPr algn="l" indent="0" marL="0">
              <a:lnSpc>
                <a:spcPct val="115000"/>
              </a:lnSpc>
              <a:buNone/>
            </a:pPr>
            <a:r>
              <a:rPr lang="en-US" sz="1300" dirty="0">
                <a:solidFill>
                  <a:srgbClr val="5E6B77"/>
                </a:solidFill>
                <a:latin typeface="Calibri" pitchFamily="34" charset="0"/>
                <a:ea typeface="Calibri" pitchFamily="34" charset="-122"/>
                <a:cs typeface="Calibri" pitchFamily="34" charset="-120"/>
              </a:rPr>
              <a:t>capital.gain uses 99999 as a top-code sentinel, not as an amount of money</a:t>
            </a:r>
            <a:endParaRPr lang="en-US" sz="1300" dirty="0"/>
          </a:p>
        </p:txBody>
      </p:sp>
      <p:sp>
        <p:nvSpPr>
          <p:cNvPr id="16" name="Text 14"/>
          <p:cNvSpPr/>
          <p:nvPr/>
        </p:nvSpPr>
        <p:spPr>
          <a:xfrm>
            <a:off x="4617720" y="3639312"/>
            <a:ext cx="2926080" cy="548640"/>
          </a:xfrm>
          <a:prstGeom prst="rect">
            <a:avLst/>
          </a:prstGeom>
          <a:noFill/>
          <a:ln/>
        </p:spPr>
        <p:txBody>
          <a:bodyPr wrap="square" lIns="0" tIns="0" rIns="0" bIns="0" rtlCol="0" anchor="ctr"/>
          <a:lstStyle/>
          <a:p>
            <a:pPr indent="0" marL="0">
              <a:buNone/>
            </a:pPr>
            <a:r>
              <a:rPr lang="en-US" sz="3200" b="1" dirty="0">
                <a:solidFill>
                  <a:srgbClr val="B3453A"/>
                </a:solidFill>
                <a:latin typeface="Cambria" pitchFamily="34" charset="0"/>
                <a:ea typeface="Cambria" pitchFamily="34" charset="-122"/>
                <a:cs typeface="Cambria" pitchFamily="34" charset="-120"/>
              </a:rPr>
              <a:t>159</a:t>
            </a:r>
            <a:endParaRPr lang="en-US" sz="3200" dirty="0"/>
          </a:p>
        </p:txBody>
      </p:sp>
      <p:sp>
        <p:nvSpPr>
          <p:cNvPr id="17" name="Text 15"/>
          <p:cNvSpPr/>
          <p:nvPr/>
        </p:nvSpPr>
        <p:spPr>
          <a:xfrm>
            <a:off x="4617720" y="4206240"/>
            <a:ext cx="2926080" cy="457200"/>
          </a:xfrm>
          <a:prstGeom prst="rect">
            <a:avLst/>
          </a:prstGeom>
          <a:noFill/>
          <a:ln/>
        </p:spPr>
        <p:txBody>
          <a:bodyPr wrap="square" lIns="0" tIns="0" rIns="0" bIns="0" rtlCol="0" anchor="t"/>
          <a:lstStyle/>
          <a:p>
            <a:pPr algn="l" indent="0" marL="0">
              <a:lnSpc>
                <a:spcPct val="115000"/>
              </a:lnSpc>
              <a:buNone/>
            </a:pPr>
            <a:r>
              <a:rPr lang="en-US" sz="1150" dirty="0">
                <a:solidFill>
                  <a:srgbClr val="5E6B77"/>
                </a:solidFill>
                <a:latin typeface="Calibri" pitchFamily="34" charset="0"/>
                <a:ea typeface="Calibri" pitchFamily="34" charset="-122"/>
                <a:cs typeface="Calibri" pitchFamily="34" charset="-120"/>
              </a:rPr>
              <a:t>records, next real value 41,310</a:t>
            </a:r>
            <a:endParaRPr lang="en-US" sz="1150" dirty="0"/>
          </a:p>
        </p:txBody>
      </p:sp>
      <p:sp>
        <p:nvSpPr>
          <p:cNvPr id="18" name="Shape 16"/>
          <p:cNvSpPr/>
          <p:nvPr/>
        </p:nvSpPr>
        <p:spPr>
          <a:xfrm>
            <a:off x="8083296" y="1371600"/>
            <a:ext cx="3520440" cy="3310128"/>
          </a:xfrm>
          <a:prstGeom prst="roundRect">
            <a:avLst>
              <a:gd name="adj" fmla="val 1657"/>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19" name="Shape 17"/>
          <p:cNvSpPr/>
          <p:nvPr/>
        </p:nvSpPr>
        <p:spPr>
          <a:xfrm>
            <a:off x="8375904" y="1664208"/>
            <a:ext cx="384048" cy="384048"/>
          </a:xfrm>
          <a:prstGeom prst="ellipse">
            <a:avLst/>
          </a:prstGeom>
          <a:solidFill>
            <a:srgbClr val="B3453A"/>
          </a:solidFill>
          <a:ln w="12700">
            <a:solidFill>
              <a:srgbClr val="B3453A"/>
            </a:solidFill>
            <a:prstDash val="solid"/>
          </a:ln>
        </p:spPr>
      </p:sp>
      <p:sp>
        <p:nvSpPr>
          <p:cNvPr id="20" name="Text 18"/>
          <p:cNvSpPr/>
          <p:nvPr/>
        </p:nvSpPr>
        <p:spPr>
          <a:xfrm>
            <a:off x="8375904" y="16642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9"/>
          <p:cNvSpPr/>
          <p:nvPr/>
        </p:nvSpPr>
        <p:spPr>
          <a:xfrm>
            <a:off x="8375904" y="2212848"/>
            <a:ext cx="2926080" cy="320040"/>
          </a:xfrm>
          <a:prstGeom prst="rect">
            <a:avLst/>
          </a:prstGeom>
          <a:noFill/>
          <a:ln/>
        </p:spPr>
        <p:txBody>
          <a:bodyPr wrap="square" lIns="0" tIns="0" rIns="0" bIns="0" rtlCol="0" anchor="ctr"/>
          <a:lstStyle/>
          <a:p>
            <a:pPr indent="0" marL="0">
              <a:buNone/>
            </a:pPr>
            <a:r>
              <a:rPr lang="en-US" sz="1800" b="1" dirty="0">
                <a:solidFill>
                  <a:srgbClr val="24303A"/>
                </a:solidFill>
                <a:latin typeface="Cambria" pitchFamily="34" charset="0"/>
                <a:ea typeface="Cambria" pitchFamily="34" charset="-122"/>
                <a:cs typeface="Cambria" pitchFamily="34" charset="-120"/>
              </a:rPr>
              <a:t>Duplicates</a:t>
            </a:r>
            <a:endParaRPr lang="en-US" sz="1800" dirty="0"/>
          </a:p>
        </p:txBody>
      </p:sp>
      <p:sp>
        <p:nvSpPr>
          <p:cNvPr id="22" name="Text 20"/>
          <p:cNvSpPr/>
          <p:nvPr/>
        </p:nvSpPr>
        <p:spPr>
          <a:xfrm>
            <a:off x="8375904" y="2606040"/>
            <a:ext cx="2926080" cy="1371600"/>
          </a:xfrm>
          <a:prstGeom prst="rect">
            <a:avLst/>
          </a:prstGeom>
          <a:noFill/>
          <a:ln/>
        </p:spPr>
        <p:txBody>
          <a:bodyPr wrap="square" lIns="0" tIns="0" rIns="0" bIns="0" rtlCol="0" anchor="t"/>
          <a:lstStyle/>
          <a:p>
            <a:pPr algn="l" indent="0" marL="0">
              <a:lnSpc>
                <a:spcPct val="115000"/>
              </a:lnSpc>
              <a:buNone/>
            </a:pPr>
            <a:r>
              <a:rPr lang="en-US" sz="1300" dirty="0">
                <a:solidFill>
                  <a:srgbClr val="5E6B77"/>
                </a:solidFill>
                <a:latin typeface="Calibri" pitchFamily="34" charset="0"/>
                <a:ea typeface="Calibri" pitchFamily="34" charset="-122"/>
                <a:cs typeface="Calibri" pitchFamily="34" charset="-120"/>
              </a:rPr>
              <a:t>Exact duplicate records, and no identifier column to adjudicate them</a:t>
            </a:r>
            <a:endParaRPr lang="en-US" sz="1300" dirty="0"/>
          </a:p>
        </p:txBody>
      </p:sp>
      <p:sp>
        <p:nvSpPr>
          <p:cNvPr id="23" name="Text 21"/>
          <p:cNvSpPr/>
          <p:nvPr/>
        </p:nvSpPr>
        <p:spPr>
          <a:xfrm>
            <a:off x="8375904" y="3639312"/>
            <a:ext cx="2926080" cy="548640"/>
          </a:xfrm>
          <a:prstGeom prst="rect">
            <a:avLst/>
          </a:prstGeom>
          <a:noFill/>
          <a:ln/>
        </p:spPr>
        <p:txBody>
          <a:bodyPr wrap="square" lIns="0" tIns="0" rIns="0" bIns="0" rtlCol="0" anchor="ctr"/>
          <a:lstStyle/>
          <a:p>
            <a:pPr indent="0" marL="0">
              <a:buNone/>
            </a:pPr>
            <a:r>
              <a:rPr lang="en-US" sz="3200" b="1" dirty="0">
                <a:solidFill>
                  <a:srgbClr val="B3453A"/>
                </a:solidFill>
                <a:latin typeface="Cambria" pitchFamily="34" charset="0"/>
                <a:ea typeface="Cambria" pitchFamily="34" charset="-122"/>
                <a:cs typeface="Cambria" pitchFamily="34" charset="-120"/>
              </a:rPr>
              <a:t>24</a:t>
            </a:r>
            <a:endParaRPr lang="en-US" sz="3200" dirty="0"/>
          </a:p>
        </p:txBody>
      </p:sp>
      <p:sp>
        <p:nvSpPr>
          <p:cNvPr id="24" name="Text 22"/>
          <p:cNvSpPr/>
          <p:nvPr/>
        </p:nvSpPr>
        <p:spPr>
          <a:xfrm>
            <a:off x="8375904" y="4206240"/>
            <a:ext cx="2926080" cy="457200"/>
          </a:xfrm>
          <a:prstGeom prst="rect">
            <a:avLst/>
          </a:prstGeom>
          <a:noFill/>
          <a:ln/>
        </p:spPr>
        <p:txBody>
          <a:bodyPr wrap="square" lIns="0" tIns="0" rIns="0" bIns="0" rtlCol="0" anchor="t"/>
          <a:lstStyle/>
          <a:p>
            <a:pPr algn="l" indent="0" marL="0">
              <a:lnSpc>
                <a:spcPct val="115000"/>
              </a:lnSpc>
              <a:buNone/>
            </a:pPr>
            <a:r>
              <a:rPr lang="en-US" sz="1150" dirty="0">
                <a:solidFill>
                  <a:srgbClr val="5E6B77"/>
                </a:solidFill>
                <a:latin typeface="Calibri" pitchFamily="34" charset="0"/>
                <a:ea typeface="Calibri" pitchFamily="34" charset="-122"/>
                <a:cs typeface="Calibri" pitchFamily="34" charset="-120"/>
              </a:rPr>
              <a:t>duplicate rows, no primary key</a:t>
            </a:r>
            <a:endParaRPr lang="en-US" sz="1150" dirty="0"/>
          </a:p>
        </p:txBody>
      </p:sp>
      <p:sp>
        <p:nvSpPr>
          <p:cNvPr id="25" name="Text 23"/>
          <p:cNvSpPr/>
          <p:nvPr/>
        </p:nvSpPr>
        <p:spPr>
          <a:xfrm>
            <a:off x="566928" y="5074920"/>
            <a:ext cx="11027664" cy="45720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Every figure was re-derived from the CSV, not carried over from an earlier draft. Three claims in the first draft did not survive that check and were corrected.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1, DEFECT 1</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The gaps are invisible to every null check</a:t>
            </a:r>
            <a:endParaRPr lang="en-US" sz="3200" dirty="0"/>
          </a:p>
        </p:txBody>
      </p:sp>
      <p:sp>
        <p:nvSpPr>
          <p:cNvPr id="4" name="Shape 2"/>
          <p:cNvSpPr/>
          <p:nvPr/>
        </p:nvSpPr>
        <p:spPr>
          <a:xfrm>
            <a:off x="566928" y="1371600"/>
            <a:ext cx="5212080" cy="1371600"/>
          </a:xfrm>
          <a:prstGeom prst="roundRect">
            <a:avLst>
              <a:gd name="adj" fmla="val 4000"/>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5" name="Text 3"/>
          <p:cNvSpPr/>
          <p:nvPr/>
        </p:nvSpPr>
        <p:spPr>
          <a:xfrm>
            <a:off x="841248" y="1600200"/>
            <a:ext cx="4663440" cy="274320"/>
          </a:xfrm>
          <a:prstGeom prst="rect">
            <a:avLst/>
          </a:prstGeom>
          <a:noFill/>
          <a:ln/>
        </p:spPr>
        <p:txBody>
          <a:bodyPr wrap="square" lIns="0" tIns="0" rIns="0" bIns="0" rtlCol="0" anchor="t"/>
          <a:lstStyle/>
          <a:p>
            <a:pPr algn="l" indent="0" marL="0">
              <a:lnSpc>
                <a:spcPct val="115000"/>
              </a:lnSpc>
              <a:buNone/>
            </a:pPr>
            <a:r>
              <a:rPr lang="en-US" sz="1050" dirty="0">
                <a:solidFill>
                  <a:srgbClr val="5E6B77"/>
                </a:solidFill>
                <a:latin typeface="Calibri" pitchFamily="34" charset="0"/>
                <a:ea typeface="Calibri" pitchFamily="34" charset="-122"/>
                <a:cs typeface="Calibri" pitchFamily="34" charset="-120"/>
              </a:rPr>
              <a:t>WHAT THE FILE CLAIMS</a:t>
            </a:r>
            <a:endParaRPr lang="en-US" sz="1050" dirty="0"/>
          </a:p>
        </p:txBody>
      </p:sp>
      <p:sp>
        <p:nvSpPr>
          <p:cNvPr id="6" name="Text 4"/>
          <p:cNvSpPr/>
          <p:nvPr/>
        </p:nvSpPr>
        <p:spPr>
          <a:xfrm>
            <a:off x="841248" y="1920240"/>
            <a:ext cx="4663440" cy="365760"/>
          </a:xfrm>
          <a:prstGeom prst="rect">
            <a:avLst/>
          </a:prstGeom>
          <a:noFill/>
          <a:ln/>
        </p:spPr>
        <p:txBody>
          <a:bodyPr wrap="square" lIns="0" tIns="0" rIns="0" bIns="0" rtlCol="0" anchor="ctr"/>
          <a:lstStyle/>
          <a:p>
            <a:pPr indent="0" marL="0">
              <a:buNone/>
            </a:pPr>
            <a:r>
              <a:rPr lang="en-US" sz="1700" b="1" dirty="0">
                <a:solidFill>
                  <a:srgbClr val="24303A"/>
                </a:solidFill>
                <a:latin typeface="Consolas" pitchFamily="34" charset="0"/>
                <a:ea typeface="Consolas" pitchFamily="34" charset="-122"/>
                <a:cs typeface="Consolas" pitchFamily="34" charset="-120"/>
              </a:rPr>
              <a:t>df.isna().sum()  =  0</a:t>
            </a:r>
            <a:endParaRPr lang="en-US" sz="1700" dirty="0"/>
          </a:p>
        </p:txBody>
      </p:sp>
      <p:sp>
        <p:nvSpPr>
          <p:cNvPr id="7" name="Text 5"/>
          <p:cNvSpPr/>
          <p:nvPr/>
        </p:nvSpPr>
        <p:spPr>
          <a:xfrm>
            <a:off x="841248" y="2331720"/>
            <a:ext cx="4663440" cy="320040"/>
          </a:xfrm>
          <a:prstGeom prst="rect">
            <a:avLst/>
          </a:prstGeom>
          <a:noFill/>
          <a:ln/>
        </p:spPr>
        <p:txBody>
          <a:bodyPr wrap="square" lIns="0" tIns="0" rIns="0" bIns="0" rtlCol="0" anchor="t"/>
          <a:lstStyle/>
          <a:p>
            <a:pPr algn="l" indent="0" marL="0">
              <a:lnSpc>
                <a:spcPct val="115000"/>
              </a:lnSpc>
              <a:buNone/>
            </a:pPr>
            <a:r>
              <a:rPr lang="en-US" sz="1200" dirty="0">
                <a:solidFill>
                  <a:srgbClr val="5E6B77"/>
                </a:solidFill>
                <a:latin typeface="Calibri" pitchFamily="34" charset="0"/>
                <a:ea typeface="Calibri" pitchFamily="34" charset="-122"/>
                <a:cs typeface="Calibri" pitchFamily="34" charset="-120"/>
              </a:rPr>
              <a:t>across all fifteen columns</a:t>
            </a:r>
            <a:endParaRPr lang="en-US" sz="1200" dirty="0"/>
          </a:p>
        </p:txBody>
      </p:sp>
      <p:sp>
        <p:nvSpPr>
          <p:cNvPr id="8" name="Shape 6"/>
          <p:cNvSpPr/>
          <p:nvPr/>
        </p:nvSpPr>
        <p:spPr>
          <a:xfrm>
            <a:off x="6035040" y="1371600"/>
            <a:ext cx="5559552" cy="1371600"/>
          </a:xfrm>
          <a:prstGeom prst="roundRect">
            <a:avLst>
              <a:gd name="adj" fmla="val 4000"/>
            </a:avLst>
          </a:prstGeom>
          <a:solidFill>
            <a:srgbClr val="F6E9E7"/>
          </a:solidFill>
          <a:ln w="12700">
            <a:solidFill>
              <a:srgbClr val="F6E9E7"/>
            </a:solidFill>
            <a:prstDash val="solid"/>
          </a:ln>
          <a:effectLst>
            <a:outerShdw sx="100000" sy="100000" kx="0" ky="0" algn="bl" rotWithShape="0" blurRad="101600" dist="12700" dir="5400000">
              <a:srgbClr val="9AA5AE">
                <a:alpha val="25000"/>
              </a:srgbClr>
            </a:outerShdw>
          </a:effectLst>
        </p:spPr>
      </p:sp>
      <p:sp>
        <p:nvSpPr>
          <p:cNvPr id="9" name="Text 7"/>
          <p:cNvSpPr/>
          <p:nvPr/>
        </p:nvSpPr>
        <p:spPr>
          <a:xfrm>
            <a:off x="6309360" y="1600200"/>
            <a:ext cx="5029200" cy="274320"/>
          </a:xfrm>
          <a:prstGeom prst="rect">
            <a:avLst/>
          </a:prstGeom>
          <a:noFill/>
          <a:ln/>
        </p:spPr>
        <p:txBody>
          <a:bodyPr wrap="square" lIns="0" tIns="0" rIns="0" bIns="0" rtlCol="0" anchor="t"/>
          <a:lstStyle/>
          <a:p>
            <a:pPr algn="l" indent="0" marL="0">
              <a:lnSpc>
                <a:spcPct val="115000"/>
              </a:lnSpc>
              <a:buNone/>
            </a:pPr>
            <a:r>
              <a:rPr lang="en-US" sz="1050" dirty="0">
                <a:solidFill>
                  <a:srgbClr val="B3453A"/>
                </a:solidFill>
                <a:latin typeface="Calibri" pitchFamily="34" charset="0"/>
                <a:ea typeface="Calibri" pitchFamily="34" charset="-122"/>
                <a:cs typeface="Calibri" pitchFamily="34" charset="-120"/>
              </a:rPr>
              <a:t>WHAT IS ACTUALLY THERE</a:t>
            </a:r>
            <a:endParaRPr lang="en-US" sz="1050" dirty="0"/>
          </a:p>
        </p:txBody>
      </p:sp>
      <p:sp>
        <p:nvSpPr>
          <p:cNvPr id="10" name="Text 8"/>
          <p:cNvSpPr/>
          <p:nvPr/>
        </p:nvSpPr>
        <p:spPr>
          <a:xfrm>
            <a:off x="6309360" y="1920240"/>
            <a:ext cx="5029200" cy="365760"/>
          </a:xfrm>
          <a:prstGeom prst="rect">
            <a:avLst/>
          </a:prstGeom>
          <a:noFill/>
          <a:ln/>
        </p:spPr>
        <p:txBody>
          <a:bodyPr wrap="square" lIns="0" tIns="0" rIns="0" bIns="0" rtlCol="0" anchor="ctr"/>
          <a:lstStyle/>
          <a:p>
            <a:pPr indent="0" marL="0">
              <a:buNone/>
            </a:pPr>
            <a:r>
              <a:rPr lang="en-US" sz="1700" b="1" dirty="0">
                <a:solidFill>
                  <a:srgbClr val="B3453A"/>
                </a:solidFill>
                <a:latin typeface="Consolas" pitchFamily="34" charset="0"/>
                <a:ea typeface="Consolas" pitchFamily="34" charset="-122"/>
                <a:cs typeface="Consolas" pitchFamily="34" charset="-120"/>
              </a:rPr>
              <a:t>(df == "?").sum()  =  4,262</a:t>
            </a:r>
            <a:endParaRPr lang="en-US" sz="1700" dirty="0"/>
          </a:p>
        </p:txBody>
      </p:sp>
      <p:sp>
        <p:nvSpPr>
          <p:cNvPr id="11" name="Text 9"/>
          <p:cNvSpPr/>
          <p:nvPr/>
        </p:nvSpPr>
        <p:spPr>
          <a:xfrm>
            <a:off x="6309360" y="2331720"/>
            <a:ext cx="5029200" cy="320040"/>
          </a:xfrm>
          <a:prstGeom prst="rect">
            <a:avLst/>
          </a:prstGeom>
          <a:noFill/>
          <a:ln/>
        </p:spPr>
        <p:txBody>
          <a:bodyPr wrap="square" lIns="0" tIns="0" rIns="0" bIns="0" rtlCol="0" anchor="t"/>
          <a:lstStyle/>
          <a:p>
            <a:pPr algn="l" indent="0" marL="0">
              <a:lnSpc>
                <a:spcPct val="115000"/>
              </a:lnSpc>
              <a:buNone/>
            </a:pPr>
            <a:r>
              <a:rPr lang="en-US" sz="1200" dirty="0">
                <a:solidFill>
                  <a:srgbClr val="5E6B77"/>
                </a:solidFill>
                <a:latin typeface="Calibri" pitchFamily="34" charset="0"/>
                <a:ea typeface="Calibri" pitchFamily="34" charset="-122"/>
                <a:cs typeface="Calibri" pitchFamily="34" charset="-120"/>
              </a:rPr>
              <a:t>2,399 records, 7.4 per cent of the file</a:t>
            </a:r>
            <a:endParaRPr lang="en-US" sz="1200" dirty="0"/>
          </a:p>
        </p:txBody>
      </p:sp>
      <p:sp>
        <p:nvSpPr>
          <p:cNvPr id="12" name="Text 10"/>
          <p:cNvSpPr/>
          <p:nvPr/>
        </p:nvSpPr>
        <p:spPr>
          <a:xfrm>
            <a:off x="566928" y="3063240"/>
            <a:ext cx="11027664" cy="365760"/>
          </a:xfrm>
          <a:prstGeom prst="rect">
            <a:avLst/>
          </a:prstGeom>
          <a:noFill/>
          <a:ln/>
        </p:spPr>
        <p:txBody>
          <a:bodyPr wrap="square" lIns="0" tIns="0" rIns="0" bIns="0" rtlCol="0" anchor="ctr"/>
          <a:lstStyle/>
          <a:p>
            <a:pPr indent="0" marL="0">
              <a:buNone/>
            </a:pPr>
            <a:r>
              <a:rPr lang="en-US" sz="1900" b="1" dirty="0">
                <a:solidFill>
                  <a:srgbClr val="24303A"/>
                </a:solidFill>
                <a:latin typeface="Cambria" pitchFamily="34" charset="0"/>
                <a:ea typeface="Cambria" pitchFamily="34" charset="-122"/>
                <a:cs typeface="Cambria" pitchFamily="34" charset="-120"/>
              </a:rPr>
              <a:t>The pattern is mechanical, not semantic</a:t>
            </a:r>
            <a:endParaRPr lang="en-US" sz="1900" dirty="0"/>
          </a:p>
        </p:txBody>
      </p:sp>
      <p:sp>
        <p:nvSpPr>
          <p:cNvPr id="13" name="Text 11"/>
          <p:cNvSpPr/>
          <p:nvPr/>
        </p:nvSpPr>
        <p:spPr>
          <a:xfrm>
            <a:off x="566928" y="3520440"/>
            <a:ext cx="11027664" cy="1371600"/>
          </a:xfrm>
          <a:prstGeom prst="rect">
            <a:avLst/>
          </a:prstGeom>
          <a:noFill/>
          <a:ln/>
        </p:spPr>
        <p:txBody>
          <a:bodyPr wrap="square" lIns="0" tIns="0" rIns="0" bIns="0" rtlCol="0" anchor="ctr"/>
          <a:lstStyle/>
          <a:p>
            <a:pPr marL="342900" indent="-342900">
              <a:lnSpc>
                <a:spcPct val="110000"/>
              </a:lnSpc>
              <a:spcAft>
                <a:spcPts val="900"/>
              </a:spcAft>
              <a:buSzPct val="100000"/>
              <a:buChar char="•"/>
            </a:pPr>
            <a:r>
              <a:rPr lang="en-US" sz="1350" dirty="0">
                <a:solidFill>
                  <a:srgbClr val="24303A"/>
                </a:solidFill>
                <a:latin typeface="Calibri" pitchFamily="34" charset="0"/>
                <a:ea typeface="Calibri" pitchFamily="34" charset="-122"/>
                <a:cs typeface="Calibri" pitchFamily="34" charset="-120"/>
              </a:rPr>
              <a:t>workclass and occupation are missing on exactly the same 1,836 records, a complete overlap. That is one non-response event copied into two fields, not two independent problems.</a:t>
            </a:r>
            <a:endParaRPr lang="en-US" sz="1350" dirty="0"/>
          </a:p>
          <a:p>
            <a:pPr marL="342900" indent="-342900">
              <a:lnSpc>
                <a:spcPct val="110000"/>
              </a:lnSpc>
              <a:spcAft>
                <a:spcPts val="900"/>
              </a:spcAft>
              <a:buSzPct val="100000"/>
              <a:buChar char="•"/>
            </a:pPr>
            <a:r>
              <a:rPr lang="en-US" sz="1350" dirty="0">
                <a:solidFill>
                  <a:srgbClr val="24303A"/>
                </a:solidFill>
                <a:latin typeface="Calibri" pitchFamily="34" charset="0"/>
                <a:ea typeface="Calibri" pitchFamily="34" charset="-122"/>
                <a:cs typeface="Calibri" pitchFamily="34" charset="-120"/>
              </a:rPr>
              <a:t>There is no record where only workclass is blank.</a:t>
            </a:r>
            <a:endParaRPr lang="en-US" sz="1350" dirty="0"/>
          </a:p>
        </p:txBody>
      </p:sp>
      <p:sp>
        <p:nvSpPr>
          <p:cNvPr id="14" name="Shape 12"/>
          <p:cNvSpPr/>
          <p:nvPr/>
        </p:nvSpPr>
        <p:spPr>
          <a:xfrm>
            <a:off x="566928" y="4892040"/>
            <a:ext cx="11027664" cy="1234440"/>
          </a:xfrm>
          <a:prstGeom prst="roundRect">
            <a:avLst>
              <a:gd name="adj" fmla="val 4444"/>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5" name="Text 13"/>
          <p:cNvSpPr/>
          <p:nvPr/>
        </p:nvSpPr>
        <p:spPr>
          <a:xfrm>
            <a:off x="859536" y="5102352"/>
            <a:ext cx="6400800" cy="320040"/>
          </a:xfrm>
          <a:prstGeom prst="rect">
            <a:avLst/>
          </a:prstGeom>
          <a:noFill/>
          <a:ln/>
        </p:spPr>
        <p:txBody>
          <a:bodyPr wrap="square" lIns="0" tIns="0" rIns="0" bIns="0" rtlCol="0" anchor="ctr"/>
          <a:lstStyle/>
          <a:p>
            <a:pPr indent="0" marL="0">
              <a:buNone/>
            </a:pPr>
            <a:r>
              <a:rPr lang="en-US" sz="1600" b="1" dirty="0">
                <a:solidFill>
                  <a:srgbClr val="2E6F5E"/>
                </a:solidFill>
                <a:latin typeface="Cambria" pitchFamily="34" charset="0"/>
                <a:ea typeface="Cambria" pitchFamily="34" charset="-122"/>
                <a:cs typeface="Cambria" pitchFamily="34" charset="-120"/>
              </a:rPr>
              <a:t>The exception that sets the cleaning rule</a:t>
            </a:r>
            <a:endParaRPr lang="en-US" sz="1600" dirty="0"/>
          </a:p>
        </p:txBody>
      </p:sp>
      <p:sp>
        <p:nvSpPr>
          <p:cNvPr id="16" name="Text 14"/>
          <p:cNvSpPr/>
          <p:nvPr/>
        </p:nvSpPr>
        <p:spPr>
          <a:xfrm>
            <a:off x="859536" y="5504688"/>
            <a:ext cx="10424160" cy="502920"/>
          </a:xfrm>
          <a:prstGeom prst="rect">
            <a:avLst/>
          </a:prstGeom>
          <a:noFill/>
          <a:ln/>
        </p:spPr>
        <p:txBody>
          <a:bodyPr wrap="square" lIns="0" tIns="0" rIns="0" bIns="0" rtlCol="0" anchor="t"/>
          <a:lstStyle/>
          <a:p>
            <a:pPr algn="l" indent="0" marL="0">
              <a:lnSpc>
                <a:spcPct val="115000"/>
              </a:lnSpc>
              <a:buNone/>
            </a:pPr>
            <a:r>
              <a:rPr lang="en-US" sz="1300" dirty="0">
                <a:solidFill>
                  <a:srgbClr val="24303A"/>
                </a:solidFill>
                <a:latin typeface="Calibri" pitchFamily="34" charset="0"/>
                <a:ea typeface="Calibri" pitchFamily="34" charset="-122"/>
                <a:cs typeface="Calibri" pitchFamily="34" charset="-120"/>
              </a:rPr>
              <a:t>Seven records have occupation "?" but a real workclass of Never-worked. Those people genuinely have no occupation. A blanket replace of "?" with null would destroy a real value.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1, DEFECT 2</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A placeholder is being averaged as if it were money</a:t>
            </a:r>
            <a:endParaRPr lang="en-US" sz="3200" dirty="0"/>
          </a:p>
        </p:txBody>
      </p:sp>
      <p:sp>
        <p:nvSpPr>
          <p:cNvPr id="4" name="Text 2"/>
          <p:cNvSpPr/>
          <p:nvPr/>
        </p:nvSpPr>
        <p:spPr>
          <a:xfrm>
            <a:off x="566928" y="1417320"/>
            <a:ext cx="2468880" cy="777240"/>
          </a:xfrm>
          <a:prstGeom prst="rect">
            <a:avLst/>
          </a:prstGeom>
          <a:noFill/>
          <a:ln/>
        </p:spPr>
        <p:txBody>
          <a:bodyPr wrap="square" lIns="0" tIns="0" rIns="0" bIns="0" rtlCol="0" anchor="ctr"/>
          <a:lstStyle/>
          <a:p>
            <a:pPr algn="l" indent="0" marL="0">
              <a:buNone/>
            </a:pPr>
            <a:r>
              <a:rPr lang="en-US" sz="4000" b="1" dirty="0">
                <a:solidFill>
                  <a:srgbClr val="B3453A"/>
                </a:solidFill>
                <a:latin typeface="Cambria" pitchFamily="34" charset="0"/>
                <a:ea typeface="Cambria" pitchFamily="34" charset="-122"/>
                <a:cs typeface="Cambria" pitchFamily="34" charset="-120"/>
              </a:rPr>
              <a:t>159</a:t>
            </a:r>
            <a:endParaRPr lang="en-US" sz="4000" dirty="0"/>
          </a:p>
        </p:txBody>
      </p:sp>
      <p:sp>
        <p:nvSpPr>
          <p:cNvPr id="5" name="Text 3"/>
          <p:cNvSpPr/>
          <p:nvPr/>
        </p:nvSpPr>
        <p:spPr>
          <a:xfrm>
            <a:off x="566928" y="2167128"/>
            <a:ext cx="246888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records hold 99999</a:t>
            </a:r>
            <a:endParaRPr lang="en-US" sz="1200" dirty="0"/>
          </a:p>
        </p:txBody>
      </p:sp>
      <p:sp>
        <p:nvSpPr>
          <p:cNvPr id="6" name="Text 4"/>
          <p:cNvSpPr/>
          <p:nvPr/>
        </p:nvSpPr>
        <p:spPr>
          <a:xfrm>
            <a:off x="3200400" y="1417320"/>
            <a:ext cx="2834640" cy="777240"/>
          </a:xfrm>
          <a:prstGeom prst="rect">
            <a:avLst/>
          </a:prstGeom>
          <a:noFill/>
          <a:ln/>
        </p:spPr>
        <p:txBody>
          <a:bodyPr wrap="square" lIns="0" tIns="0" rIns="0" bIns="0" rtlCol="0" anchor="ctr"/>
          <a:lstStyle/>
          <a:p>
            <a:pPr algn="l" indent="0" marL="0">
              <a:buNone/>
            </a:pPr>
            <a:r>
              <a:rPr lang="en-US" sz="4000" b="1" dirty="0">
                <a:solidFill>
                  <a:srgbClr val="24303A"/>
                </a:solidFill>
                <a:latin typeface="Cambria" pitchFamily="34" charset="0"/>
                <a:ea typeface="Cambria" pitchFamily="34" charset="-122"/>
                <a:cs typeface="Cambria" pitchFamily="34" charset="-120"/>
              </a:rPr>
              <a:t>41,310</a:t>
            </a:r>
            <a:endParaRPr lang="en-US" sz="4000" dirty="0"/>
          </a:p>
        </p:txBody>
      </p:sp>
      <p:sp>
        <p:nvSpPr>
          <p:cNvPr id="7" name="Text 5"/>
          <p:cNvSpPr/>
          <p:nvPr/>
        </p:nvSpPr>
        <p:spPr>
          <a:xfrm>
            <a:off x="3200400" y="2167128"/>
            <a:ext cx="283464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the next real value below it</a:t>
            </a:r>
            <a:endParaRPr lang="en-US" sz="1200" dirty="0"/>
          </a:p>
        </p:txBody>
      </p:sp>
      <p:sp>
        <p:nvSpPr>
          <p:cNvPr id="8" name="Text 6"/>
          <p:cNvSpPr/>
          <p:nvPr/>
        </p:nvSpPr>
        <p:spPr>
          <a:xfrm>
            <a:off x="6400800" y="1417320"/>
            <a:ext cx="3017520" cy="777240"/>
          </a:xfrm>
          <a:prstGeom prst="rect">
            <a:avLst/>
          </a:prstGeom>
          <a:noFill/>
          <a:ln/>
        </p:spPr>
        <p:txBody>
          <a:bodyPr wrap="square" lIns="0" tIns="0" rIns="0" bIns="0" rtlCol="0" anchor="ctr"/>
          <a:lstStyle/>
          <a:p>
            <a:pPr algn="l" indent="0" marL="0">
              <a:buNone/>
            </a:pPr>
            <a:r>
              <a:rPr lang="en-US" sz="4000" b="1" dirty="0">
                <a:solidFill>
                  <a:srgbClr val="24303A"/>
                </a:solidFill>
                <a:latin typeface="Cambria" pitchFamily="34" charset="0"/>
                <a:ea typeface="Cambria" pitchFamily="34" charset="-122"/>
                <a:cs typeface="Cambria" pitchFamily="34" charset="-120"/>
              </a:rPr>
              <a:t>58,689</a:t>
            </a:r>
            <a:endParaRPr lang="en-US" sz="4000" dirty="0"/>
          </a:p>
        </p:txBody>
      </p:sp>
      <p:sp>
        <p:nvSpPr>
          <p:cNvPr id="9" name="Text 7"/>
          <p:cNvSpPr/>
          <p:nvPr/>
        </p:nvSpPr>
        <p:spPr>
          <a:xfrm>
            <a:off x="6400800" y="2167128"/>
            <a:ext cx="301752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wide gap with nothing in it</a:t>
            </a:r>
            <a:endParaRPr lang="en-US" sz="1200" dirty="0"/>
          </a:p>
        </p:txBody>
      </p:sp>
      <p:sp>
        <p:nvSpPr>
          <p:cNvPr id="10" name="Text 8"/>
          <p:cNvSpPr/>
          <p:nvPr/>
        </p:nvSpPr>
        <p:spPr>
          <a:xfrm>
            <a:off x="9601200" y="1417320"/>
            <a:ext cx="2011680" cy="777240"/>
          </a:xfrm>
          <a:prstGeom prst="rect">
            <a:avLst/>
          </a:prstGeom>
          <a:noFill/>
          <a:ln/>
        </p:spPr>
        <p:txBody>
          <a:bodyPr wrap="square" lIns="0" tIns="0" rIns="0" bIns="0" rtlCol="0" anchor="ctr"/>
          <a:lstStyle/>
          <a:p>
            <a:pPr algn="l" indent="0" marL="0">
              <a:buNone/>
            </a:pPr>
            <a:r>
              <a:rPr lang="en-US" sz="4000" b="1" dirty="0">
                <a:solidFill>
                  <a:srgbClr val="B3453A"/>
                </a:solidFill>
                <a:latin typeface="Cambria" pitchFamily="34" charset="0"/>
                <a:ea typeface="Cambria" pitchFamily="34" charset="-122"/>
                <a:cs typeface="Cambria" pitchFamily="34" charset="-120"/>
              </a:rPr>
              <a:t>100%</a:t>
            </a:r>
            <a:endParaRPr lang="en-US" sz="4000" dirty="0"/>
          </a:p>
        </p:txBody>
      </p:sp>
      <p:sp>
        <p:nvSpPr>
          <p:cNvPr id="11" name="Text 9"/>
          <p:cNvSpPr/>
          <p:nvPr/>
        </p:nvSpPr>
        <p:spPr>
          <a:xfrm>
            <a:off x="9601200" y="2167128"/>
            <a:ext cx="201168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of them high income</a:t>
            </a:r>
            <a:endParaRPr lang="en-US" sz="1200" dirty="0"/>
          </a:p>
        </p:txBody>
      </p:sp>
      <p:sp>
        <p:nvSpPr>
          <p:cNvPr id="12" name="Text 10"/>
          <p:cNvSpPr/>
          <p:nvPr/>
        </p:nvSpPr>
        <p:spPr>
          <a:xfrm>
            <a:off x="566928" y="2880360"/>
            <a:ext cx="11027664" cy="502920"/>
          </a:xfrm>
          <a:prstGeom prst="rect">
            <a:avLst/>
          </a:prstGeom>
          <a:noFill/>
          <a:ln/>
        </p:spPr>
        <p:txBody>
          <a:bodyPr wrap="square" lIns="0" tIns="0" rIns="0" bIns="0" rtlCol="0" anchor="t"/>
          <a:lstStyle/>
          <a:p>
            <a:pPr algn="l" indent="0" marL="0">
              <a:lnSpc>
                <a:spcPct val="115000"/>
              </a:lnSpc>
              <a:buNone/>
            </a:pPr>
            <a:r>
              <a:rPr lang="en-US" sz="1400" dirty="0">
                <a:solidFill>
                  <a:srgbClr val="24303A"/>
                </a:solidFill>
                <a:latin typeface="Calibri" pitchFamily="34" charset="0"/>
                <a:ea typeface="Calibri" pitchFamily="34" charset="-122"/>
                <a:cs typeface="Calibri" pitchFamily="34" charset="-120"/>
              </a:rPr>
              <a:t>Real income distributions decay continuously. They do not jump 58,689 with no observations in between. A run of nines is the standard census convention for a censored value.</a:t>
            </a:r>
            <a:endParaRPr lang="en-US" sz="1400" dirty="0"/>
          </a:p>
        </p:txBody>
      </p:sp>
      <p:sp>
        <p:nvSpPr>
          <p:cNvPr id="13" name="Text 11"/>
          <p:cNvSpPr/>
          <p:nvPr/>
        </p:nvSpPr>
        <p:spPr>
          <a:xfrm>
            <a:off x="566928" y="3611880"/>
            <a:ext cx="11027664" cy="365760"/>
          </a:xfrm>
          <a:prstGeom prst="rect">
            <a:avLst/>
          </a:prstGeom>
          <a:noFill/>
          <a:ln/>
        </p:spPr>
        <p:txBody>
          <a:bodyPr wrap="square" lIns="0" tIns="0" rIns="0" bIns="0" rtlCol="0" anchor="ctr"/>
          <a:lstStyle/>
          <a:p>
            <a:pPr indent="0" marL="0">
              <a:buNone/>
            </a:pPr>
            <a:r>
              <a:rPr lang="en-US" sz="1900" b="1" dirty="0">
                <a:solidFill>
                  <a:srgbClr val="24303A"/>
                </a:solidFill>
                <a:latin typeface="Cambria" pitchFamily="34" charset="0"/>
                <a:ea typeface="Cambria" pitchFamily="34" charset="-122"/>
                <a:cs typeface="Cambria" pitchFamily="34" charset="-120"/>
              </a:rPr>
              <a:t>What it does to the allocation ranking</a:t>
            </a:r>
            <a:endParaRPr lang="en-US" sz="1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069080"/>
          <a:ext cx="11027664" cy="914400"/>
        </p:xfrm>
        <a:graphic>
          <a:graphicData uri="http://schemas.openxmlformats.org/drawingml/2006/table">
            <a:tbl>
              <a:tblPr/>
              <a:tblGrid>
                <a:gridCol w="3712464"/>
                <a:gridCol w="2011680"/>
                <a:gridCol w="1463040"/>
                <a:gridCol w="2011680"/>
                <a:gridCol w="182880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Occupation</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Mean with 99999</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Mean excluded</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r>
              <a:tr h="329184">
                <a:tc>
                  <a:txBody>
                    <a:bodyPr/>
                    <a:lstStyle/>
                    <a:p>
                      <a:pPr algn="l" indent="0" marL="0">
                        <a:buNone/>
                      </a:pPr>
                      <a:r>
                        <a:rPr lang="en-US" sz="1300" dirty="0">
                          <a:solidFill>
                            <a:srgbClr val="24303A"/>
                          </a:solidFill>
                          <a:latin typeface="Calibri" pitchFamily="34" charset="0"/>
                          <a:ea typeface="Calibri" pitchFamily="34" charset="-122"/>
                          <a:cs typeface="Calibri" pitchFamily="34" charset="-120"/>
                        </a:rPr>
                        <a:t>Prof-specialty</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$2,727</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$1,127</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24303A"/>
                          </a:solidFill>
                          <a:latin typeface="Calibri" pitchFamily="34" charset="0"/>
                          <a:ea typeface="Calibri" pitchFamily="34" charset="-122"/>
                          <a:cs typeface="Calibri" pitchFamily="34" charset="-120"/>
                        </a:rPr>
                        <a:t>Exec-managerial</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$2,263</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$1,243</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24303A"/>
                          </a:solidFill>
                          <a:latin typeface="Calibri" pitchFamily="34" charset="0"/>
                          <a:ea typeface="Calibri" pitchFamily="34" charset="-122"/>
                          <a:cs typeface="Calibri" pitchFamily="34" charset="-120"/>
                        </a:rPr>
                        <a:t>Farming-fishing</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$590</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$590</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24303A"/>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bl>
          </a:graphicData>
        </a:graphic>
      </p:graphicFrame>
      <p:sp>
        <p:nvSpPr>
          <p:cNvPr id="15" name="Text 12"/>
          <p:cNvSpPr/>
          <p:nvPr/>
        </p:nvSpPr>
        <p:spPr>
          <a:xfrm>
            <a:off x="566928" y="5760720"/>
            <a:ext cx="11027664" cy="54864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Nine of the fourteen occupations change position once the sentinel is removed, and the top two swap. Farming-fishing is the clearest case: it holds no censored records at all, so its mean never moves, yet it still rises three places because the inflated occupations above it fall away.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1, DEFECT 3</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No key, so the data cannot be updated, joined or audited</a:t>
            </a:r>
            <a:endParaRPr lang="en-US" sz="3200" dirty="0"/>
          </a:p>
        </p:txBody>
      </p:sp>
      <p:sp>
        <p:nvSpPr>
          <p:cNvPr id="4" name="Shape 2"/>
          <p:cNvSpPr/>
          <p:nvPr/>
        </p:nvSpPr>
        <p:spPr>
          <a:xfrm>
            <a:off x="566928" y="1371600"/>
            <a:ext cx="5394960" cy="2011680"/>
          </a:xfrm>
          <a:prstGeom prst="roundRect">
            <a:avLst>
              <a:gd name="adj" fmla="val 2727"/>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5" name="Text 3"/>
          <p:cNvSpPr/>
          <p:nvPr/>
        </p:nvSpPr>
        <p:spPr>
          <a:xfrm>
            <a:off x="841248" y="1600200"/>
            <a:ext cx="4846320" cy="274320"/>
          </a:xfrm>
          <a:prstGeom prst="rect">
            <a:avLst/>
          </a:prstGeom>
          <a:noFill/>
          <a:ln/>
        </p:spPr>
        <p:txBody>
          <a:bodyPr wrap="square" lIns="0" tIns="0" rIns="0" bIns="0" rtlCol="0" anchor="t"/>
          <a:lstStyle/>
          <a:p>
            <a:pPr algn="l" indent="0" marL="0">
              <a:lnSpc>
                <a:spcPct val="115000"/>
              </a:lnSpc>
              <a:buNone/>
            </a:pPr>
            <a:r>
              <a:rPr lang="en-US" sz="1050" dirty="0">
                <a:solidFill>
                  <a:srgbClr val="5E6B77"/>
                </a:solidFill>
                <a:latin typeface="Calibri" pitchFamily="34" charset="0"/>
                <a:ea typeface="Calibri" pitchFamily="34" charset="-122"/>
                <a:cs typeface="Calibri" pitchFamily="34" charset="-120"/>
              </a:rPr>
              <a:t>THE DUPLICATES</a:t>
            </a:r>
            <a:endParaRPr lang="en-US" sz="1050" dirty="0"/>
          </a:p>
        </p:txBody>
      </p:sp>
      <p:sp>
        <p:nvSpPr>
          <p:cNvPr id="6" name="Text 4"/>
          <p:cNvSpPr/>
          <p:nvPr/>
        </p:nvSpPr>
        <p:spPr>
          <a:xfrm>
            <a:off x="841248" y="1874520"/>
            <a:ext cx="4846320" cy="640080"/>
          </a:xfrm>
          <a:prstGeom prst="rect">
            <a:avLst/>
          </a:prstGeom>
          <a:noFill/>
          <a:ln/>
        </p:spPr>
        <p:txBody>
          <a:bodyPr wrap="square" lIns="0" tIns="0" rIns="0" bIns="0" rtlCol="0" anchor="ctr"/>
          <a:lstStyle/>
          <a:p>
            <a:pPr indent="0" marL="0">
              <a:buNone/>
            </a:pPr>
            <a:r>
              <a:rPr lang="en-US" sz="4000" b="1" dirty="0">
                <a:solidFill>
                  <a:srgbClr val="B3453A"/>
                </a:solidFill>
                <a:latin typeface="Cambria" pitchFamily="34" charset="0"/>
                <a:ea typeface="Cambria" pitchFamily="34" charset="-122"/>
                <a:cs typeface="Cambria" pitchFamily="34" charset="-120"/>
              </a:rPr>
              <a:t>24</a:t>
            </a:r>
            <a:endParaRPr lang="en-US" sz="4000" dirty="0"/>
          </a:p>
        </p:txBody>
      </p:sp>
      <p:sp>
        <p:nvSpPr>
          <p:cNvPr id="7" name="Text 5"/>
          <p:cNvSpPr/>
          <p:nvPr/>
        </p:nvSpPr>
        <p:spPr>
          <a:xfrm>
            <a:off x="841248" y="2560320"/>
            <a:ext cx="4846320" cy="914400"/>
          </a:xfrm>
          <a:prstGeom prst="rect">
            <a:avLst/>
          </a:prstGeom>
          <a:noFill/>
          <a:ln/>
        </p:spPr>
        <p:txBody>
          <a:bodyPr wrap="square" lIns="0" tIns="0" rIns="0" bIns="0" rtlCol="0" anchor="t"/>
          <a:lstStyle/>
          <a:p>
            <a:pPr algn="l" indent="0" marL="0">
              <a:lnSpc>
                <a:spcPct val="115000"/>
              </a:lnSpc>
              <a:buNone/>
            </a:pPr>
            <a:r>
              <a:rPr lang="en-US" sz="1300" dirty="0">
                <a:solidFill>
                  <a:srgbClr val="5E6B77"/>
                </a:solidFill>
                <a:latin typeface="Calibri" pitchFamily="34" charset="0"/>
                <a:ea typeface="Calibri" pitchFamily="34" charset="-122"/>
                <a:cs typeface="Calibri" pitchFamily="34" charset="-120"/>
              </a:rPr>
              <a:t>exact duplicate records, in 23 distinct patterns. One appears three times.</a:t>
            </a:r>
            <a:endParaRPr lang="en-US" sz="1300" dirty="0"/>
          </a:p>
        </p:txBody>
      </p:sp>
      <p:sp>
        <p:nvSpPr>
          <p:cNvPr id="8" name="Shape 6"/>
          <p:cNvSpPr/>
          <p:nvPr/>
        </p:nvSpPr>
        <p:spPr>
          <a:xfrm>
            <a:off x="6217920" y="1371600"/>
            <a:ext cx="5376672" cy="2011680"/>
          </a:xfrm>
          <a:prstGeom prst="roundRect">
            <a:avLst>
              <a:gd name="adj" fmla="val 2727"/>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9" name="Text 7"/>
          <p:cNvSpPr/>
          <p:nvPr/>
        </p:nvSpPr>
        <p:spPr>
          <a:xfrm>
            <a:off x="6492240" y="1600200"/>
            <a:ext cx="4846320" cy="274320"/>
          </a:xfrm>
          <a:prstGeom prst="rect">
            <a:avLst/>
          </a:prstGeom>
          <a:noFill/>
          <a:ln/>
        </p:spPr>
        <p:txBody>
          <a:bodyPr wrap="square" lIns="0" tIns="0" rIns="0" bIns="0" rtlCol="0" anchor="t"/>
          <a:lstStyle/>
          <a:p>
            <a:pPr algn="l" indent="0" marL="0">
              <a:lnSpc>
                <a:spcPct val="115000"/>
              </a:lnSpc>
              <a:buNone/>
            </a:pPr>
            <a:r>
              <a:rPr lang="en-US" sz="1050" dirty="0">
                <a:solidFill>
                  <a:srgbClr val="5E6B77"/>
                </a:solidFill>
                <a:latin typeface="Calibri" pitchFamily="34" charset="0"/>
                <a:ea typeface="Calibri" pitchFamily="34" charset="-122"/>
                <a:cs typeface="Calibri" pitchFamily="34" charset="-120"/>
              </a:rPr>
              <a:t>AND NOTHING TO ADJUDICATE THEM WITH</a:t>
            </a:r>
            <a:endParaRPr lang="en-US" sz="1050" dirty="0"/>
          </a:p>
        </p:txBody>
      </p:sp>
      <p:sp>
        <p:nvSpPr>
          <p:cNvPr id="10" name="Text 8"/>
          <p:cNvSpPr/>
          <p:nvPr/>
        </p:nvSpPr>
        <p:spPr>
          <a:xfrm>
            <a:off x="6492240" y="1874520"/>
            <a:ext cx="4846320" cy="640080"/>
          </a:xfrm>
          <a:prstGeom prst="rect">
            <a:avLst/>
          </a:prstGeom>
          <a:noFill/>
          <a:ln/>
        </p:spPr>
        <p:txBody>
          <a:bodyPr wrap="square" lIns="0" tIns="0" rIns="0" bIns="0" rtlCol="0" anchor="ctr"/>
          <a:lstStyle/>
          <a:p>
            <a:pPr indent="0" marL="0">
              <a:buNone/>
            </a:pPr>
            <a:r>
              <a:rPr lang="en-US" sz="4000" b="1" dirty="0">
                <a:solidFill>
                  <a:srgbClr val="B3453A"/>
                </a:solidFill>
                <a:latin typeface="Cambria" pitchFamily="34" charset="0"/>
                <a:ea typeface="Cambria" pitchFamily="34" charset="-122"/>
                <a:cs typeface="Cambria" pitchFamily="34" charset="-120"/>
              </a:rPr>
              <a:t>17,231</a:t>
            </a:r>
            <a:endParaRPr lang="en-US" sz="4000" dirty="0"/>
          </a:p>
        </p:txBody>
      </p:sp>
      <p:sp>
        <p:nvSpPr>
          <p:cNvPr id="11" name="Text 9"/>
          <p:cNvSpPr/>
          <p:nvPr/>
        </p:nvSpPr>
        <p:spPr>
          <a:xfrm>
            <a:off x="6492240" y="2560320"/>
            <a:ext cx="4846320" cy="914400"/>
          </a:xfrm>
          <a:prstGeom prst="rect">
            <a:avLst/>
          </a:prstGeom>
          <a:noFill/>
          <a:ln/>
        </p:spPr>
        <p:txBody>
          <a:bodyPr wrap="square" lIns="0" tIns="0" rIns="0" bIns="0" rtlCol="0" anchor="t"/>
          <a:lstStyle/>
          <a:p>
            <a:pPr algn="l" indent="0" marL="0">
              <a:lnSpc>
                <a:spcPct val="115000"/>
              </a:lnSpc>
              <a:buNone/>
            </a:pPr>
            <a:r>
              <a:rPr lang="en-US" sz="1300" dirty="0">
                <a:solidFill>
                  <a:srgbClr val="5E6B77"/>
                </a:solidFill>
                <a:latin typeface="Calibri" pitchFamily="34" charset="0"/>
                <a:ea typeface="Calibri" pitchFamily="34" charset="-122"/>
                <a:cs typeface="Calibri" pitchFamily="34" charset="-120"/>
              </a:rPr>
              <a:t>records share an fnlwgt value with at least one other record, so it cannot serve as a key.</a:t>
            </a:r>
            <a:endParaRPr lang="en-US" sz="1300" dirty="0"/>
          </a:p>
        </p:txBody>
      </p:sp>
      <p:sp>
        <p:nvSpPr>
          <p:cNvPr id="12" name="Text 10"/>
          <p:cNvSpPr/>
          <p:nvPr/>
        </p:nvSpPr>
        <p:spPr>
          <a:xfrm>
            <a:off x="566928" y="3886200"/>
            <a:ext cx="11027664" cy="548640"/>
          </a:xfrm>
          <a:prstGeom prst="rect">
            <a:avLst/>
          </a:prstGeom>
          <a:noFill/>
          <a:ln/>
        </p:spPr>
        <p:txBody>
          <a:bodyPr wrap="square" lIns="0" tIns="0" rIns="0" bIns="0" rtlCol="0" anchor="t"/>
          <a:lstStyle/>
          <a:p>
            <a:pPr algn="l" indent="0" marL="0">
              <a:lnSpc>
                <a:spcPct val="115000"/>
              </a:lnSpc>
              <a:buNone/>
            </a:pPr>
            <a:r>
              <a:rPr lang="en-US" sz="1400" dirty="0">
                <a:solidFill>
                  <a:srgbClr val="24303A"/>
                </a:solidFill>
                <a:latin typeface="Calibri" pitchFamily="34" charset="0"/>
                <a:ea typeface="Calibri" pitchFamily="34" charset="-122"/>
                <a:cs typeface="Calibri" pitchFamily="34" charset="-120"/>
              </a:rPr>
              <a:t>There is no id, no person_id, no record key of any kind. fnlwgt is a Current Population Survey weight, so respondents with similar demographics receive similar weights by design. Collision is its intended behaviour, not a flaw.</a:t>
            </a:r>
            <a:endParaRPr lang="en-US" sz="1400" dirty="0"/>
          </a:p>
        </p:txBody>
      </p:sp>
      <p:sp>
        <p:nvSpPr>
          <p:cNvPr id="13" name="Shape 11"/>
          <p:cNvSpPr/>
          <p:nvPr/>
        </p:nvSpPr>
        <p:spPr>
          <a:xfrm>
            <a:off x="566928" y="4709160"/>
            <a:ext cx="11027664" cy="1371600"/>
          </a:xfrm>
          <a:prstGeom prst="roundRect">
            <a:avLst>
              <a:gd name="adj" fmla="val 4000"/>
            </a:avLst>
          </a:prstGeom>
          <a:solidFill>
            <a:srgbClr val="F6E9E7"/>
          </a:solidFill>
          <a:ln w="12700">
            <a:solidFill>
              <a:srgbClr val="F6E9E7"/>
            </a:solidFill>
            <a:prstDash val="solid"/>
          </a:ln>
          <a:effectLst>
            <a:outerShdw sx="100000" sy="100000" kx="0" ky="0" algn="bl" rotWithShape="0" blurRad="101600" dist="12700" dir="5400000">
              <a:srgbClr val="9AA5AE">
                <a:alpha val="25000"/>
              </a:srgbClr>
            </a:outerShdw>
          </a:effectLst>
        </p:spPr>
      </p:sp>
      <p:sp>
        <p:nvSpPr>
          <p:cNvPr id="14" name="Text 12"/>
          <p:cNvSpPr/>
          <p:nvPr/>
        </p:nvSpPr>
        <p:spPr>
          <a:xfrm>
            <a:off x="859536" y="4919472"/>
            <a:ext cx="10424160" cy="320040"/>
          </a:xfrm>
          <a:prstGeom prst="rect">
            <a:avLst/>
          </a:prstGeom>
          <a:noFill/>
          <a:ln/>
        </p:spPr>
        <p:txBody>
          <a:bodyPr wrap="square" lIns="0" tIns="0" rIns="0" bIns="0" rtlCol="0" anchor="ctr"/>
          <a:lstStyle/>
          <a:p>
            <a:pPr indent="0" marL="0">
              <a:buNone/>
            </a:pPr>
            <a:r>
              <a:rPr lang="en-US" sz="1600" b="1" dirty="0">
                <a:solidFill>
                  <a:srgbClr val="B3453A"/>
                </a:solidFill>
                <a:latin typeface="Cambria" pitchFamily="34" charset="0"/>
                <a:ea typeface="Cambria" pitchFamily="34" charset="-122"/>
                <a:cs typeface="Cambria" pitchFamily="34" charset="-120"/>
              </a:rPr>
              <a:t>Why this is the defect that matters most</a:t>
            </a:r>
            <a:endParaRPr lang="en-US" sz="1600" dirty="0"/>
          </a:p>
        </p:txBody>
      </p:sp>
      <p:sp>
        <p:nvSpPr>
          <p:cNvPr id="15" name="Text 13"/>
          <p:cNvSpPr/>
          <p:nvPr/>
        </p:nvSpPr>
        <p:spPr>
          <a:xfrm>
            <a:off x="859536" y="5285232"/>
            <a:ext cx="10424160" cy="685800"/>
          </a:xfrm>
          <a:prstGeom prst="rect">
            <a:avLst/>
          </a:prstGeom>
          <a:noFill/>
          <a:ln/>
        </p:spPr>
        <p:txBody>
          <a:bodyPr wrap="square" lIns="0" tIns="0" rIns="0" bIns="0" rtlCol="0" anchor="t"/>
          <a:lstStyle/>
          <a:p>
            <a:pPr algn="l" indent="0" marL="0">
              <a:lnSpc>
                <a:spcPct val="115000"/>
              </a:lnSpc>
              <a:buNone/>
            </a:pPr>
            <a:r>
              <a:rPr lang="en-US" sz="1300" dirty="0">
                <a:solidFill>
                  <a:srgbClr val="24303A"/>
                </a:solidFill>
                <a:latin typeface="Calibri" pitchFamily="34" charset="0"/>
                <a:ea typeface="Calibri" pitchFamily="34" charset="-122"/>
                <a:cs typeface="Calibri" pitchFamily="34" charset="-120"/>
              </a:rPr>
              <a:t>Without a key, funding cannot be linked to the outcome records that delivery partners report back. The success measure is unmeasurable, no incremental refresh is possible, and a decision spending public money has no auditable lineage.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2103120"/>
            <a:ext cx="5486400" cy="365760"/>
          </a:xfrm>
          <a:prstGeom prst="rect">
            <a:avLst/>
          </a:prstGeom>
          <a:noFill/>
          <a:ln/>
        </p:spPr>
        <p:txBody>
          <a:bodyPr wrap="square" lIns="0" tIns="0" rIns="0" bIns="0" rtlCol="0" anchor="ctr"/>
          <a:lstStyle/>
          <a:p>
            <a:pPr indent="0" marL="0">
              <a:buNone/>
            </a:pPr>
            <a:r>
              <a:rPr lang="en-US" sz="1300" b="1" spc="300" kern="0" dirty="0">
                <a:solidFill>
                  <a:srgbClr val="8FC3B2"/>
                </a:solidFill>
                <a:latin typeface="Calibri" pitchFamily="34" charset="0"/>
                <a:ea typeface="Calibri" pitchFamily="34" charset="-122"/>
                <a:cs typeface="Calibri" pitchFamily="34" charset="-120"/>
              </a:rPr>
              <a:t>LAB 2</a:t>
            </a:r>
            <a:endParaRPr lang="en-US" sz="1300" dirty="0"/>
          </a:p>
        </p:txBody>
      </p:sp>
      <p:sp>
        <p:nvSpPr>
          <p:cNvPr id="3" name="Text 1"/>
          <p:cNvSpPr/>
          <p:nvPr/>
        </p:nvSpPr>
        <p:spPr>
          <a:xfrm>
            <a:off x="566928" y="2514600"/>
            <a:ext cx="100584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Model your dataset</a:t>
            </a:r>
            <a:endParaRPr lang="en-US" sz="4000" dirty="0"/>
          </a:p>
        </p:txBody>
      </p:sp>
      <p:sp>
        <p:nvSpPr>
          <p:cNvPr id="4" name="Text 2"/>
          <p:cNvSpPr/>
          <p:nvPr/>
        </p:nvSpPr>
        <p:spPr>
          <a:xfrm>
            <a:off x="566928" y="3520440"/>
            <a:ext cx="9601200" cy="457200"/>
          </a:xfrm>
          <a:prstGeom prst="rect">
            <a:avLst/>
          </a:prstGeom>
          <a:noFill/>
          <a:ln/>
        </p:spPr>
        <p:txBody>
          <a:bodyPr wrap="square" lIns="0" tIns="0" rIns="0" bIns="0" rtlCol="0" anchor="ctr"/>
          <a:lstStyle/>
          <a:p>
            <a:pPr indent="0" marL="0">
              <a:buNone/>
            </a:pPr>
            <a:r>
              <a:rPr lang="en-US" sz="1600" dirty="0">
                <a:solidFill>
                  <a:srgbClr val="A8B4BE"/>
                </a:solidFill>
                <a:latin typeface="Calibri" pitchFamily="34" charset="0"/>
                <a:ea typeface="Calibri" pitchFamily="34" charset="-122"/>
                <a:cs typeface="Calibri" pitchFamily="34" charset="-120"/>
              </a:rPr>
              <a:t>Design a schema in DuckDB. Decide normalised, star, or a deliberate mix, and write down why.</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2</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A star, with two deliberate departures</a:t>
            </a:r>
            <a:endParaRPr lang="en-US" sz="3200" dirty="0"/>
          </a:p>
        </p:txBody>
      </p:sp>
      <p:sp>
        <p:nvSpPr>
          <p:cNvPr id="4" name="Shape 2"/>
          <p:cNvSpPr/>
          <p:nvPr/>
        </p:nvSpPr>
        <p:spPr>
          <a:xfrm>
            <a:off x="3017520" y="2194560"/>
            <a:ext cx="1691640" cy="0"/>
          </a:xfrm>
          <a:prstGeom prst="line">
            <a:avLst/>
          </a:prstGeom>
          <a:noFill/>
          <a:ln w="15875">
            <a:solidFill>
              <a:srgbClr val="C3CBD2"/>
            </a:solidFill>
            <a:prstDash val="solid"/>
          </a:ln>
        </p:spPr>
      </p:sp>
      <p:sp>
        <p:nvSpPr>
          <p:cNvPr id="5" name="Shape 3"/>
          <p:cNvSpPr/>
          <p:nvPr/>
        </p:nvSpPr>
        <p:spPr>
          <a:xfrm>
            <a:off x="7452360" y="2194560"/>
            <a:ext cx="1673352" cy="0"/>
          </a:xfrm>
          <a:prstGeom prst="line">
            <a:avLst/>
          </a:prstGeom>
          <a:noFill/>
          <a:ln w="15875">
            <a:solidFill>
              <a:srgbClr val="C3CBD2"/>
            </a:solidFill>
            <a:prstDash val="solid"/>
          </a:ln>
        </p:spPr>
      </p:sp>
      <p:sp>
        <p:nvSpPr>
          <p:cNvPr id="6" name="Shape 4"/>
          <p:cNvSpPr/>
          <p:nvPr/>
        </p:nvSpPr>
        <p:spPr>
          <a:xfrm>
            <a:off x="3017520" y="2816352"/>
            <a:ext cx="1691640" cy="0"/>
          </a:xfrm>
          <a:prstGeom prst="line">
            <a:avLst/>
          </a:prstGeom>
          <a:noFill/>
          <a:ln w="15875">
            <a:solidFill>
              <a:srgbClr val="C3CBD2"/>
            </a:solidFill>
            <a:prstDash val="solid"/>
          </a:ln>
        </p:spPr>
      </p:sp>
      <p:sp>
        <p:nvSpPr>
          <p:cNvPr id="7" name="Shape 5"/>
          <p:cNvSpPr/>
          <p:nvPr/>
        </p:nvSpPr>
        <p:spPr>
          <a:xfrm>
            <a:off x="7452360" y="2816352"/>
            <a:ext cx="1673352" cy="0"/>
          </a:xfrm>
          <a:prstGeom prst="line">
            <a:avLst/>
          </a:prstGeom>
          <a:noFill/>
          <a:ln w="15875">
            <a:solidFill>
              <a:srgbClr val="C3CBD2"/>
            </a:solidFill>
            <a:prstDash val="solid"/>
          </a:ln>
        </p:spPr>
      </p:sp>
      <p:sp>
        <p:nvSpPr>
          <p:cNvPr id="8" name="Shape 6"/>
          <p:cNvSpPr/>
          <p:nvPr/>
        </p:nvSpPr>
        <p:spPr>
          <a:xfrm>
            <a:off x="3017520" y="3438144"/>
            <a:ext cx="1691640" cy="0"/>
          </a:xfrm>
          <a:prstGeom prst="line">
            <a:avLst/>
          </a:prstGeom>
          <a:noFill/>
          <a:ln w="15875">
            <a:solidFill>
              <a:srgbClr val="C3CBD2"/>
            </a:solidFill>
            <a:prstDash val="solid"/>
          </a:ln>
        </p:spPr>
      </p:sp>
      <p:sp>
        <p:nvSpPr>
          <p:cNvPr id="9" name="Shape 7"/>
          <p:cNvSpPr/>
          <p:nvPr/>
        </p:nvSpPr>
        <p:spPr>
          <a:xfrm>
            <a:off x="7452360" y="3438144"/>
            <a:ext cx="1673352" cy="0"/>
          </a:xfrm>
          <a:prstGeom prst="line">
            <a:avLst/>
          </a:prstGeom>
          <a:noFill/>
          <a:ln w="15875">
            <a:solidFill>
              <a:srgbClr val="C3CBD2"/>
            </a:solidFill>
            <a:prstDash val="solid"/>
          </a:ln>
        </p:spPr>
      </p:sp>
      <p:sp>
        <p:nvSpPr>
          <p:cNvPr id="10" name="Shape 8"/>
          <p:cNvSpPr/>
          <p:nvPr/>
        </p:nvSpPr>
        <p:spPr>
          <a:xfrm>
            <a:off x="3017520" y="4059936"/>
            <a:ext cx="1691640" cy="0"/>
          </a:xfrm>
          <a:prstGeom prst="line">
            <a:avLst/>
          </a:prstGeom>
          <a:noFill/>
          <a:ln w="15875">
            <a:solidFill>
              <a:srgbClr val="C3CBD2"/>
            </a:solidFill>
            <a:prstDash val="solid"/>
          </a:ln>
        </p:spPr>
      </p:sp>
      <p:sp>
        <p:nvSpPr>
          <p:cNvPr id="11" name="Shape 9"/>
          <p:cNvSpPr/>
          <p:nvPr/>
        </p:nvSpPr>
        <p:spPr>
          <a:xfrm>
            <a:off x="7452360" y="4059936"/>
            <a:ext cx="1673352" cy="0"/>
          </a:xfrm>
          <a:prstGeom prst="line">
            <a:avLst/>
          </a:prstGeom>
          <a:noFill/>
          <a:ln w="15875">
            <a:solidFill>
              <a:srgbClr val="C3CBD2"/>
            </a:solidFill>
            <a:prstDash val="solid"/>
          </a:ln>
        </p:spPr>
      </p:sp>
      <p:sp>
        <p:nvSpPr>
          <p:cNvPr id="12" name="Shape 10"/>
          <p:cNvSpPr/>
          <p:nvPr/>
        </p:nvSpPr>
        <p:spPr>
          <a:xfrm>
            <a:off x="685800" y="1965960"/>
            <a:ext cx="2331720" cy="457200"/>
          </a:xfrm>
          <a:prstGeom prst="roundRect">
            <a:avLst>
              <a:gd name="adj" fmla="val 10000"/>
            </a:avLst>
          </a:prstGeom>
          <a:solidFill>
            <a:srgbClr val="F1F3F5"/>
          </a:solidFill>
          <a:ln w="12700">
            <a:solidFill>
              <a:srgbClr val="C3CBD2"/>
            </a:solidFill>
            <a:prstDash val="solid"/>
          </a:ln>
        </p:spPr>
      </p:sp>
      <p:sp>
        <p:nvSpPr>
          <p:cNvPr id="13" name="Text 11"/>
          <p:cNvSpPr/>
          <p:nvPr/>
        </p:nvSpPr>
        <p:spPr>
          <a:xfrm>
            <a:off x="685800" y="1965960"/>
            <a:ext cx="2331720" cy="457200"/>
          </a:xfrm>
          <a:prstGeom prst="rect">
            <a:avLst/>
          </a:prstGeom>
          <a:noFill/>
          <a:ln/>
        </p:spPr>
        <p:txBody>
          <a:bodyPr wrap="square" lIns="0" tIns="0" rIns="0" bIns="0" rtlCol="0" anchor="ctr"/>
          <a:lstStyle/>
          <a:p>
            <a:pPr algn="ctr" indent="0" marL="0">
              <a:buNone/>
            </a:pPr>
            <a:r>
              <a:rPr lang="en-US" sz="1150" dirty="0">
                <a:solidFill>
                  <a:srgbClr val="24303A"/>
                </a:solidFill>
                <a:latin typeface="Consolas" pitchFamily="34" charset="0"/>
                <a:ea typeface="Consolas" pitchFamily="34" charset="-122"/>
                <a:cs typeface="Consolas" pitchFamily="34" charset="-120"/>
              </a:rPr>
              <a:t>dim_workclass</a:t>
            </a:r>
            <a:endParaRPr lang="en-US" sz="1150" dirty="0"/>
          </a:p>
        </p:txBody>
      </p:sp>
      <p:sp>
        <p:nvSpPr>
          <p:cNvPr id="14" name="Shape 12"/>
          <p:cNvSpPr/>
          <p:nvPr/>
        </p:nvSpPr>
        <p:spPr>
          <a:xfrm>
            <a:off x="685800" y="2587752"/>
            <a:ext cx="2331720" cy="457200"/>
          </a:xfrm>
          <a:prstGeom prst="roundRect">
            <a:avLst>
              <a:gd name="adj" fmla="val 10000"/>
            </a:avLst>
          </a:prstGeom>
          <a:solidFill>
            <a:srgbClr val="F1F3F5"/>
          </a:solidFill>
          <a:ln w="12700">
            <a:solidFill>
              <a:srgbClr val="C3CBD2"/>
            </a:solidFill>
            <a:prstDash val="solid"/>
          </a:ln>
        </p:spPr>
      </p:sp>
      <p:sp>
        <p:nvSpPr>
          <p:cNvPr id="15" name="Text 13"/>
          <p:cNvSpPr/>
          <p:nvPr/>
        </p:nvSpPr>
        <p:spPr>
          <a:xfrm>
            <a:off x="685800" y="2587752"/>
            <a:ext cx="2331720" cy="457200"/>
          </a:xfrm>
          <a:prstGeom prst="rect">
            <a:avLst/>
          </a:prstGeom>
          <a:noFill/>
          <a:ln/>
        </p:spPr>
        <p:txBody>
          <a:bodyPr wrap="square" lIns="0" tIns="0" rIns="0" bIns="0" rtlCol="0" anchor="ctr"/>
          <a:lstStyle/>
          <a:p>
            <a:pPr algn="ctr" indent="0" marL="0">
              <a:buNone/>
            </a:pPr>
            <a:r>
              <a:rPr lang="en-US" sz="1150" dirty="0">
                <a:solidFill>
                  <a:srgbClr val="24303A"/>
                </a:solidFill>
                <a:latin typeface="Consolas" pitchFamily="34" charset="0"/>
                <a:ea typeface="Consolas" pitchFamily="34" charset="-122"/>
                <a:cs typeface="Consolas" pitchFamily="34" charset="-120"/>
              </a:rPr>
              <a:t>dim_education</a:t>
            </a:r>
            <a:endParaRPr lang="en-US" sz="1150" dirty="0"/>
          </a:p>
        </p:txBody>
      </p:sp>
      <p:sp>
        <p:nvSpPr>
          <p:cNvPr id="16" name="Shape 14"/>
          <p:cNvSpPr/>
          <p:nvPr/>
        </p:nvSpPr>
        <p:spPr>
          <a:xfrm>
            <a:off x="685800" y="3209544"/>
            <a:ext cx="2331720" cy="457200"/>
          </a:xfrm>
          <a:prstGeom prst="roundRect">
            <a:avLst>
              <a:gd name="adj" fmla="val 10000"/>
            </a:avLst>
          </a:prstGeom>
          <a:solidFill>
            <a:srgbClr val="F1F3F5"/>
          </a:solidFill>
          <a:ln w="12700">
            <a:solidFill>
              <a:srgbClr val="C3CBD2"/>
            </a:solidFill>
            <a:prstDash val="solid"/>
          </a:ln>
        </p:spPr>
      </p:sp>
      <p:sp>
        <p:nvSpPr>
          <p:cNvPr id="17" name="Text 15"/>
          <p:cNvSpPr/>
          <p:nvPr/>
        </p:nvSpPr>
        <p:spPr>
          <a:xfrm>
            <a:off x="685800" y="3209544"/>
            <a:ext cx="2331720" cy="457200"/>
          </a:xfrm>
          <a:prstGeom prst="rect">
            <a:avLst/>
          </a:prstGeom>
          <a:noFill/>
          <a:ln/>
        </p:spPr>
        <p:txBody>
          <a:bodyPr wrap="square" lIns="0" tIns="0" rIns="0" bIns="0" rtlCol="0" anchor="ctr"/>
          <a:lstStyle/>
          <a:p>
            <a:pPr algn="ctr" indent="0" marL="0">
              <a:buNone/>
            </a:pPr>
            <a:r>
              <a:rPr lang="en-US" sz="1150" dirty="0">
                <a:solidFill>
                  <a:srgbClr val="24303A"/>
                </a:solidFill>
                <a:latin typeface="Consolas" pitchFamily="34" charset="0"/>
                <a:ea typeface="Consolas" pitchFamily="34" charset="-122"/>
                <a:cs typeface="Consolas" pitchFamily="34" charset="-120"/>
              </a:rPr>
              <a:t>dim_marital_status</a:t>
            </a:r>
            <a:endParaRPr lang="en-US" sz="1150" dirty="0"/>
          </a:p>
        </p:txBody>
      </p:sp>
      <p:sp>
        <p:nvSpPr>
          <p:cNvPr id="18" name="Shape 16"/>
          <p:cNvSpPr/>
          <p:nvPr/>
        </p:nvSpPr>
        <p:spPr>
          <a:xfrm>
            <a:off x="685800" y="3831336"/>
            <a:ext cx="2331720" cy="457200"/>
          </a:xfrm>
          <a:prstGeom prst="roundRect">
            <a:avLst>
              <a:gd name="adj" fmla="val 10000"/>
            </a:avLst>
          </a:prstGeom>
          <a:solidFill>
            <a:srgbClr val="F1F3F5"/>
          </a:solidFill>
          <a:ln w="12700">
            <a:solidFill>
              <a:srgbClr val="C3CBD2"/>
            </a:solidFill>
            <a:prstDash val="solid"/>
          </a:ln>
        </p:spPr>
      </p:sp>
      <p:sp>
        <p:nvSpPr>
          <p:cNvPr id="19" name="Text 17"/>
          <p:cNvSpPr/>
          <p:nvPr/>
        </p:nvSpPr>
        <p:spPr>
          <a:xfrm>
            <a:off x="685800" y="3831336"/>
            <a:ext cx="2331720" cy="457200"/>
          </a:xfrm>
          <a:prstGeom prst="rect">
            <a:avLst/>
          </a:prstGeom>
          <a:noFill/>
          <a:ln/>
        </p:spPr>
        <p:txBody>
          <a:bodyPr wrap="square" lIns="0" tIns="0" rIns="0" bIns="0" rtlCol="0" anchor="ctr"/>
          <a:lstStyle/>
          <a:p>
            <a:pPr algn="ctr" indent="0" marL="0">
              <a:buNone/>
            </a:pPr>
            <a:r>
              <a:rPr lang="en-US" sz="1150" dirty="0">
                <a:solidFill>
                  <a:srgbClr val="24303A"/>
                </a:solidFill>
                <a:latin typeface="Consolas" pitchFamily="34" charset="0"/>
                <a:ea typeface="Consolas" pitchFamily="34" charset="-122"/>
                <a:cs typeface="Consolas" pitchFamily="34" charset="-120"/>
              </a:rPr>
              <a:t>dim_occupation</a:t>
            </a:r>
            <a:endParaRPr lang="en-US" sz="1150" dirty="0"/>
          </a:p>
        </p:txBody>
      </p:sp>
      <p:sp>
        <p:nvSpPr>
          <p:cNvPr id="20" name="Shape 18"/>
          <p:cNvSpPr/>
          <p:nvPr/>
        </p:nvSpPr>
        <p:spPr>
          <a:xfrm>
            <a:off x="9125712" y="1965960"/>
            <a:ext cx="2331720" cy="457200"/>
          </a:xfrm>
          <a:prstGeom prst="roundRect">
            <a:avLst>
              <a:gd name="adj" fmla="val 10000"/>
            </a:avLst>
          </a:prstGeom>
          <a:solidFill>
            <a:srgbClr val="F1F3F5"/>
          </a:solidFill>
          <a:ln w="12700">
            <a:solidFill>
              <a:srgbClr val="C3CBD2"/>
            </a:solidFill>
            <a:prstDash val="solid"/>
          </a:ln>
        </p:spPr>
      </p:sp>
      <p:sp>
        <p:nvSpPr>
          <p:cNvPr id="21" name="Text 19"/>
          <p:cNvSpPr/>
          <p:nvPr/>
        </p:nvSpPr>
        <p:spPr>
          <a:xfrm>
            <a:off x="9125712" y="1965960"/>
            <a:ext cx="2331720" cy="457200"/>
          </a:xfrm>
          <a:prstGeom prst="rect">
            <a:avLst/>
          </a:prstGeom>
          <a:noFill/>
          <a:ln/>
        </p:spPr>
        <p:txBody>
          <a:bodyPr wrap="square" lIns="0" tIns="0" rIns="0" bIns="0" rtlCol="0" anchor="ctr"/>
          <a:lstStyle/>
          <a:p>
            <a:pPr algn="ctr" indent="0" marL="0">
              <a:buNone/>
            </a:pPr>
            <a:r>
              <a:rPr lang="en-US" sz="1150" dirty="0">
                <a:solidFill>
                  <a:srgbClr val="24303A"/>
                </a:solidFill>
                <a:latin typeface="Consolas" pitchFamily="34" charset="0"/>
                <a:ea typeface="Consolas" pitchFamily="34" charset="-122"/>
                <a:cs typeface="Consolas" pitchFamily="34" charset="-120"/>
              </a:rPr>
              <a:t>dim_relationship</a:t>
            </a:r>
            <a:endParaRPr lang="en-US" sz="1150" dirty="0"/>
          </a:p>
        </p:txBody>
      </p:sp>
      <p:sp>
        <p:nvSpPr>
          <p:cNvPr id="22" name="Shape 20"/>
          <p:cNvSpPr/>
          <p:nvPr/>
        </p:nvSpPr>
        <p:spPr>
          <a:xfrm>
            <a:off x="9125712" y="2587752"/>
            <a:ext cx="2331720" cy="457200"/>
          </a:xfrm>
          <a:prstGeom prst="roundRect">
            <a:avLst>
              <a:gd name="adj" fmla="val 10000"/>
            </a:avLst>
          </a:prstGeom>
          <a:solidFill>
            <a:srgbClr val="F1F3F5"/>
          </a:solidFill>
          <a:ln w="12700">
            <a:solidFill>
              <a:srgbClr val="C3CBD2"/>
            </a:solidFill>
            <a:prstDash val="solid"/>
          </a:ln>
        </p:spPr>
      </p:sp>
      <p:sp>
        <p:nvSpPr>
          <p:cNvPr id="23" name="Text 21"/>
          <p:cNvSpPr/>
          <p:nvPr/>
        </p:nvSpPr>
        <p:spPr>
          <a:xfrm>
            <a:off x="9125712" y="2587752"/>
            <a:ext cx="2331720" cy="457200"/>
          </a:xfrm>
          <a:prstGeom prst="rect">
            <a:avLst/>
          </a:prstGeom>
          <a:noFill/>
          <a:ln/>
        </p:spPr>
        <p:txBody>
          <a:bodyPr wrap="square" lIns="0" tIns="0" rIns="0" bIns="0" rtlCol="0" anchor="ctr"/>
          <a:lstStyle/>
          <a:p>
            <a:pPr algn="ctr" indent="0" marL="0">
              <a:buNone/>
            </a:pPr>
            <a:r>
              <a:rPr lang="en-US" sz="1150" dirty="0">
                <a:solidFill>
                  <a:srgbClr val="24303A"/>
                </a:solidFill>
                <a:latin typeface="Consolas" pitchFamily="34" charset="0"/>
                <a:ea typeface="Consolas" pitchFamily="34" charset="-122"/>
                <a:cs typeface="Consolas" pitchFamily="34" charset="-120"/>
              </a:rPr>
              <a:t>dim_race</a:t>
            </a:r>
            <a:endParaRPr lang="en-US" sz="1150" dirty="0"/>
          </a:p>
        </p:txBody>
      </p:sp>
      <p:sp>
        <p:nvSpPr>
          <p:cNvPr id="24" name="Shape 22"/>
          <p:cNvSpPr/>
          <p:nvPr/>
        </p:nvSpPr>
        <p:spPr>
          <a:xfrm>
            <a:off x="9125712" y="3209544"/>
            <a:ext cx="2331720" cy="457200"/>
          </a:xfrm>
          <a:prstGeom prst="roundRect">
            <a:avLst>
              <a:gd name="adj" fmla="val 10000"/>
            </a:avLst>
          </a:prstGeom>
          <a:solidFill>
            <a:srgbClr val="F1F3F5"/>
          </a:solidFill>
          <a:ln w="12700">
            <a:solidFill>
              <a:srgbClr val="C3CBD2"/>
            </a:solidFill>
            <a:prstDash val="solid"/>
          </a:ln>
        </p:spPr>
      </p:sp>
      <p:sp>
        <p:nvSpPr>
          <p:cNvPr id="25" name="Text 23"/>
          <p:cNvSpPr/>
          <p:nvPr/>
        </p:nvSpPr>
        <p:spPr>
          <a:xfrm>
            <a:off x="9125712" y="3209544"/>
            <a:ext cx="2331720" cy="457200"/>
          </a:xfrm>
          <a:prstGeom prst="rect">
            <a:avLst/>
          </a:prstGeom>
          <a:noFill/>
          <a:ln/>
        </p:spPr>
        <p:txBody>
          <a:bodyPr wrap="square" lIns="0" tIns="0" rIns="0" bIns="0" rtlCol="0" anchor="ctr"/>
          <a:lstStyle/>
          <a:p>
            <a:pPr algn="ctr" indent="0" marL="0">
              <a:buNone/>
            </a:pPr>
            <a:r>
              <a:rPr lang="en-US" sz="1150" dirty="0">
                <a:solidFill>
                  <a:srgbClr val="24303A"/>
                </a:solidFill>
                <a:latin typeface="Consolas" pitchFamily="34" charset="0"/>
                <a:ea typeface="Consolas" pitchFamily="34" charset="-122"/>
                <a:cs typeface="Consolas" pitchFamily="34" charset="-120"/>
              </a:rPr>
              <a:t>dim_sex</a:t>
            </a:r>
            <a:endParaRPr lang="en-US" sz="1150" dirty="0"/>
          </a:p>
        </p:txBody>
      </p:sp>
      <p:sp>
        <p:nvSpPr>
          <p:cNvPr id="26" name="Shape 24"/>
          <p:cNvSpPr/>
          <p:nvPr/>
        </p:nvSpPr>
        <p:spPr>
          <a:xfrm>
            <a:off x="9125712" y="3831336"/>
            <a:ext cx="2331720" cy="457200"/>
          </a:xfrm>
          <a:prstGeom prst="roundRect">
            <a:avLst>
              <a:gd name="adj" fmla="val 10000"/>
            </a:avLst>
          </a:prstGeom>
          <a:solidFill>
            <a:srgbClr val="F1F3F5"/>
          </a:solidFill>
          <a:ln w="12700">
            <a:solidFill>
              <a:srgbClr val="C3CBD2"/>
            </a:solidFill>
            <a:prstDash val="solid"/>
          </a:ln>
        </p:spPr>
      </p:sp>
      <p:sp>
        <p:nvSpPr>
          <p:cNvPr id="27" name="Text 25"/>
          <p:cNvSpPr/>
          <p:nvPr/>
        </p:nvSpPr>
        <p:spPr>
          <a:xfrm>
            <a:off x="9125712" y="3831336"/>
            <a:ext cx="2331720" cy="457200"/>
          </a:xfrm>
          <a:prstGeom prst="rect">
            <a:avLst/>
          </a:prstGeom>
          <a:noFill/>
          <a:ln/>
        </p:spPr>
        <p:txBody>
          <a:bodyPr wrap="square" lIns="0" tIns="0" rIns="0" bIns="0" rtlCol="0" anchor="ctr"/>
          <a:lstStyle/>
          <a:p>
            <a:pPr algn="ctr" indent="0" marL="0">
              <a:buNone/>
            </a:pPr>
            <a:r>
              <a:rPr lang="en-US" sz="1150" dirty="0">
                <a:solidFill>
                  <a:srgbClr val="24303A"/>
                </a:solidFill>
                <a:latin typeface="Consolas" pitchFamily="34" charset="0"/>
                <a:ea typeface="Consolas" pitchFamily="34" charset="-122"/>
                <a:cs typeface="Consolas" pitchFamily="34" charset="-120"/>
              </a:rPr>
              <a:t>dim_native_country</a:t>
            </a:r>
            <a:endParaRPr lang="en-US" sz="1150" dirty="0"/>
          </a:p>
        </p:txBody>
      </p:sp>
      <p:sp>
        <p:nvSpPr>
          <p:cNvPr id="28" name="Shape 26"/>
          <p:cNvSpPr/>
          <p:nvPr/>
        </p:nvSpPr>
        <p:spPr>
          <a:xfrm>
            <a:off x="4709160" y="2148840"/>
            <a:ext cx="2743200" cy="2377440"/>
          </a:xfrm>
          <a:prstGeom prst="roundRect">
            <a:avLst>
              <a:gd name="adj" fmla="val 1923"/>
            </a:avLst>
          </a:prstGeom>
          <a:solidFill>
            <a:srgbClr val="24303A"/>
          </a:solidFill>
          <a:ln w="12700">
            <a:solidFill>
              <a:srgbClr val="24303A"/>
            </a:solidFill>
            <a:prstDash val="solid"/>
          </a:ln>
        </p:spPr>
      </p:sp>
      <p:sp>
        <p:nvSpPr>
          <p:cNvPr id="29" name="Text 27"/>
          <p:cNvSpPr/>
          <p:nvPr/>
        </p:nvSpPr>
        <p:spPr>
          <a:xfrm>
            <a:off x="4709160" y="2350008"/>
            <a:ext cx="274320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fact_person</a:t>
            </a:r>
            <a:endParaRPr lang="en-US" sz="1500" dirty="0"/>
          </a:p>
        </p:txBody>
      </p:sp>
      <p:sp>
        <p:nvSpPr>
          <p:cNvPr id="30" name="Text 28"/>
          <p:cNvSpPr/>
          <p:nvPr/>
        </p:nvSpPr>
        <p:spPr>
          <a:xfrm>
            <a:off x="4709160" y="2715768"/>
            <a:ext cx="2743200" cy="274320"/>
          </a:xfrm>
          <a:prstGeom prst="rect">
            <a:avLst/>
          </a:prstGeom>
          <a:noFill/>
          <a:ln/>
        </p:spPr>
        <p:txBody>
          <a:bodyPr wrap="square" lIns="0" tIns="0" rIns="0" bIns="0" rtlCol="0" anchor="ctr"/>
          <a:lstStyle/>
          <a:p>
            <a:pPr algn="ctr" indent="0" marL="0">
              <a:buNone/>
            </a:pPr>
            <a:r>
              <a:rPr lang="en-US" sz="1150" dirty="0">
                <a:solidFill>
                  <a:srgbClr val="9AA7B2"/>
                </a:solidFill>
                <a:latin typeface="Calibri" pitchFamily="34" charset="0"/>
                <a:ea typeface="Calibri" pitchFamily="34" charset="-122"/>
                <a:cs typeface="Calibri" pitchFamily="34" charset="-120"/>
              </a:rPr>
              <a:t>32,561 rows</a:t>
            </a:r>
            <a:endParaRPr lang="en-US" sz="1150" dirty="0"/>
          </a:p>
        </p:txBody>
      </p:sp>
      <p:sp>
        <p:nvSpPr>
          <p:cNvPr id="31" name="Text 29"/>
          <p:cNvSpPr/>
          <p:nvPr/>
        </p:nvSpPr>
        <p:spPr>
          <a:xfrm>
            <a:off x="4937760" y="3063240"/>
            <a:ext cx="2286000" cy="1280160"/>
          </a:xfrm>
          <a:prstGeom prst="rect">
            <a:avLst/>
          </a:prstGeom>
          <a:noFill/>
          <a:ln/>
        </p:spPr>
        <p:txBody>
          <a:bodyPr wrap="square" lIns="0" tIns="0" rIns="0" bIns="0" rtlCol="0" anchor="ctr"/>
          <a:lstStyle/>
          <a:p>
            <a:pPr algn="ctr" indent="0" marL="0">
              <a:lnSpc>
                <a:spcPct val="125000"/>
              </a:lnSpc>
              <a:buNone/>
            </a:pPr>
            <a:r>
              <a:rPr lang="en-US" sz="1050" b="1" dirty="0">
                <a:solidFill>
                  <a:srgbClr val="E8ECEF"/>
                </a:solidFill>
                <a:latin typeface="Consolas" pitchFamily="34" charset="0"/>
                <a:ea typeface="Consolas" pitchFamily="34" charset="-122"/>
                <a:cs typeface="Consolas" pitchFamily="34" charset="-120"/>
              </a:rPr>
              <a:t>person_sk</a:t>
            </a:r>
            <a:endParaRPr lang="en-US" sz="1050" dirty="0"/>
          </a:p>
          <a:p>
            <a:pPr algn="ctr" indent="0" marL="0">
              <a:lnSpc>
                <a:spcPct val="125000"/>
              </a:lnSpc>
              <a:buNone/>
            </a:pPr>
            <a:r>
              <a:rPr lang="en-US" sz="1050" dirty="0">
                <a:solidFill>
                  <a:srgbClr val="E8ECEF"/>
                </a:solidFill>
                <a:latin typeface="Consolas" pitchFamily="34" charset="0"/>
                <a:ea typeface="Consolas" pitchFamily="34" charset="-122"/>
                <a:cs typeface="Consolas" pitchFamily="34" charset="-120"/>
              </a:rPr>
              <a:t>8 dimension keys</a:t>
            </a:r>
            <a:endParaRPr lang="en-US" sz="1050" dirty="0"/>
          </a:p>
          <a:p>
            <a:pPr algn="ctr" indent="0" marL="0">
              <a:lnSpc>
                <a:spcPct val="125000"/>
              </a:lnSpc>
              <a:buNone/>
            </a:pPr>
            <a:r>
              <a:rPr lang="en-US" sz="1050" dirty="0">
                <a:solidFill>
                  <a:srgbClr val="E8ECEF"/>
                </a:solidFill>
                <a:latin typeface="Consolas" pitchFamily="34" charset="0"/>
                <a:ea typeface="Consolas" pitchFamily="34" charset="-122"/>
                <a:cs typeface="Consolas" pitchFamily="34" charset="-120"/>
              </a:rPr>
              <a:t>6 measures</a:t>
            </a:r>
            <a:endParaRPr lang="en-US" sz="1050" dirty="0"/>
          </a:p>
          <a:p>
            <a:pPr algn="ctr" indent="0" marL="0">
              <a:lnSpc>
                <a:spcPct val="125000"/>
              </a:lnSpc>
              <a:buNone/>
            </a:pPr>
            <a:r>
              <a:rPr lang="en-US" sz="1050" dirty="0">
                <a:solidFill>
                  <a:srgbClr val="E8ECEF"/>
                </a:solidFill>
                <a:latin typeface="Consolas" pitchFamily="34" charset="0"/>
                <a:ea typeface="Consolas" pitchFamily="34" charset="-122"/>
                <a:cs typeface="Consolas" pitchFamily="34" charset="-120"/>
              </a:rPr>
              <a:t>3 topcode flags</a:t>
            </a:r>
            <a:endParaRPr lang="en-US" sz="1050" dirty="0"/>
          </a:p>
          <a:p>
            <a:pPr algn="ctr" indent="0" marL="0">
              <a:lnSpc>
                <a:spcPct val="125000"/>
              </a:lnSpc>
              <a:buNone/>
            </a:pPr>
            <a:r>
              <a:rPr lang="en-US" sz="1050" dirty="0">
                <a:solidFill>
                  <a:srgbClr val="E8ECEF"/>
                </a:solidFill>
                <a:latin typeface="Consolas" pitchFamily="34" charset="0"/>
                <a:ea typeface="Consolas" pitchFamily="34" charset="-122"/>
                <a:cs typeface="Consolas" pitchFamily="34" charset="-120"/>
              </a:rPr>
              <a:t>duplicate_group_id</a:t>
            </a:r>
            <a:endParaRPr lang="en-US" sz="1050" dirty="0"/>
          </a:p>
          <a:p>
            <a:pPr algn="ctr" indent="0" marL="0">
              <a:lnSpc>
                <a:spcPct val="125000"/>
              </a:lnSpc>
              <a:buNone/>
            </a:pPr>
            <a:r>
              <a:rPr lang="en-US" sz="1050" dirty="0">
                <a:solidFill>
                  <a:srgbClr val="E8ECEF"/>
                </a:solidFill>
                <a:latin typeface="Consolas" pitchFamily="34" charset="0"/>
                <a:ea typeface="Consolas" pitchFamily="34" charset="-122"/>
                <a:cs typeface="Consolas" pitchFamily="34" charset="-120"/>
              </a:rPr>
              <a:t>duplicate_seq</a:t>
            </a:r>
            <a:endParaRPr lang="en-US" sz="1050" dirty="0"/>
          </a:p>
        </p:txBody>
      </p:sp>
      <p:sp>
        <p:nvSpPr>
          <p:cNvPr id="32" name="Shape 30"/>
          <p:cNvSpPr/>
          <p:nvPr/>
        </p:nvSpPr>
        <p:spPr>
          <a:xfrm>
            <a:off x="566928" y="4892040"/>
            <a:ext cx="5394960" cy="1371600"/>
          </a:xfrm>
          <a:prstGeom prst="roundRect">
            <a:avLst>
              <a:gd name="adj" fmla="val 4000"/>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33" name="Text 31"/>
          <p:cNvSpPr/>
          <p:nvPr/>
        </p:nvSpPr>
        <p:spPr>
          <a:xfrm>
            <a:off x="841248" y="5074920"/>
            <a:ext cx="4846320" cy="320040"/>
          </a:xfrm>
          <a:prstGeom prst="rect">
            <a:avLst/>
          </a:prstGeom>
          <a:noFill/>
          <a:ln/>
        </p:spPr>
        <p:txBody>
          <a:bodyPr wrap="square" lIns="0" tIns="0" rIns="0" bIns="0" rtlCol="0" anchor="ctr"/>
          <a:lstStyle/>
          <a:p>
            <a:pPr indent="0" marL="0">
              <a:buNone/>
            </a:pPr>
            <a:r>
              <a:rPr lang="en-US" sz="1500" b="1" dirty="0">
                <a:solidFill>
                  <a:srgbClr val="24303A"/>
                </a:solidFill>
                <a:latin typeface="Cambria" pitchFamily="34" charset="0"/>
                <a:ea typeface="Cambria" pitchFamily="34" charset="-122"/>
                <a:cs typeface="Cambria" pitchFamily="34" charset="-120"/>
              </a:rPr>
              <a:t>education is one dimension, not two</a:t>
            </a:r>
            <a:endParaRPr lang="en-US" sz="1500" dirty="0"/>
          </a:p>
        </p:txBody>
      </p:sp>
      <p:sp>
        <p:nvSpPr>
          <p:cNvPr id="34" name="Text 32"/>
          <p:cNvSpPr/>
          <p:nvPr/>
        </p:nvSpPr>
        <p:spPr>
          <a:xfrm>
            <a:off x="841248" y="5440680"/>
            <a:ext cx="4846320" cy="731520"/>
          </a:xfrm>
          <a:prstGeom prst="rect">
            <a:avLst/>
          </a:prstGeom>
          <a:noFill/>
          <a:ln/>
        </p:spPr>
        <p:txBody>
          <a:bodyPr wrap="square" lIns="0" tIns="0" rIns="0" bIns="0" rtlCol="0" anchor="t"/>
          <a:lstStyle/>
          <a:p>
            <a:pPr algn="l" indent="0" marL="0">
              <a:lnSpc>
                <a:spcPct val="115000"/>
              </a:lnSpc>
              <a:buNone/>
            </a:pPr>
            <a:r>
              <a:rPr lang="en-US" sz="1200" dirty="0">
                <a:solidFill>
                  <a:srgbClr val="24303A"/>
                </a:solidFill>
                <a:latin typeface="Calibri" pitchFamily="34" charset="0"/>
                <a:ea typeface="Calibri" pitchFamily="34" charset="-122"/>
                <a:cs typeface="Calibri" pitchFamily="34" charset="-120"/>
              </a:rPr>
              <a:t>education and education.num are a strict 1:1 mapping, so they are two attributes of one member. A rollup to 6 groups cuts thin segments from 93 of 201 to 18 of 80.</a:t>
            </a:r>
            <a:endParaRPr lang="en-US" sz="1200" dirty="0"/>
          </a:p>
        </p:txBody>
      </p:sp>
      <p:sp>
        <p:nvSpPr>
          <p:cNvPr id="35" name="Shape 33"/>
          <p:cNvSpPr/>
          <p:nvPr/>
        </p:nvSpPr>
        <p:spPr>
          <a:xfrm>
            <a:off x="6217920" y="4892040"/>
            <a:ext cx="5376672" cy="1371600"/>
          </a:xfrm>
          <a:prstGeom prst="roundRect">
            <a:avLst>
              <a:gd name="adj" fmla="val 4000"/>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36" name="Text 34"/>
          <p:cNvSpPr/>
          <p:nvPr/>
        </p:nvSpPr>
        <p:spPr>
          <a:xfrm>
            <a:off x="6492240" y="5074920"/>
            <a:ext cx="4846320" cy="320040"/>
          </a:xfrm>
          <a:prstGeom prst="rect">
            <a:avLst/>
          </a:prstGeom>
          <a:noFill/>
          <a:ln/>
        </p:spPr>
        <p:txBody>
          <a:bodyPr wrap="square" lIns="0" tIns="0" rIns="0" bIns="0" rtlCol="0" anchor="ctr"/>
          <a:lstStyle/>
          <a:p>
            <a:pPr indent="0" marL="0">
              <a:buNone/>
            </a:pPr>
            <a:r>
              <a:rPr lang="en-US" sz="1500" b="1" dirty="0">
                <a:solidFill>
                  <a:srgbClr val="24303A"/>
                </a:solidFill>
                <a:latin typeface="Cambria" pitchFamily="34" charset="0"/>
                <a:ea typeface="Cambria" pitchFamily="34" charset="-122"/>
                <a:cs typeface="Cambria" pitchFamily="34" charset="-120"/>
              </a:rPr>
              <a:t>sentinels load as NULL beside a flag</a:t>
            </a:r>
            <a:endParaRPr lang="en-US" sz="1500" dirty="0"/>
          </a:p>
        </p:txBody>
      </p:sp>
      <p:sp>
        <p:nvSpPr>
          <p:cNvPr id="37" name="Text 35"/>
          <p:cNvSpPr/>
          <p:nvPr/>
        </p:nvSpPr>
        <p:spPr>
          <a:xfrm>
            <a:off x="6492240" y="5440680"/>
            <a:ext cx="4846320" cy="731520"/>
          </a:xfrm>
          <a:prstGeom prst="rect">
            <a:avLst/>
          </a:prstGeom>
          <a:noFill/>
          <a:ln/>
        </p:spPr>
        <p:txBody>
          <a:bodyPr wrap="square" lIns="0" tIns="0" rIns="0" bIns="0" rtlCol="0" anchor="t"/>
          <a:lstStyle/>
          <a:p>
            <a:pPr algn="l" indent="0" marL="0">
              <a:lnSpc>
                <a:spcPct val="115000"/>
              </a:lnSpc>
              <a:buNone/>
            </a:pPr>
            <a:r>
              <a:rPr lang="en-US" sz="1200" dirty="0">
                <a:solidFill>
                  <a:srgbClr val="24303A"/>
                </a:solidFill>
                <a:latin typeface="Calibri" pitchFamily="34" charset="0"/>
                <a:ea typeface="Calibri" pitchFamily="34" charset="-122"/>
                <a:cs typeface="Calibri" pitchFamily="34" charset="-120"/>
              </a:rPr>
              <a:t>capital.gain 99999, age 90, hours.per.week 99. Averages then exclude the censored records automatically, so a placeholder never enters a mean.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2</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What the model added that cleaning alone could not</a:t>
            </a:r>
            <a:endParaRPr lang="en-US" sz="3200" dirty="0"/>
          </a:p>
        </p:txBody>
      </p:sp>
      <p:sp>
        <p:nvSpPr>
          <p:cNvPr id="4" name="Text 2"/>
          <p:cNvSpPr/>
          <p:nvPr/>
        </p:nvSpPr>
        <p:spPr>
          <a:xfrm>
            <a:off x="566928" y="1325880"/>
            <a:ext cx="11027664" cy="457200"/>
          </a:xfrm>
          <a:prstGeom prst="rect">
            <a:avLst/>
          </a:prstGeom>
          <a:noFill/>
          <a:ln/>
        </p:spPr>
        <p:txBody>
          <a:bodyPr wrap="square" lIns="0" tIns="0" rIns="0" bIns="0" rtlCol="0" anchor="t"/>
          <a:lstStyle/>
          <a:p>
            <a:pPr algn="l" indent="0" marL="0">
              <a:lnSpc>
                <a:spcPct val="115000"/>
              </a:lnSpc>
              <a:buNone/>
            </a:pPr>
            <a:r>
              <a:rPr lang="en-US" sz="1500" dirty="0">
                <a:solidFill>
                  <a:srgbClr val="24303A"/>
                </a:solidFill>
                <a:latin typeface="Calibri" pitchFamily="34" charset="0"/>
                <a:ea typeface="Calibri" pitchFamily="34" charset="-122"/>
                <a:cs typeface="Calibri" pitchFamily="34" charset="-120"/>
              </a:rPr>
              <a:t>The source writes "?" for two different things. Lab 1 could only report one number for both.</a:t>
            </a:r>
            <a:endParaRPr lang="en-US" sz="1500" dirty="0"/>
          </a:p>
        </p:txBody>
      </p:sp>
      <p:sp>
        <p:nvSpPr>
          <p:cNvPr id="5" name="Shape 3"/>
          <p:cNvSpPr/>
          <p:nvPr/>
        </p:nvSpPr>
        <p:spPr>
          <a:xfrm>
            <a:off x="566928" y="2011680"/>
            <a:ext cx="3200400" cy="2103120"/>
          </a:xfrm>
          <a:prstGeom prst="roundRect">
            <a:avLst>
              <a:gd name="adj" fmla="val 2609"/>
            </a:avLst>
          </a:prstGeom>
          <a:solidFill>
            <a:srgbClr val="F6E9E7"/>
          </a:solidFill>
          <a:ln w="12700">
            <a:solidFill>
              <a:srgbClr val="F6E9E7"/>
            </a:solidFill>
            <a:prstDash val="solid"/>
          </a:ln>
          <a:effectLst>
            <a:outerShdw sx="100000" sy="100000" kx="0" ky="0" algn="bl" rotWithShape="0" blurRad="101600" dist="12700" dir="5400000">
              <a:srgbClr val="9AA5AE">
                <a:alpha val="25000"/>
              </a:srgbClr>
            </a:outerShdw>
          </a:effectLst>
        </p:spPr>
      </p:sp>
      <p:sp>
        <p:nvSpPr>
          <p:cNvPr id="6" name="Text 4"/>
          <p:cNvSpPr/>
          <p:nvPr/>
        </p:nvSpPr>
        <p:spPr>
          <a:xfrm>
            <a:off x="841248" y="2240280"/>
            <a:ext cx="2651760" cy="274320"/>
          </a:xfrm>
          <a:prstGeom prst="rect">
            <a:avLst/>
          </a:prstGeom>
          <a:noFill/>
          <a:ln/>
        </p:spPr>
        <p:txBody>
          <a:bodyPr wrap="square" lIns="0" tIns="0" rIns="0" bIns="0" rtlCol="0" anchor="t"/>
          <a:lstStyle/>
          <a:p>
            <a:pPr algn="l" indent="0" marL="0">
              <a:lnSpc>
                <a:spcPct val="115000"/>
              </a:lnSpc>
              <a:buNone/>
            </a:pPr>
            <a:r>
              <a:rPr lang="en-US" sz="1050" dirty="0">
                <a:solidFill>
                  <a:srgbClr val="B3453A"/>
                </a:solidFill>
                <a:latin typeface="Calibri" pitchFamily="34" charset="0"/>
                <a:ea typeface="Calibri" pitchFamily="34" charset="-122"/>
                <a:cs typeface="Calibri" pitchFamily="34" charset="-120"/>
              </a:rPr>
              <a:t>LAB 1 COULD ONLY SAY</a:t>
            </a:r>
            <a:endParaRPr lang="en-US" sz="1050" dirty="0"/>
          </a:p>
        </p:txBody>
      </p:sp>
      <p:sp>
        <p:nvSpPr>
          <p:cNvPr id="7" name="Text 5"/>
          <p:cNvSpPr/>
          <p:nvPr/>
        </p:nvSpPr>
        <p:spPr>
          <a:xfrm>
            <a:off x="841248" y="2514600"/>
            <a:ext cx="2651760" cy="822960"/>
          </a:xfrm>
          <a:prstGeom prst="rect">
            <a:avLst/>
          </a:prstGeom>
          <a:noFill/>
          <a:ln/>
        </p:spPr>
        <p:txBody>
          <a:bodyPr wrap="square" lIns="0" tIns="0" rIns="0" bIns="0" rtlCol="0" anchor="ctr"/>
          <a:lstStyle/>
          <a:p>
            <a:pPr indent="0" marL="0">
              <a:buNone/>
            </a:pPr>
            <a:r>
              <a:rPr lang="en-US" sz="4600" b="1" dirty="0">
                <a:solidFill>
                  <a:srgbClr val="B3453A"/>
                </a:solidFill>
                <a:latin typeface="Cambria" pitchFamily="34" charset="0"/>
                <a:ea typeface="Cambria" pitchFamily="34" charset="-122"/>
                <a:cs typeface="Cambria" pitchFamily="34" charset="-120"/>
              </a:rPr>
              <a:t>520</a:t>
            </a:r>
            <a:endParaRPr lang="en-US" sz="4600" dirty="0"/>
          </a:p>
        </p:txBody>
      </p:sp>
      <p:sp>
        <p:nvSpPr>
          <p:cNvPr id="8" name="Text 6"/>
          <p:cNvSpPr/>
          <p:nvPr/>
        </p:nvSpPr>
        <p:spPr>
          <a:xfrm>
            <a:off x="841248" y="3383280"/>
            <a:ext cx="2651760" cy="54864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eligible candidates</a:t>
            </a:r>
            <a:endParaRPr lang="en-US" sz="1250" dirty="0"/>
          </a:p>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unassignable</a:t>
            </a:r>
            <a:endParaRPr lang="en-US" sz="1250" dirty="0"/>
          </a:p>
        </p:txBody>
      </p:sp>
      <p:sp>
        <p:nvSpPr>
          <p:cNvPr id="9" name="Shape 7"/>
          <p:cNvSpPr/>
          <p:nvPr/>
        </p:nvSpPr>
        <p:spPr>
          <a:xfrm>
            <a:off x="3977640" y="3063240"/>
            <a:ext cx="777240" cy="0"/>
          </a:xfrm>
          <a:prstGeom prst="line">
            <a:avLst/>
          </a:prstGeom>
          <a:noFill/>
          <a:ln w="19050">
            <a:solidFill>
              <a:srgbClr val="C3CBD2"/>
            </a:solidFill>
            <a:prstDash val="solid"/>
          </a:ln>
        </p:spPr>
      </p:sp>
      <p:sp>
        <p:nvSpPr>
          <p:cNvPr id="10" name="Shape 8"/>
          <p:cNvSpPr/>
          <p:nvPr/>
        </p:nvSpPr>
        <p:spPr>
          <a:xfrm>
            <a:off x="4892040" y="2011680"/>
            <a:ext cx="3246120" cy="2103120"/>
          </a:xfrm>
          <a:prstGeom prst="roundRect">
            <a:avLst>
              <a:gd name="adj" fmla="val 2609"/>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1" name="Text 9"/>
          <p:cNvSpPr/>
          <p:nvPr/>
        </p:nvSpPr>
        <p:spPr>
          <a:xfrm>
            <a:off x="5166360" y="2240280"/>
            <a:ext cx="2697480" cy="274320"/>
          </a:xfrm>
          <a:prstGeom prst="rect">
            <a:avLst/>
          </a:prstGeom>
          <a:noFill/>
          <a:ln/>
        </p:spPr>
        <p:txBody>
          <a:bodyPr wrap="square" lIns="0" tIns="0" rIns="0" bIns="0" rtlCol="0" anchor="t"/>
          <a:lstStyle/>
          <a:p>
            <a:pPr algn="l" indent="0" marL="0">
              <a:lnSpc>
                <a:spcPct val="115000"/>
              </a:lnSpc>
              <a:buNone/>
            </a:pPr>
            <a:r>
              <a:rPr lang="en-US" sz="1050" dirty="0">
                <a:solidFill>
                  <a:srgbClr val="2E6F5E"/>
                </a:solidFill>
                <a:latin typeface="Calibri" pitchFamily="34" charset="0"/>
                <a:ea typeface="Calibri" pitchFamily="34" charset="-122"/>
                <a:cs typeface="Calibri" pitchFamily="34" charset="-120"/>
              </a:rPr>
              <a:t>DID NOT ANSWER</a:t>
            </a:r>
            <a:endParaRPr lang="en-US" sz="1050" dirty="0"/>
          </a:p>
        </p:txBody>
      </p:sp>
      <p:sp>
        <p:nvSpPr>
          <p:cNvPr id="12" name="Text 10"/>
          <p:cNvSpPr/>
          <p:nvPr/>
        </p:nvSpPr>
        <p:spPr>
          <a:xfrm>
            <a:off x="5166360" y="2514600"/>
            <a:ext cx="2697480" cy="822960"/>
          </a:xfrm>
          <a:prstGeom prst="rect">
            <a:avLst/>
          </a:prstGeom>
          <a:noFill/>
          <a:ln/>
        </p:spPr>
        <p:txBody>
          <a:bodyPr wrap="square" lIns="0" tIns="0" rIns="0" bIns="0" rtlCol="0" anchor="ctr"/>
          <a:lstStyle/>
          <a:p>
            <a:pPr indent="0" marL="0">
              <a:buNone/>
            </a:pPr>
            <a:r>
              <a:rPr lang="en-US" sz="4600" b="1" dirty="0">
                <a:solidFill>
                  <a:srgbClr val="2E6F5E"/>
                </a:solidFill>
                <a:latin typeface="Cambria" pitchFamily="34" charset="0"/>
                <a:ea typeface="Cambria" pitchFamily="34" charset="-122"/>
                <a:cs typeface="Cambria" pitchFamily="34" charset="-120"/>
              </a:rPr>
              <a:t>519</a:t>
            </a:r>
            <a:endParaRPr lang="en-US" sz="4600" dirty="0"/>
          </a:p>
        </p:txBody>
      </p:sp>
      <p:sp>
        <p:nvSpPr>
          <p:cNvPr id="13" name="Text 11"/>
          <p:cNvSpPr/>
          <p:nvPr/>
        </p:nvSpPr>
        <p:spPr>
          <a:xfrm>
            <a:off x="5166360" y="3383280"/>
            <a:ext cx="2697480" cy="54864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a genuine data</a:t>
            </a:r>
            <a:endParaRPr lang="en-US" sz="1250" dirty="0"/>
          </a:p>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collection problem</a:t>
            </a:r>
            <a:endParaRPr lang="en-US" sz="1250" dirty="0"/>
          </a:p>
        </p:txBody>
      </p:sp>
      <p:sp>
        <p:nvSpPr>
          <p:cNvPr id="14" name="Shape 12"/>
          <p:cNvSpPr/>
          <p:nvPr/>
        </p:nvSpPr>
        <p:spPr>
          <a:xfrm>
            <a:off x="8348472" y="2011680"/>
            <a:ext cx="3246120" cy="2103120"/>
          </a:xfrm>
          <a:prstGeom prst="roundRect">
            <a:avLst>
              <a:gd name="adj" fmla="val 2609"/>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5" name="Text 13"/>
          <p:cNvSpPr/>
          <p:nvPr/>
        </p:nvSpPr>
        <p:spPr>
          <a:xfrm>
            <a:off x="8622792" y="2240280"/>
            <a:ext cx="2697480" cy="274320"/>
          </a:xfrm>
          <a:prstGeom prst="rect">
            <a:avLst/>
          </a:prstGeom>
          <a:noFill/>
          <a:ln/>
        </p:spPr>
        <p:txBody>
          <a:bodyPr wrap="square" lIns="0" tIns="0" rIns="0" bIns="0" rtlCol="0" anchor="t"/>
          <a:lstStyle/>
          <a:p>
            <a:pPr algn="l" indent="0" marL="0">
              <a:lnSpc>
                <a:spcPct val="115000"/>
              </a:lnSpc>
              <a:buNone/>
            </a:pPr>
            <a:r>
              <a:rPr lang="en-US" sz="1050" dirty="0">
                <a:solidFill>
                  <a:srgbClr val="2E6F5E"/>
                </a:solidFill>
                <a:latin typeface="Calibri" pitchFamily="34" charset="0"/>
                <a:ea typeface="Calibri" pitchFamily="34" charset="-122"/>
                <a:cs typeface="Calibri" pitchFamily="34" charset="-120"/>
              </a:rPr>
              <a:t>NEVER WORKED</a:t>
            </a:r>
            <a:endParaRPr lang="en-US" sz="1050" dirty="0"/>
          </a:p>
        </p:txBody>
      </p:sp>
      <p:sp>
        <p:nvSpPr>
          <p:cNvPr id="16" name="Text 14"/>
          <p:cNvSpPr/>
          <p:nvPr/>
        </p:nvSpPr>
        <p:spPr>
          <a:xfrm>
            <a:off x="8622792" y="2514600"/>
            <a:ext cx="2697480" cy="822960"/>
          </a:xfrm>
          <a:prstGeom prst="rect">
            <a:avLst/>
          </a:prstGeom>
          <a:noFill/>
          <a:ln/>
        </p:spPr>
        <p:txBody>
          <a:bodyPr wrap="square" lIns="0" tIns="0" rIns="0" bIns="0" rtlCol="0" anchor="ctr"/>
          <a:lstStyle/>
          <a:p>
            <a:pPr indent="0" marL="0">
              <a:buNone/>
            </a:pPr>
            <a:r>
              <a:rPr lang="en-US" sz="4600" b="1" dirty="0">
                <a:solidFill>
                  <a:srgbClr val="2E6F5E"/>
                </a:solidFill>
                <a:latin typeface="Cambria" pitchFamily="34" charset="0"/>
                <a:ea typeface="Cambria" pitchFamily="34" charset="-122"/>
                <a:cs typeface="Cambria" pitchFamily="34" charset="-120"/>
              </a:rPr>
              <a:t>1</a:t>
            </a:r>
            <a:endParaRPr lang="en-US" sz="4600" dirty="0"/>
          </a:p>
        </p:txBody>
      </p:sp>
      <p:sp>
        <p:nvSpPr>
          <p:cNvPr id="17" name="Text 15"/>
          <p:cNvSpPr/>
          <p:nvPr/>
        </p:nvSpPr>
        <p:spPr>
          <a:xfrm>
            <a:off x="8622792" y="3383280"/>
            <a:ext cx="2697480" cy="54864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a correctly recorded</a:t>
            </a:r>
            <a:endParaRPr lang="en-US" sz="1250" dirty="0"/>
          </a:p>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fact about a person</a:t>
            </a:r>
            <a:endParaRPr lang="en-US" sz="1250" dirty="0"/>
          </a:p>
        </p:txBody>
      </p:sp>
      <p:sp>
        <p:nvSpPr>
          <p:cNvPr id="18" name="Text 16"/>
          <p:cNvSpPr/>
          <p:nvPr/>
        </p:nvSpPr>
        <p:spPr>
          <a:xfrm>
            <a:off x="566928" y="4389120"/>
            <a:ext cx="11027664" cy="685800"/>
          </a:xfrm>
          <a:prstGeom prst="rect">
            <a:avLst/>
          </a:prstGeom>
          <a:noFill/>
          <a:ln/>
        </p:spPr>
        <p:txBody>
          <a:bodyPr wrap="square" lIns="0" tIns="0" rIns="0" bIns="0" rtlCol="0" anchor="t"/>
          <a:lstStyle/>
          <a:p>
            <a:pPr algn="l" indent="0" marL="0">
              <a:lnSpc>
                <a:spcPct val="115000"/>
              </a:lnSpc>
              <a:buNone/>
            </a:pPr>
            <a:r>
              <a:rPr lang="en-US" sz="1400" dirty="0">
                <a:solidFill>
                  <a:srgbClr val="24303A"/>
                </a:solidFill>
                <a:latin typeface="Calibri" pitchFamily="34" charset="0"/>
                <a:ea typeface="Calibri" pitchFamily="34" charset="-122"/>
                <a:cs typeface="Calibri" pitchFamily="34" charset="-120"/>
              </a:rPr>
              <a:t>dim_occupation reserves surrogate key -1 for Unknown and -2 for Not applicable. Only the 519 are a defect. Reporting them together as 520 overstates the gap.</a:t>
            </a:r>
            <a:endParaRPr lang="en-US" sz="1400" dirty="0"/>
          </a:p>
        </p:txBody>
      </p:sp>
      <p:sp>
        <p:nvSpPr>
          <p:cNvPr id="19" name="Shape 17"/>
          <p:cNvSpPr/>
          <p:nvPr/>
        </p:nvSpPr>
        <p:spPr>
          <a:xfrm>
            <a:off x="566928" y="5257800"/>
            <a:ext cx="11027664" cy="1005840"/>
          </a:xfrm>
          <a:prstGeom prst="roundRect">
            <a:avLst>
              <a:gd name="adj" fmla="val 5455"/>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20" name="Text 18"/>
          <p:cNvSpPr/>
          <p:nvPr/>
        </p:nvSpPr>
        <p:spPr>
          <a:xfrm>
            <a:off x="859536" y="5486400"/>
            <a:ext cx="10424160" cy="548640"/>
          </a:xfrm>
          <a:prstGeom prst="rect">
            <a:avLst/>
          </a:prstGeom>
          <a:noFill/>
          <a:ln/>
        </p:spPr>
        <p:txBody>
          <a:bodyPr wrap="square" lIns="0" tIns="0" rIns="0" bIns="0" rtlCol="0" anchor="ctr"/>
          <a:lstStyle/>
          <a:p>
            <a:pPr indent="0" marL="0">
              <a:buNone/>
            </a:pPr>
            <a:r>
              <a:rPr lang="en-US" sz="1350" dirty="0">
                <a:solidFill>
                  <a:srgbClr val="24303A"/>
                </a:solidFill>
                <a:latin typeface="Calibri" pitchFamily="34" charset="0"/>
                <a:ea typeface="Calibri" pitchFamily="34" charset="-122"/>
                <a:cs typeface="Calibri" pitchFamily="34" charset="-120"/>
              </a:rPr>
              <a:t>Missing values become a dimension member, never a NULL foreign key, so a group-by always accounts for all 32,561 records.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2</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Why not one big table</a:t>
            </a:r>
            <a:endParaRPr lang="en-US" sz="3200" dirty="0"/>
          </a:p>
        </p:txBody>
      </p:sp>
      <p:sp>
        <p:nvSpPr>
          <p:cNvPr id="4" name="Shape 2"/>
          <p:cNvSpPr/>
          <p:nvPr/>
        </p:nvSpPr>
        <p:spPr>
          <a:xfrm>
            <a:off x="566928" y="1325880"/>
            <a:ext cx="11027664" cy="960120"/>
          </a:xfrm>
          <a:prstGeom prst="roundRect">
            <a:avLst>
              <a:gd name="adj" fmla="val 5714"/>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5" name="Text 3"/>
          <p:cNvSpPr/>
          <p:nvPr/>
        </p:nvSpPr>
        <p:spPr>
          <a:xfrm>
            <a:off x="859536" y="1572768"/>
            <a:ext cx="10424160" cy="502920"/>
          </a:xfrm>
          <a:prstGeom prst="rect">
            <a:avLst/>
          </a:prstGeom>
          <a:noFill/>
          <a:ln/>
        </p:spPr>
        <p:txBody>
          <a:bodyPr wrap="square" lIns="0" tIns="0" rIns="0" bIns="0" rtlCol="0" anchor="ctr"/>
          <a:lstStyle/>
          <a:p>
            <a:pPr indent="0" marL="0">
              <a:buNone/>
            </a:pPr>
            <a:r>
              <a:rPr lang="en-US" sz="1450" i="1" dirty="0">
                <a:solidFill>
                  <a:srgbClr val="24303A"/>
                </a:solidFill>
                <a:latin typeface="Calibri" pitchFamily="34" charset="0"/>
                <a:ea typeface="Calibri" pitchFamily="34" charset="-122"/>
                <a:cs typeface="Calibri" pitchFamily="34" charset="-120"/>
              </a:rPr>
              <a:t>The honest starting position: at 32,561 rows one big table would be faster and simpler, and DuckDB would scan it without noticing.</a:t>
            </a:r>
            <a:endParaRPr lang="en-US" sz="1450" dirty="0"/>
          </a:p>
        </p:txBody>
      </p:sp>
      <p:sp>
        <p:nvSpPr>
          <p:cNvPr id="6" name="Text 4"/>
          <p:cNvSpPr/>
          <p:nvPr/>
        </p:nvSpPr>
        <p:spPr>
          <a:xfrm>
            <a:off x="566928" y="2514600"/>
            <a:ext cx="11027664" cy="365760"/>
          </a:xfrm>
          <a:prstGeom prst="rect">
            <a:avLst/>
          </a:prstGeom>
          <a:noFill/>
          <a:ln/>
        </p:spPr>
        <p:txBody>
          <a:bodyPr wrap="square" lIns="0" tIns="0" rIns="0" bIns="0" rtlCol="0" anchor="ctr"/>
          <a:lstStyle/>
          <a:p>
            <a:pPr indent="0" marL="0">
              <a:buNone/>
            </a:pPr>
            <a:r>
              <a:rPr lang="en-US" sz="1900" b="1" dirty="0">
                <a:solidFill>
                  <a:srgbClr val="24303A"/>
                </a:solidFill>
                <a:latin typeface="Cambria" pitchFamily="34" charset="0"/>
                <a:ea typeface="Cambria" pitchFamily="34" charset="-122"/>
                <a:cs typeface="Cambria" pitchFamily="34" charset="-120"/>
              </a:rPr>
              <a:t>The reason to model it anyway has nothing to do with performance</a:t>
            </a:r>
            <a:endParaRPr lang="en-US" sz="1900" dirty="0"/>
          </a:p>
        </p:txBody>
      </p:sp>
      <p:sp>
        <p:nvSpPr>
          <p:cNvPr id="7" name="Shape 5"/>
          <p:cNvSpPr/>
          <p:nvPr/>
        </p:nvSpPr>
        <p:spPr>
          <a:xfrm>
            <a:off x="566928" y="3017520"/>
            <a:ext cx="329184" cy="329184"/>
          </a:xfrm>
          <a:prstGeom prst="ellipse">
            <a:avLst/>
          </a:prstGeom>
          <a:solidFill>
            <a:srgbClr val="24303A"/>
          </a:solidFill>
          <a:ln w="12700">
            <a:solidFill>
              <a:srgbClr val="24303A"/>
            </a:solidFill>
            <a:prstDash val="solid"/>
          </a:ln>
        </p:spPr>
      </p:sp>
      <p:sp>
        <p:nvSpPr>
          <p:cNvPr id="8" name="Text 6"/>
          <p:cNvSpPr/>
          <p:nvPr/>
        </p:nvSpPr>
        <p:spPr>
          <a:xfrm>
            <a:off x="566928" y="30175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042416" y="2990088"/>
            <a:ext cx="4892040" cy="365760"/>
          </a:xfrm>
          <a:prstGeom prst="rect">
            <a:avLst/>
          </a:prstGeom>
          <a:noFill/>
          <a:ln/>
        </p:spPr>
        <p:txBody>
          <a:bodyPr wrap="square" lIns="0" tIns="0" rIns="0" bIns="0" rtlCol="0" anchor="ctr"/>
          <a:lstStyle/>
          <a:p>
            <a:pPr indent="0" marL="0">
              <a:buNone/>
            </a:pPr>
            <a:r>
              <a:rPr lang="en-US" sz="1500" b="1" dirty="0">
                <a:solidFill>
                  <a:srgbClr val="24303A"/>
                </a:solidFill>
                <a:latin typeface="Cambria" pitchFamily="34" charset="0"/>
                <a:ea typeface="Cambria" pitchFamily="34" charset="-122"/>
                <a:cs typeface="Cambria" pitchFamily="34" charset="-120"/>
              </a:rPr>
              <a:t>Nowhere to put missing versus not applicable</a:t>
            </a:r>
            <a:endParaRPr lang="en-US" sz="1500" dirty="0"/>
          </a:p>
        </p:txBody>
      </p:sp>
      <p:sp>
        <p:nvSpPr>
          <p:cNvPr id="10" name="Text 8"/>
          <p:cNvSpPr/>
          <p:nvPr/>
        </p:nvSpPr>
        <p:spPr>
          <a:xfrm>
            <a:off x="1042416" y="3401568"/>
            <a:ext cx="4892040" cy="82296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Keep the magic string "?", which is the defect itself, or write NULL and destroy a real value for the seven Never-worked records.</a:t>
            </a:r>
            <a:endParaRPr lang="en-US" sz="1250" dirty="0"/>
          </a:p>
        </p:txBody>
      </p:sp>
      <p:sp>
        <p:nvSpPr>
          <p:cNvPr id="11" name="Shape 9"/>
          <p:cNvSpPr/>
          <p:nvPr/>
        </p:nvSpPr>
        <p:spPr>
          <a:xfrm>
            <a:off x="6190488" y="3017520"/>
            <a:ext cx="329184" cy="329184"/>
          </a:xfrm>
          <a:prstGeom prst="ellipse">
            <a:avLst/>
          </a:prstGeom>
          <a:solidFill>
            <a:srgbClr val="24303A"/>
          </a:solidFill>
          <a:ln w="12700">
            <a:solidFill>
              <a:srgbClr val="24303A"/>
            </a:solidFill>
            <a:prstDash val="solid"/>
          </a:ln>
        </p:spPr>
      </p:sp>
      <p:sp>
        <p:nvSpPr>
          <p:cNvPr id="12" name="Text 10"/>
          <p:cNvSpPr/>
          <p:nvPr/>
        </p:nvSpPr>
        <p:spPr>
          <a:xfrm>
            <a:off x="6190488" y="30175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6665976" y="2990088"/>
            <a:ext cx="4892040" cy="365760"/>
          </a:xfrm>
          <a:prstGeom prst="rect">
            <a:avLst/>
          </a:prstGeom>
          <a:noFill/>
          <a:ln/>
        </p:spPr>
        <p:txBody>
          <a:bodyPr wrap="square" lIns="0" tIns="0" rIns="0" bIns="0" rtlCol="0" anchor="ctr"/>
          <a:lstStyle/>
          <a:p>
            <a:pPr indent="0" marL="0">
              <a:buNone/>
            </a:pPr>
            <a:r>
              <a:rPr lang="en-US" sz="1500" b="1" dirty="0">
                <a:solidFill>
                  <a:srgbClr val="24303A"/>
                </a:solidFill>
                <a:latin typeface="Cambria" pitchFamily="34" charset="0"/>
                <a:ea typeface="Cambria" pitchFamily="34" charset="-122"/>
                <a:cs typeface="Cambria" pitchFamily="34" charset="-120"/>
              </a:rPr>
              <a:t>Nowhere to hold the duplicate decision</a:t>
            </a:r>
            <a:endParaRPr lang="en-US" sz="1500" dirty="0"/>
          </a:p>
        </p:txBody>
      </p:sp>
      <p:sp>
        <p:nvSpPr>
          <p:cNvPr id="14" name="Text 12"/>
          <p:cNvSpPr/>
          <p:nvPr/>
        </p:nvSpPr>
        <p:spPr>
          <a:xfrm>
            <a:off x="6665976" y="3401568"/>
            <a:ext cx="4892040" cy="82296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Retaining rows while marking them needs columns describing the record, beside a surrogate key a flat file does not have.</a:t>
            </a:r>
            <a:endParaRPr lang="en-US" sz="1250" dirty="0"/>
          </a:p>
        </p:txBody>
      </p:sp>
      <p:sp>
        <p:nvSpPr>
          <p:cNvPr id="15" name="Shape 13"/>
          <p:cNvSpPr/>
          <p:nvPr/>
        </p:nvSpPr>
        <p:spPr>
          <a:xfrm>
            <a:off x="566928" y="4526280"/>
            <a:ext cx="329184" cy="329184"/>
          </a:xfrm>
          <a:prstGeom prst="ellipse">
            <a:avLst/>
          </a:prstGeom>
          <a:solidFill>
            <a:srgbClr val="24303A"/>
          </a:solidFill>
          <a:ln w="12700">
            <a:solidFill>
              <a:srgbClr val="24303A"/>
            </a:solidFill>
            <a:prstDash val="solid"/>
          </a:ln>
        </p:spPr>
      </p:sp>
      <p:sp>
        <p:nvSpPr>
          <p:cNvPr id="16" name="Text 14"/>
          <p:cNvSpPr/>
          <p:nvPr/>
        </p:nvSpPr>
        <p:spPr>
          <a:xfrm>
            <a:off x="566928" y="45262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042416" y="4498848"/>
            <a:ext cx="4892040" cy="365760"/>
          </a:xfrm>
          <a:prstGeom prst="rect">
            <a:avLst/>
          </a:prstGeom>
          <a:noFill/>
          <a:ln/>
        </p:spPr>
        <p:txBody>
          <a:bodyPr wrap="square" lIns="0" tIns="0" rIns="0" bIns="0" rtlCol="0" anchor="ctr"/>
          <a:lstStyle/>
          <a:p>
            <a:pPr indent="0" marL="0">
              <a:buNone/>
            </a:pPr>
            <a:r>
              <a:rPr lang="en-US" sz="1500" b="1" dirty="0">
                <a:solidFill>
                  <a:srgbClr val="24303A"/>
                </a:solidFill>
                <a:latin typeface="Cambria" pitchFamily="34" charset="0"/>
                <a:ea typeface="Cambria" pitchFamily="34" charset="-122"/>
                <a:cs typeface="Cambria" pitchFamily="34" charset="-120"/>
              </a:rPr>
              <a:t>Redundancy in every one of 32,561 rows</a:t>
            </a:r>
            <a:endParaRPr lang="en-US" sz="1500" dirty="0"/>
          </a:p>
        </p:txBody>
      </p:sp>
      <p:sp>
        <p:nvSpPr>
          <p:cNvPr id="18" name="Text 16"/>
          <p:cNvSpPr/>
          <p:nvPr/>
        </p:nvSpPr>
        <p:spPr>
          <a:xfrm>
            <a:off x="1042416" y="4910328"/>
            <a:ext cx="4892040" cy="82296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education and education.num repeat the same pairing endlessly, and nothing stops them drifting apart.</a:t>
            </a:r>
            <a:endParaRPr lang="en-US" sz="1250" dirty="0"/>
          </a:p>
        </p:txBody>
      </p:sp>
      <p:sp>
        <p:nvSpPr>
          <p:cNvPr id="19" name="Shape 17"/>
          <p:cNvSpPr/>
          <p:nvPr/>
        </p:nvSpPr>
        <p:spPr>
          <a:xfrm>
            <a:off x="6190488" y="4526280"/>
            <a:ext cx="329184" cy="329184"/>
          </a:xfrm>
          <a:prstGeom prst="ellipse">
            <a:avLst/>
          </a:prstGeom>
          <a:solidFill>
            <a:srgbClr val="24303A"/>
          </a:solidFill>
          <a:ln w="12700">
            <a:solidFill>
              <a:srgbClr val="24303A"/>
            </a:solidFill>
            <a:prstDash val="solid"/>
          </a:ln>
        </p:spPr>
      </p:sp>
      <p:sp>
        <p:nvSpPr>
          <p:cNvPr id="20" name="Text 18"/>
          <p:cNvSpPr/>
          <p:nvPr/>
        </p:nvSpPr>
        <p:spPr>
          <a:xfrm>
            <a:off x="6190488" y="45262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1" name="Text 19"/>
          <p:cNvSpPr/>
          <p:nvPr/>
        </p:nvSpPr>
        <p:spPr>
          <a:xfrm>
            <a:off x="6665976" y="4498848"/>
            <a:ext cx="4892040" cy="365760"/>
          </a:xfrm>
          <a:prstGeom prst="rect">
            <a:avLst/>
          </a:prstGeom>
          <a:noFill/>
          <a:ln/>
        </p:spPr>
        <p:txBody>
          <a:bodyPr wrap="square" lIns="0" tIns="0" rIns="0" bIns="0" rtlCol="0" anchor="ctr"/>
          <a:lstStyle/>
          <a:p>
            <a:pPr indent="0" marL="0">
              <a:buNone/>
            </a:pPr>
            <a:r>
              <a:rPr lang="en-US" sz="1500" b="1" dirty="0">
                <a:solidFill>
                  <a:srgbClr val="24303A"/>
                </a:solidFill>
                <a:latin typeface="Cambria" pitchFamily="34" charset="0"/>
                <a:ea typeface="Cambria" pitchFamily="34" charset="-122"/>
                <a:cs typeface="Cambria" pitchFamily="34" charset="-120"/>
              </a:rPr>
              <a:t>Rollups get retyped into every query</a:t>
            </a:r>
            <a:endParaRPr lang="en-US" sz="1500" dirty="0"/>
          </a:p>
        </p:txBody>
      </p:sp>
      <p:sp>
        <p:nvSpPr>
          <p:cNvPr id="22" name="Text 20"/>
          <p:cNvSpPr/>
          <p:nvPr/>
        </p:nvSpPr>
        <p:spPr>
          <a:xfrm>
            <a:off x="6665976" y="4910328"/>
            <a:ext cx="4892040" cy="82296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Defined once in a dimension, education_group applies everywhere. Defined in a flat table, it is rewritten slightly differently each time.</a:t>
            </a:r>
            <a:endParaRPr lang="en-US" sz="1250" dirty="0"/>
          </a:p>
        </p:txBody>
      </p:sp>
      <p:sp>
        <p:nvSpPr>
          <p:cNvPr id="23" name="Shape 21"/>
          <p:cNvSpPr/>
          <p:nvPr/>
        </p:nvSpPr>
        <p:spPr>
          <a:xfrm>
            <a:off x="566928" y="5989320"/>
            <a:ext cx="11027664" cy="658368"/>
          </a:xfrm>
          <a:prstGeom prst="roundRect">
            <a:avLst>
              <a:gd name="adj" fmla="val 8333"/>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24" name="Text 22"/>
          <p:cNvSpPr/>
          <p:nvPr/>
        </p:nvSpPr>
        <p:spPr>
          <a:xfrm>
            <a:off x="859536" y="6144768"/>
            <a:ext cx="10424160" cy="365760"/>
          </a:xfrm>
          <a:prstGeom prst="rect">
            <a:avLst/>
          </a:prstGeom>
          <a:noFill/>
          <a:ln/>
        </p:spPr>
        <p:txBody>
          <a:bodyPr wrap="square" lIns="0" tIns="0" rIns="0" bIns="0" rtlCol="0" anchor="ctr"/>
          <a:lstStyle/>
          <a:p>
            <a:pPr indent="0" marL="0">
              <a:buNone/>
            </a:pPr>
            <a:r>
              <a:rPr lang="en-US" sz="1300" dirty="0">
                <a:solidFill>
                  <a:srgbClr val="2E6F5E"/>
                </a:solidFill>
                <a:latin typeface="Calibri" pitchFamily="34" charset="0"/>
                <a:ea typeface="Calibri" pitchFamily="34" charset="-122"/>
                <a:cs typeface="Calibri" pitchFamily="34" charset="-120"/>
              </a:rPr>
              <a:t>The counter-argument that does hold: the staging table is one big table, and it is kept deliberately. It is the raw record, and the star is derived from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2103120"/>
            <a:ext cx="5486400" cy="365760"/>
          </a:xfrm>
          <a:prstGeom prst="rect">
            <a:avLst/>
          </a:prstGeom>
          <a:noFill/>
          <a:ln/>
        </p:spPr>
        <p:txBody>
          <a:bodyPr wrap="square" lIns="0" tIns="0" rIns="0" bIns="0" rtlCol="0" anchor="ctr"/>
          <a:lstStyle/>
          <a:p>
            <a:pPr indent="0" marL="0">
              <a:buNone/>
            </a:pPr>
            <a:r>
              <a:rPr lang="en-US" sz="1300" b="1" spc="300" kern="0" dirty="0">
                <a:solidFill>
                  <a:srgbClr val="8FC3B2"/>
                </a:solidFill>
                <a:latin typeface="Calibri" pitchFamily="34" charset="0"/>
                <a:ea typeface="Calibri" pitchFamily="34" charset="-122"/>
                <a:cs typeface="Calibri" pitchFamily="34" charset="-120"/>
              </a:rPr>
              <a:t>LAB 3</a:t>
            </a:r>
            <a:endParaRPr lang="en-US" sz="1300" dirty="0"/>
          </a:p>
        </p:txBody>
      </p:sp>
      <p:sp>
        <p:nvSpPr>
          <p:cNvPr id="3" name="Text 1"/>
          <p:cNvSpPr/>
          <p:nvPr/>
        </p:nvSpPr>
        <p:spPr>
          <a:xfrm>
            <a:off x="566928" y="25146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Build a re-runnable ingester</a:t>
            </a:r>
            <a:endParaRPr lang="en-US" sz="4000" dirty="0"/>
          </a:p>
        </p:txBody>
      </p:sp>
      <p:sp>
        <p:nvSpPr>
          <p:cNvPr id="4" name="Text 2"/>
          <p:cNvSpPr/>
          <p:nvPr/>
        </p:nvSpPr>
        <p:spPr>
          <a:xfrm>
            <a:off x="566928" y="3520440"/>
            <a:ext cx="9601200" cy="457200"/>
          </a:xfrm>
          <a:prstGeom prst="rect">
            <a:avLst/>
          </a:prstGeom>
          <a:noFill/>
          <a:ln/>
        </p:spPr>
        <p:txBody>
          <a:bodyPr wrap="square" lIns="0" tIns="0" rIns="0" bIns="0" rtlCol="0" anchor="ctr"/>
          <a:lstStyle/>
          <a:p>
            <a:pPr indent="0" marL="0">
              <a:buNone/>
            </a:pPr>
            <a:r>
              <a:rPr lang="en-US" sz="1600" dirty="0">
                <a:solidFill>
                  <a:srgbClr val="A8B4BE"/>
                </a:solidFill>
                <a:latin typeface="Calibri" pitchFamily="34" charset="0"/>
                <a:ea typeface="Calibri" pitchFamily="34" charset="-122"/>
                <a:cs typeface="Calibri" pitchFamily="34" charset="-120"/>
              </a:rPr>
              <a:t>Make it idempotent, and prove it. Log rows read, loaded and rejected, and why.</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3</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Run it twice, and the second run does nothing</a:t>
            </a:r>
            <a:endParaRPr lang="en-US" sz="3200" dirty="0"/>
          </a:p>
        </p:txBody>
      </p:sp>
      <p:sp>
        <p:nvSpPr>
          <p:cNvPr id="4" name="Shape 2"/>
          <p:cNvSpPr/>
          <p:nvPr/>
        </p:nvSpPr>
        <p:spPr>
          <a:xfrm>
            <a:off x="566928" y="1325880"/>
            <a:ext cx="4937760" cy="502920"/>
          </a:xfrm>
          <a:prstGeom prst="roundRect">
            <a:avLst>
              <a:gd name="adj" fmla="val 9091"/>
            </a:avLst>
          </a:prstGeom>
          <a:solidFill>
            <a:srgbClr val="24303A"/>
          </a:solidFill>
          <a:ln w="12700">
            <a:solidFill>
              <a:srgbClr val="24303A"/>
            </a:solidFill>
            <a:prstDash val="solid"/>
          </a:ln>
        </p:spPr>
      </p:sp>
      <p:sp>
        <p:nvSpPr>
          <p:cNvPr id="5" name="Text 3"/>
          <p:cNvSpPr/>
          <p:nvPr/>
        </p:nvSpPr>
        <p:spPr>
          <a:xfrm>
            <a:off x="795528" y="1325880"/>
            <a:ext cx="4572000" cy="502920"/>
          </a:xfrm>
          <a:prstGeom prst="rect">
            <a:avLst/>
          </a:prstGeom>
          <a:noFill/>
          <a:ln/>
        </p:spPr>
        <p:txBody>
          <a:bodyPr wrap="square" lIns="0" tIns="0" rIns="0" bIns="0" rtlCol="0" anchor="ctr"/>
          <a:lstStyle/>
          <a:p>
            <a:pPr indent="0" marL="0">
              <a:buNone/>
            </a:pPr>
            <a:r>
              <a:rPr lang="en-US" sz="1400" dirty="0">
                <a:solidFill>
                  <a:srgbClr val="FFFFFF"/>
                </a:solidFill>
                <a:latin typeface="Consolas" pitchFamily="34" charset="0"/>
                <a:ea typeface="Consolas" pitchFamily="34" charset="-122"/>
                <a:cs typeface="Consolas" pitchFamily="34" charset="-120"/>
              </a:rPr>
              <a:t>python scripts/ingest.py</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057400"/>
          <a:ext cx="11027664" cy="914400"/>
        </p:xfrm>
        <a:graphic>
          <a:graphicData uri="http://schemas.openxmlformats.org/drawingml/2006/table">
            <a:tbl>
              <a:tblPr/>
              <a:tblGrid>
                <a:gridCol w="822960"/>
                <a:gridCol w="3803904"/>
                <a:gridCol w="1600200"/>
                <a:gridCol w="1600200"/>
                <a:gridCol w="1645920"/>
                <a:gridCol w="1554480"/>
              </a:tblGrid>
              <a:tr h="384048">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run</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source</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read</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staged</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rejected</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loaded</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r>
              <a:tr h="384048">
                <a:tc>
                  <a:txBody>
                    <a:bodyPr/>
                    <a:lstStyle/>
                    <a:p>
                      <a:pPr algn="r" indent="0" marL="0">
                        <a:buNone/>
                      </a:pPr>
                      <a:r>
                        <a:rPr lang="en-US" sz="1400" dirty="0">
                          <a:solidFill>
                            <a:srgbClr val="24303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indent="0" marL="0">
                        <a:buNone/>
                      </a:pPr>
                      <a:r>
                        <a:rPr lang="en-US" sz="1400" dirty="0">
                          <a:solidFill>
                            <a:srgbClr val="24303A"/>
                          </a:solidFill>
                          <a:latin typeface="Calibri" pitchFamily="34" charset="0"/>
                          <a:ea typeface="Calibri" pitchFamily="34" charset="-122"/>
                          <a:cs typeface="Calibri" pitchFamily="34" charset="-120"/>
                        </a:rPr>
                        <a:t>adult.csv</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400" dirty="0">
                          <a:solidFill>
                            <a:srgbClr val="24303A"/>
                          </a:solidFill>
                          <a:latin typeface="Calibri" pitchFamily="34" charset="0"/>
                          <a:ea typeface="Calibri" pitchFamily="34" charset="-122"/>
                          <a:cs typeface="Calibri" pitchFamily="34" charset="-120"/>
                        </a:rPr>
                        <a:t>32561</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400" dirty="0">
                          <a:solidFill>
                            <a:srgbClr val="24303A"/>
                          </a:solidFill>
                          <a:latin typeface="Calibri" pitchFamily="34" charset="0"/>
                          <a:ea typeface="Calibri" pitchFamily="34" charset="-122"/>
                          <a:cs typeface="Calibri" pitchFamily="34" charset="-120"/>
                        </a:rPr>
                        <a:t>32561</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400" dirty="0">
                          <a:solidFill>
                            <a:srgbClr val="24303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24303A"/>
                          </a:solidFill>
                          <a:latin typeface="Calibri" pitchFamily="34" charset="0"/>
                          <a:ea typeface="Calibri" pitchFamily="34" charset="-122"/>
                          <a:cs typeface="Calibri" pitchFamily="34" charset="-120"/>
                        </a:rPr>
                        <a:t>32561</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r h="384048">
                <a:tc>
                  <a:txBody>
                    <a:bodyPr/>
                    <a:lstStyle/>
                    <a:p>
                      <a:pPr algn="r" indent="0" marL="0">
                        <a:buNone/>
                      </a:pPr>
                      <a:r>
                        <a:rPr lang="en-US" sz="1400" dirty="0">
                          <a:solidFill>
                            <a:srgbClr val="24303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indent="0" marL="0">
                        <a:buNone/>
                      </a:pPr>
                      <a:r>
                        <a:rPr lang="en-US" sz="1400" dirty="0">
                          <a:solidFill>
                            <a:srgbClr val="24303A"/>
                          </a:solidFill>
                          <a:latin typeface="Calibri" pitchFamily="34" charset="0"/>
                          <a:ea typeface="Calibri" pitchFamily="34" charset="-122"/>
                          <a:cs typeface="Calibri" pitchFamily="34" charset="-120"/>
                        </a:rPr>
                        <a:t>adult.csv</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400" dirty="0">
                          <a:solidFill>
                            <a:srgbClr val="24303A"/>
                          </a:solidFill>
                          <a:latin typeface="Calibri" pitchFamily="34" charset="0"/>
                          <a:ea typeface="Calibri" pitchFamily="34" charset="-122"/>
                          <a:cs typeface="Calibri" pitchFamily="34" charset="-120"/>
                        </a:rPr>
                        <a:t>32561</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400" dirty="0">
                          <a:solidFill>
                            <a:srgbClr val="24303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400" dirty="0">
                          <a:solidFill>
                            <a:srgbClr val="24303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2E6F5E"/>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3657600"/>
            <a:ext cx="11027664" cy="365760"/>
          </a:xfrm>
          <a:prstGeom prst="rect">
            <a:avLst/>
          </a:prstGeom>
          <a:noFill/>
          <a:ln/>
        </p:spPr>
        <p:txBody>
          <a:bodyPr wrap="square" lIns="0" tIns="0" rIns="0" bIns="0" rtlCol="0" anchor="t"/>
          <a:lstStyle/>
          <a:p>
            <a:pPr algn="l" indent="0" marL="0">
              <a:lnSpc>
                <a:spcPct val="115000"/>
              </a:lnSpc>
              <a:buNone/>
            </a:pPr>
            <a:r>
              <a:rPr lang="en-US" sz="1350" dirty="0">
                <a:solidFill>
                  <a:srgbClr val="5E6B77"/>
                </a:solidFill>
                <a:latin typeface="Calibri" pitchFamily="34" charset="0"/>
                <a:ea typeface="Calibri" pitchFamily="34" charset="-122"/>
                <a:cs typeface="Calibri" pitchFamily="34" charset="-120"/>
              </a:rPr>
              <a:t>fact_person holds 32,561 rows after both runs. That table is the load_run audit table, so the proof outlives the terminal.</a:t>
            </a:r>
            <a:endParaRPr lang="en-US" sz="1350" dirty="0"/>
          </a:p>
        </p:txBody>
      </p:sp>
      <p:sp>
        <p:nvSpPr>
          <p:cNvPr id="8" name="Text 5"/>
          <p:cNvSpPr/>
          <p:nvPr/>
        </p:nvSpPr>
        <p:spPr>
          <a:xfrm>
            <a:off x="566928" y="4206240"/>
            <a:ext cx="11027664" cy="365760"/>
          </a:xfrm>
          <a:prstGeom prst="rect">
            <a:avLst/>
          </a:prstGeom>
          <a:noFill/>
          <a:ln/>
        </p:spPr>
        <p:txBody>
          <a:bodyPr wrap="square" lIns="0" tIns="0" rIns="0" bIns="0" rtlCol="0" anchor="ctr"/>
          <a:lstStyle/>
          <a:p>
            <a:pPr indent="0" marL="0">
              <a:buNone/>
            </a:pPr>
            <a:r>
              <a:rPr lang="en-US" sz="1900" b="1" dirty="0">
                <a:solidFill>
                  <a:srgbClr val="24303A"/>
                </a:solidFill>
                <a:latin typeface="Cambria" pitchFamily="34" charset="0"/>
                <a:ea typeface="Cambria" pitchFamily="34" charset="-122"/>
                <a:cs typeface="Cambria" pitchFamily="34" charset="-120"/>
              </a:rPr>
              <a:t>How the identity is manufactured</a:t>
            </a:r>
            <a:endParaRPr lang="en-US" sz="1900" dirty="0"/>
          </a:p>
        </p:txBody>
      </p:sp>
      <p:sp>
        <p:nvSpPr>
          <p:cNvPr id="9" name="Text 6"/>
          <p:cNvSpPr/>
          <p:nvPr/>
        </p:nvSpPr>
        <p:spPr>
          <a:xfrm>
            <a:off x="566928" y="4617720"/>
            <a:ext cx="11027664" cy="548640"/>
          </a:xfrm>
          <a:prstGeom prst="rect">
            <a:avLst/>
          </a:prstGeom>
          <a:noFill/>
          <a:ln/>
        </p:spPr>
        <p:txBody>
          <a:bodyPr wrap="square" lIns="0" tIns="0" rIns="0" bIns="0" rtlCol="0" anchor="t"/>
          <a:lstStyle/>
          <a:p>
            <a:pPr algn="l" indent="0" marL="0">
              <a:lnSpc>
                <a:spcPct val="115000"/>
              </a:lnSpc>
              <a:buNone/>
            </a:pPr>
            <a:r>
              <a:rPr lang="en-US" sz="1350" dirty="0">
                <a:solidFill>
                  <a:srgbClr val="24303A"/>
                </a:solidFill>
                <a:latin typeface="Calibri" pitchFamily="34" charset="0"/>
                <a:ea typeface="Calibri" pitchFamily="34" charset="-122"/>
                <a:cs typeface="Calibri" pitchFamily="34" charset="-120"/>
              </a:rPr>
              <a:t>The source has no identifier, so there is nothing to match an incoming row against. record_key is an md5 of all 15 source fields, suffixed with the occurrence number of that content within the file.</a:t>
            </a:r>
            <a:endParaRPr lang="en-US" sz="1350" dirty="0"/>
          </a:p>
        </p:txBody>
      </p:sp>
      <p:sp>
        <p:nvSpPr>
          <p:cNvPr id="10" name="Shape 7"/>
          <p:cNvSpPr/>
          <p:nvPr/>
        </p:nvSpPr>
        <p:spPr>
          <a:xfrm>
            <a:off x="566928" y="5257800"/>
            <a:ext cx="6583680" cy="457200"/>
          </a:xfrm>
          <a:prstGeom prst="roundRect">
            <a:avLst>
              <a:gd name="adj" fmla="val 10000"/>
            </a:avLst>
          </a:prstGeom>
          <a:solidFill>
            <a:srgbClr val="F1F3F5"/>
          </a:solidFill>
          <a:ln w="12700">
            <a:solidFill>
              <a:srgbClr val="E8ECEF"/>
            </a:solidFill>
            <a:prstDash val="solid"/>
          </a:ln>
        </p:spPr>
      </p:sp>
      <p:sp>
        <p:nvSpPr>
          <p:cNvPr id="11" name="Text 8"/>
          <p:cNvSpPr/>
          <p:nvPr/>
        </p:nvSpPr>
        <p:spPr>
          <a:xfrm>
            <a:off x="749808" y="5257800"/>
            <a:ext cx="6217920" cy="457200"/>
          </a:xfrm>
          <a:prstGeom prst="rect">
            <a:avLst/>
          </a:prstGeom>
          <a:noFill/>
          <a:ln/>
        </p:spPr>
        <p:txBody>
          <a:bodyPr wrap="square" lIns="0" tIns="0" rIns="0" bIns="0" rtlCol="0" anchor="ctr"/>
          <a:lstStyle/>
          <a:p>
            <a:pPr indent="0" marL="0">
              <a:buNone/>
            </a:pPr>
            <a:r>
              <a:rPr lang="en-US" sz="1300" dirty="0">
                <a:solidFill>
                  <a:srgbClr val="24303A"/>
                </a:solidFill>
                <a:latin typeface="Consolas" pitchFamily="34" charset="0"/>
                <a:ea typeface="Consolas" pitchFamily="34" charset="-122"/>
                <a:cs typeface="Consolas" pitchFamily="34" charset="-120"/>
              </a:rPr>
              <a:t>0f1eb4dcb00ec0cf9f76e1b0e60cbb95#1</a:t>
            </a:r>
            <a:endParaRPr lang="en-US" sz="1300" dirty="0"/>
          </a:p>
        </p:txBody>
      </p:sp>
      <p:sp>
        <p:nvSpPr>
          <p:cNvPr id="12" name="Text 9"/>
          <p:cNvSpPr/>
          <p:nvPr/>
        </p:nvSpPr>
        <p:spPr>
          <a:xfrm>
            <a:off x="7452360" y="5285232"/>
            <a:ext cx="4114800" cy="457200"/>
          </a:xfrm>
          <a:prstGeom prst="rect">
            <a:avLst/>
          </a:prstGeom>
          <a:noFill/>
          <a:ln/>
        </p:spPr>
        <p:txBody>
          <a:bodyPr wrap="square" lIns="0" tIns="0" rIns="0" bIns="0" rtlCol="0" anchor="t"/>
          <a:lstStyle/>
          <a:p>
            <a:pPr algn="l" indent="0" marL="0">
              <a:lnSpc>
                <a:spcPct val="115000"/>
              </a:lnSpc>
              <a:buNone/>
            </a:pPr>
            <a:r>
              <a:rPr lang="en-US" sz="1200" dirty="0">
                <a:solidFill>
                  <a:srgbClr val="5E6B77"/>
                </a:solidFill>
                <a:latin typeface="Calibri" pitchFamily="34" charset="0"/>
                <a:ea typeface="Calibri" pitchFamily="34" charset="-122"/>
                <a:cs typeface="Calibri" pitchFamily="34" charset="-120"/>
              </a:rPr>
              <a:t>The suffix is what lets the 24 duplicates survive as #1, #2 and #3. Without it they would collapse into a single row.</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3</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Rejects are demonstrated, not assumed</a:t>
            </a:r>
            <a:endParaRPr lang="en-US" sz="3200" dirty="0"/>
          </a:p>
        </p:txBody>
      </p:sp>
      <p:sp>
        <p:nvSpPr>
          <p:cNvPr id="4" name="Text 2"/>
          <p:cNvSpPr/>
          <p:nvPr/>
        </p:nvSpPr>
        <p:spPr>
          <a:xfrm>
            <a:off x="566928" y="1325880"/>
            <a:ext cx="11027664" cy="457200"/>
          </a:xfrm>
          <a:prstGeom prst="rect">
            <a:avLst/>
          </a:prstGeom>
          <a:noFill/>
          <a:ln/>
        </p:spPr>
        <p:txBody>
          <a:bodyPr wrap="square" lIns="0" tIns="0" rIns="0" bIns="0" rtlCol="0" anchor="t"/>
          <a:lstStyle/>
          <a:p>
            <a:pPr algn="l" indent="0" marL="0">
              <a:lnSpc>
                <a:spcPct val="115000"/>
              </a:lnSpc>
              <a:buNone/>
            </a:pPr>
            <a:r>
              <a:rPr lang="en-US" sz="1450" dirty="0">
                <a:solidFill>
                  <a:srgbClr val="24303A"/>
                </a:solidFill>
                <a:latin typeface="Calibri" pitchFamily="34" charset="0"/>
                <a:ea typeface="Calibri" pitchFamily="34" charset="-122"/>
                <a:cs typeface="Calibri" pitchFamily="34" charset="-120"/>
              </a:rPr>
              <a:t>On the real file nothing is ever rejected, so the reject path would never fire. A nine row fixture trips all eight rules once each.</a:t>
            </a:r>
            <a:endParaRPr lang="en-US" sz="1450" dirty="0"/>
          </a:p>
        </p:txBody>
      </p:sp>
      <p:sp>
        <p:nvSpPr>
          <p:cNvPr id="5" name="Text 3"/>
          <p:cNvSpPr/>
          <p:nvPr/>
        </p:nvSpPr>
        <p:spPr>
          <a:xfrm>
            <a:off x="566928" y="2011680"/>
            <a:ext cx="2377440" cy="777240"/>
          </a:xfrm>
          <a:prstGeom prst="rect">
            <a:avLst/>
          </a:prstGeom>
          <a:noFill/>
          <a:ln/>
        </p:spPr>
        <p:txBody>
          <a:bodyPr wrap="square" lIns="0" tIns="0" rIns="0" bIns="0" rtlCol="0" anchor="ctr"/>
          <a:lstStyle/>
          <a:p>
            <a:pPr algn="l" indent="0" marL="0">
              <a:buNone/>
            </a:pPr>
            <a:r>
              <a:rPr lang="en-US" sz="4000" b="1" dirty="0">
                <a:solidFill>
                  <a:srgbClr val="24303A"/>
                </a:solidFill>
                <a:latin typeface="Cambria" pitchFamily="34" charset="0"/>
                <a:ea typeface="Cambria" pitchFamily="34" charset="-122"/>
                <a:cs typeface="Cambria" pitchFamily="34" charset="-120"/>
              </a:rPr>
              <a:t>9</a:t>
            </a:r>
            <a:endParaRPr lang="en-US" sz="4000" dirty="0"/>
          </a:p>
        </p:txBody>
      </p:sp>
      <p:sp>
        <p:nvSpPr>
          <p:cNvPr id="6" name="Text 4"/>
          <p:cNvSpPr/>
          <p:nvPr/>
        </p:nvSpPr>
        <p:spPr>
          <a:xfrm>
            <a:off x="566928" y="2761488"/>
            <a:ext cx="237744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rows read</a:t>
            </a:r>
            <a:endParaRPr lang="en-US" sz="1200" dirty="0"/>
          </a:p>
        </p:txBody>
      </p:sp>
      <p:sp>
        <p:nvSpPr>
          <p:cNvPr id="7" name="Text 5"/>
          <p:cNvSpPr/>
          <p:nvPr/>
        </p:nvSpPr>
        <p:spPr>
          <a:xfrm>
            <a:off x="3017520" y="2011680"/>
            <a:ext cx="2377440" cy="777240"/>
          </a:xfrm>
          <a:prstGeom prst="rect">
            <a:avLst/>
          </a:prstGeom>
          <a:noFill/>
          <a:ln/>
        </p:spPr>
        <p:txBody>
          <a:bodyPr wrap="square" lIns="0" tIns="0" rIns="0" bIns="0" rtlCol="0" anchor="ctr"/>
          <a:lstStyle/>
          <a:p>
            <a:pPr algn="l" indent="0" marL="0">
              <a:buNone/>
            </a:pPr>
            <a:r>
              <a:rPr lang="en-US" sz="4000" b="1" dirty="0">
                <a:solidFill>
                  <a:srgbClr val="2E6F5E"/>
                </a:solidFill>
                <a:latin typeface="Cambria" pitchFamily="34" charset="0"/>
                <a:ea typeface="Cambria" pitchFamily="34" charset="-122"/>
                <a:cs typeface="Cambria" pitchFamily="34" charset="-120"/>
              </a:rPr>
              <a:t>1</a:t>
            </a:r>
            <a:endParaRPr lang="en-US" sz="4000" dirty="0"/>
          </a:p>
        </p:txBody>
      </p:sp>
      <p:sp>
        <p:nvSpPr>
          <p:cNvPr id="8" name="Text 6"/>
          <p:cNvSpPr/>
          <p:nvPr/>
        </p:nvSpPr>
        <p:spPr>
          <a:xfrm>
            <a:off x="3017520" y="2761488"/>
            <a:ext cx="237744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loaded</a:t>
            </a:r>
            <a:endParaRPr lang="en-US" sz="1200" dirty="0"/>
          </a:p>
        </p:txBody>
      </p:sp>
      <p:sp>
        <p:nvSpPr>
          <p:cNvPr id="9" name="Text 7"/>
          <p:cNvSpPr/>
          <p:nvPr/>
        </p:nvSpPr>
        <p:spPr>
          <a:xfrm>
            <a:off x="5486400" y="2011680"/>
            <a:ext cx="2377440" cy="777240"/>
          </a:xfrm>
          <a:prstGeom prst="rect">
            <a:avLst/>
          </a:prstGeom>
          <a:noFill/>
          <a:ln/>
        </p:spPr>
        <p:txBody>
          <a:bodyPr wrap="square" lIns="0" tIns="0" rIns="0" bIns="0" rtlCol="0" anchor="ctr"/>
          <a:lstStyle/>
          <a:p>
            <a:pPr algn="l" indent="0" marL="0">
              <a:buNone/>
            </a:pPr>
            <a:r>
              <a:rPr lang="en-US" sz="4000" b="1" dirty="0">
                <a:solidFill>
                  <a:srgbClr val="B3453A"/>
                </a:solidFill>
                <a:latin typeface="Cambria" pitchFamily="34" charset="0"/>
                <a:ea typeface="Cambria" pitchFamily="34" charset="-122"/>
                <a:cs typeface="Cambria" pitchFamily="34" charset="-120"/>
              </a:rPr>
              <a:t>8</a:t>
            </a:r>
            <a:endParaRPr lang="en-US" sz="4000" dirty="0"/>
          </a:p>
        </p:txBody>
      </p:sp>
      <p:sp>
        <p:nvSpPr>
          <p:cNvPr id="10" name="Text 8"/>
          <p:cNvSpPr/>
          <p:nvPr/>
        </p:nvSpPr>
        <p:spPr>
          <a:xfrm>
            <a:off x="5486400" y="2761488"/>
            <a:ext cx="237744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rejected</a:t>
            </a:r>
            <a:endParaRPr lang="en-US" sz="1200" dirty="0"/>
          </a:p>
        </p:txBody>
      </p:sp>
      <p:sp>
        <p:nvSpPr>
          <p:cNvPr id="11" name="Shape 9"/>
          <p:cNvSpPr/>
          <p:nvPr/>
        </p:nvSpPr>
        <p:spPr>
          <a:xfrm>
            <a:off x="8138160" y="1965960"/>
            <a:ext cx="3456432" cy="1371600"/>
          </a:xfrm>
          <a:prstGeom prst="roundRect">
            <a:avLst>
              <a:gd name="adj" fmla="val 4000"/>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12" name="Text 10"/>
          <p:cNvSpPr/>
          <p:nvPr/>
        </p:nvSpPr>
        <p:spPr>
          <a:xfrm>
            <a:off x="8412480" y="2194560"/>
            <a:ext cx="2926080" cy="91440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Rejects go to a load_reject table with a reason and an example, so a bad row is queryable after the run.</a:t>
            </a:r>
            <a:endParaRPr lang="en-US" sz="1250" dirty="0"/>
          </a:p>
        </p:txBody>
      </p:sp>
      <p:sp>
        <p:nvSpPr>
          <p:cNvPr id="13" name="Text 11"/>
          <p:cNvSpPr/>
          <p:nvPr/>
        </p:nvSpPr>
        <p:spPr>
          <a:xfrm>
            <a:off x="566928" y="3566160"/>
            <a:ext cx="11027664" cy="365760"/>
          </a:xfrm>
          <a:prstGeom prst="rect">
            <a:avLst/>
          </a:prstGeom>
          <a:noFill/>
          <a:ln/>
        </p:spPr>
        <p:txBody>
          <a:bodyPr wrap="square" lIns="0" tIns="0" rIns="0" bIns="0" rtlCol="0" anchor="ctr"/>
          <a:lstStyle/>
          <a:p>
            <a:pPr indent="0" marL="0">
              <a:buNone/>
            </a:pPr>
            <a:r>
              <a:rPr lang="en-US" sz="1900" b="1" dirty="0">
                <a:solidFill>
                  <a:srgbClr val="24303A"/>
                </a:solidFill>
                <a:latin typeface="Cambria" pitchFamily="34" charset="0"/>
                <a:ea typeface="Cambria" pitchFamily="34" charset="-122"/>
                <a:cs typeface="Cambria" pitchFamily="34" charset="-120"/>
              </a:rPr>
              <a:t>The eight rules</a:t>
            </a:r>
            <a:endParaRPr lang="en-US" sz="1900" dirty="0"/>
          </a:p>
        </p:txBody>
      </p:sp>
      <p:sp>
        <p:nvSpPr>
          <p:cNvPr id="14" name="Shape 12"/>
          <p:cNvSpPr/>
          <p:nvPr/>
        </p:nvSpPr>
        <p:spPr>
          <a:xfrm>
            <a:off x="566928" y="4023360"/>
            <a:ext cx="2606040" cy="420624"/>
          </a:xfrm>
          <a:prstGeom prst="roundRect">
            <a:avLst>
              <a:gd name="adj" fmla="val 10870"/>
            </a:avLst>
          </a:prstGeom>
          <a:solidFill>
            <a:srgbClr val="F1F3F5"/>
          </a:solidFill>
          <a:ln w="12700">
            <a:solidFill>
              <a:srgbClr val="E8ECEF"/>
            </a:solidFill>
            <a:prstDash val="solid"/>
          </a:ln>
        </p:spPr>
      </p:sp>
      <p:sp>
        <p:nvSpPr>
          <p:cNvPr id="15" name="Text 13"/>
          <p:cNvSpPr/>
          <p:nvPr/>
        </p:nvSpPr>
        <p:spPr>
          <a:xfrm>
            <a:off x="676656" y="4023360"/>
            <a:ext cx="2377440" cy="420624"/>
          </a:xfrm>
          <a:prstGeom prst="rect">
            <a:avLst/>
          </a:prstGeom>
          <a:noFill/>
          <a:ln/>
        </p:spPr>
        <p:txBody>
          <a:bodyPr wrap="square" lIns="0" tIns="0" rIns="0" bIns="0" rtlCol="0" anchor="ctr"/>
          <a:lstStyle/>
          <a:p>
            <a:pPr indent="0" marL="0">
              <a:buNone/>
            </a:pPr>
            <a:r>
              <a:rPr lang="en-US" sz="1000" dirty="0">
                <a:solidFill>
                  <a:srgbClr val="24303A"/>
                </a:solidFill>
                <a:latin typeface="Consolas" pitchFamily="34" charset="0"/>
                <a:ea typeface="Consolas" pitchFamily="34" charset="-122"/>
                <a:cs typeface="Consolas" pitchFamily="34" charset="-120"/>
              </a:rPr>
              <a:t>age_not_an_integer</a:t>
            </a:r>
            <a:endParaRPr lang="en-US" sz="1000" dirty="0"/>
          </a:p>
        </p:txBody>
      </p:sp>
      <p:sp>
        <p:nvSpPr>
          <p:cNvPr id="16" name="Shape 14"/>
          <p:cNvSpPr/>
          <p:nvPr/>
        </p:nvSpPr>
        <p:spPr>
          <a:xfrm>
            <a:off x="3355848" y="4023360"/>
            <a:ext cx="2606040" cy="420624"/>
          </a:xfrm>
          <a:prstGeom prst="roundRect">
            <a:avLst>
              <a:gd name="adj" fmla="val 10870"/>
            </a:avLst>
          </a:prstGeom>
          <a:solidFill>
            <a:srgbClr val="F1F3F5"/>
          </a:solidFill>
          <a:ln w="12700">
            <a:solidFill>
              <a:srgbClr val="E8ECEF"/>
            </a:solidFill>
            <a:prstDash val="solid"/>
          </a:ln>
        </p:spPr>
      </p:sp>
      <p:sp>
        <p:nvSpPr>
          <p:cNvPr id="17" name="Text 15"/>
          <p:cNvSpPr/>
          <p:nvPr/>
        </p:nvSpPr>
        <p:spPr>
          <a:xfrm>
            <a:off x="3465576" y="4023360"/>
            <a:ext cx="2377440" cy="420624"/>
          </a:xfrm>
          <a:prstGeom prst="rect">
            <a:avLst/>
          </a:prstGeom>
          <a:noFill/>
          <a:ln/>
        </p:spPr>
        <p:txBody>
          <a:bodyPr wrap="square" lIns="0" tIns="0" rIns="0" bIns="0" rtlCol="0" anchor="ctr"/>
          <a:lstStyle/>
          <a:p>
            <a:pPr indent="0" marL="0">
              <a:buNone/>
            </a:pPr>
            <a:r>
              <a:rPr lang="en-US" sz="1000" dirty="0">
                <a:solidFill>
                  <a:srgbClr val="24303A"/>
                </a:solidFill>
                <a:latin typeface="Consolas" pitchFamily="34" charset="0"/>
                <a:ea typeface="Consolas" pitchFamily="34" charset="-122"/>
                <a:cs typeface="Consolas" pitchFamily="34" charset="-120"/>
              </a:rPr>
              <a:t>age_out_of_range</a:t>
            </a:r>
            <a:endParaRPr lang="en-US" sz="1000" dirty="0"/>
          </a:p>
        </p:txBody>
      </p:sp>
      <p:sp>
        <p:nvSpPr>
          <p:cNvPr id="18" name="Shape 16"/>
          <p:cNvSpPr/>
          <p:nvPr/>
        </p:nvSpPr>
        <p:spPr>
          <a:xfrm>
            <a:off x="6144768" y="4023360"/>
            <a:ext cx="2606040" cy="420624"/>
          </a:xfrm>
          <a:prstGeom prst="roundRect">
            <a:avLst>
              <a:gd name="adj" fmla="val 10870"/>
            </a:avLst>
          </a:prstGeom>
          <a:solidFill>
            <a:srgbClr val="F1F3F5"/>
          </a:solidFill>
          <a:ln w="12700">
            <a:solidFill>
              <a:srgbClr val="E8ECEF"/>
            </a:solidFill>
            <a:prstDash val="solid"/>
          </a:ln>
        </p:spPr>
      </p:sp>
      <p:sp>
        <p:nvSpPr>
          <p:cNvPr id="19" name="Text 17"/>
          <p:cNvSpPr/>
          <p:nvPr/>
        </p:nvSpPr>
        <p:spPr>
          <a:xfrm>
            <a:off x="6254496" y="4023360"/>
            <a:ext cx="2377440" cy="420624"/>
          </a:xfrm>
          <a:prstGeom prst="rect">
            <a:avLst/>
          </a:prstGeom>
          <a:noFill/>
          <a:ln/>
        </p:spPr>
        <p:txBody>
          <a:bodyPr wrap="square" lIns="0" tIns="0" rIns="0" bIns="0" rtlCol="0" anchor="ctr"/>
          <a:lstStyle/>
          <a:p>
            <a:pPr indent="0" marL="0">
              <a:buNone/>
            </a:pPr>
            <a:r>
              <a:rPr lang="en-US" sz="1000" dirty="0">
                <a:solidFill>
                  <a:srgbClr val="24303A"/>
                </a:solidFill>
                <a:latin typeface="Consolas" pitchFamily="34" charset="0"/>
                <a:ea typeface="Consolas" pitchFamily="34" charset="-122"/>
                <a:cs typeface="Consolas" pitchFamily="34" charset="-120"/>
              </a:rPr>
              <a:t>fnlwgt_not_a_positive_integer</a:t>
            </a:r>
            <a:endParaRPr lang="en-US" sz="1000" dirty="0"/>
          </a:p>
        </p:txBody>
      </p:sp>
      <p:sp>
        <p:nvSpPr>
          <p:cNvPr id="20" name="Shape 18"/>
          <p:cNvSpPr/>
          <p:nvPr/>
        </p:nvSpPr>
        <p:spPr>
          <a:xfrm>
            <a:off x="8933688" y="4023360"/>
            <a:ext cx="2606040" cy="420624"/>
          </a:xfrm>
          <a:prstGeom prst="roundRect">
            <a:avLst>
              <a:gd name="adj" fmla="val 10870"/>
            </a:avLst>
          </a:prstGeom>
          <a:solidFill>
            <a:srgbClr val="F1F3F5"/>
          </a:solidFill>
          <a:ln w="12700">
            <a:solidFill>
              <a:srgbClr val="E8ECEF"/>
            </a:solidFill>
            <a:prstDash val="solid"/>
          </a:ln>
        </p:spPr>
      </p:sp>
      <p:sp>
        <p:nvSpPr>
          <p:cNvPr id="21" name="Text 19"/>
          <p:cNvSpPr/>
          <p:nvPr/>
        </p:nvSpPr>
        <p:spPr>
          <a:xfrm>
            <a:off x="9043416" y="4023360"/>
            <a:ext cx="2377440" cy="420624"/>
          </a:xfrm>
          <a:prstGeom prst="rect">
            <a:avLst/>
          </a:prstGeom>
          <a:noFill/>
          <a:ln/>
        </p:spPr>
        <p:txBody>
          <a:bodyPr wrap="square" lIns="0" tIns="0" rIns="0" bIns="0" rtlCol="0" anchor="ctr"/>
          <a:lstStyle/>
          <a:p>
            <a:pPr indent="0" marL="0">
              <a:buNone/>
            </a:pPr>
            <a:r>
              <a:rPr lang="en-US" sz="1000" dirty="0">
                <a:solidFill>
                  <a:srgbClr val="24303A"/>
                </a:solidFill>
                <a:latin typeface="Consolas" pitchFamily="34" charset="0"/>
                <a:ea typeface="Consolas" pitchFamily="34" charset="-122"/>
                <a:cs typeface="Consolas" pitchFamily="34" charset="-120"/>
              </a:rPr>
              <a:t>hours_per_week_out_of_range</a:t>
            </a:r>
            <a:endParaRPr lang="en-US" sz="1000" dirty="0"/>
          </a:p>
        </p:txBody>
      </p:sp>
      <p:sp>
        <p:nvSpPr>
          <p:cNvPr id="22" name="Shape 20"/>
          <p:cNvSpPr/>
          <p:nvPr/>
        </p:nvSpPr>
        <p:spPr>
          <a:xfrm>
            <a:off x="566928" y="4572000"/>
            <a:ext cx="2606040" cy="420624"/>
          </a:xfrm>
          <a:prstGeom prst="roundRect">
            <a:avLst>
              <a:gd name="adj" fmla="val 10870"/>
            </a:avLst>
          </a:prstGeom>
          <a:solidFill>
            <a:srgbClr val="F1F3F5"/>
          </a:solidFill>
          <a:ln w="12700">
            <a:solidFill>
              <a:srgbClr val="E8ECEF"/>
            </a:solidFill>
            <a:prstDash val="solid"/>
          </a:ln>
        </p:spPr>
      </p:sp>
      <p:sp>
        <p:nvSpPr>
          <p:cNvPr id="23" name="Text 21"/>
          <p:cNvSpPr/>
          <p:nvPr/>
        </p:nvSpPr>
        <p:spPr>
          <a:xfrm>
            <a:off x="676656" y="4572000"/>
            <a:ext cx="2377440" cy="420624"/>
          </a:xfrm>
          <a:prstGeom prst="rect">
            <a:avLst/>
          </a:prstGeom>
          <a:noFill/>
          <a:ln/>
        </p:spPr>
        <p:txBody>
          <a:bodyPr wrap="square" lIns="0" tIns="0" rIns="0" bIns="0" rtlCol="0" anchor="ctr"/>
          <a:lstStyle/>
          <a:p>
            <a:pPr indent="0" marL="0">
              <a:buNone/>
            </a:pPr>
            <a:r>
              <a:rPr lang="en-US" sz="1000" dirty="0">
                <a:solidFill>
                  <a:srgbClr val="24303A"/>
                </a:solidFill>
                <a:latin typeface="Consolas" pitchFamily="34" charset="0"/>
                <a:ea typeface="Consolas" pitchFamily="34" charset="-122"/>
                <a:cs typeface="Consolas" pitchFamily="34" charset="-120"/>
              </a:rPr>
              <a:t>capital_value_invalid</a:t>
            </a:r>
            <a:endParaRPr lang="en-US" sz="1000" dirty="0"/>
          </a:p>
        </p:txBody>
      </p:sp>
      <p:sp>
        <p:nvSpPr>
          <p:cNvPr id="24" name="Shape 22"/>
          <p:cNvSpPr/>
          <p:nvPr/>
        </p:nvSpPr>
        <p:spPr>
          <a:xfrm>
            <a:off x="3355848" y="4572000"/>
            <a:ext cx="2606040" cy="420624"/>
          </a:xfrm>
          <a:prstGeom prst="roundRect">
            <a:avLst>
              <a:gd name="adj" fmla="val 10870"/>
            </a:avLst>
          </a:prstGeom>
          <a:solidFill>
            <a:srgbClr val="F1F3F5"/>
          </a:solidFill>
          <a:ln w="12700">
            <a:solidFill>
              <a:srgbClr val="E8ECEF"/>
            </a:solidFill>
            <a:prstDash val="solid"/>
          </a:ln>
        </p:spPr>
      </p:sp>
      <p:sp>
        <p:nvSpPr>
          <p:cNvPr id="25" name="Text 23"/>
          <p:cNvSpPr/>
          <p:nvPr/>
        </p:nvSpPr>
        <p:spPr>
          <a:xfrm>
            <a:off x="3465576" y="4572000"/>
            <a:ext cx="2377440" cy="420624"/>
          </a:xfrm>
          <a:prstGeom prst="rect">
            <a:avLst/>
          </a:prstGeom>
          <a:noFill/>
          <a:ln/>
        </p:spPr>
        <p:txBody>
          <a:bodyPr wrap="square" lIns="0" tIns="0" rIns="0" bIns="0" rtlCol="0" anchor="ctr"/>
          <a:lstStyle/>
          <a:p>
            <a:pPr indent="0" marL="0">
              <a:buNone/>
            </a:pPr>
            <a:r>
              <a:rPr lang="en-US" sz="1000" dirty="0">
                <a:solidFill>
                  <a:srgbClr val="24303A"/>
                </a:solidFill>
                <a:latin typeface="Consolas" pitchFamily="34" charset="0"/>
                <a:ea typeface="Consolas" pitchFamily="34" charset="-122"/>
                <a:cs typeface="Consolas" pitchFamily="34" charset="-120"/>
              </a:rPr>
              <a:t>income_not_recognised</a:t>
            </a:r>
            <a:endParaRPr lang="en-US" sz="1000" dirty="0"/>
          </a:p>
        </p:txBody>
      </p:sp>
      <p:sp>
        <p:nvSpPr>
          <p:cNvPr id="26" name="Shape 24"/>
          <p:cNvSpPr/>
          <p:nvPr/>
        </p:nvSpPr>
        <p:spPr>
          <a:xfrm>
            <a:off x="6144768" y="4572000"/>
            <a:ext cx="2606040" cy="420624"/>
          </a:xfrm>
          <a:prstGeom prst="roundRect">
            <a:avLst>
              <a:gd name="adj" fmla="val 10870"/>
            </a:avLst>
          </a:prstGeom>
          <a:solidFill>
            <a:srgbClr val="F1F3F5"/>
          </a:solidFill>
          <a:ln w="12700">
            <a:solidFill>
              <a:srgbClr val="E8ECEF"/>
            </a:solidFill>
            <a:prstDash val="solid"/>
          </a:ln>
        </p:spPr>
      </p:sp>
      <p:sp>
        <p:nvSpPr>
          <p:cNvPr id="27" name="Text 25"/>
          <p:cNvSpPr/>
          <p:nvPr/>
        </p:nvSpPr>
        <p:spPr>
          <a:xfrm>
            <a:off x="6254496" y="4572000"/>
            <a:ext cx="2377440" cy="420624"/>
          </a:xfrm>
          <a:prstGeom prst="rect">
            <a:avLst/>
          </a:prstGeom>
          <a:noFill/>
          <a:ln/>
        </p:spPr>
        <p:txBody>
          <a:bodyPr wrap="square" lIns="0" tIns="0" rIns="0" bIns="0" rtlCol="0" anchor="ctr"/>
          <a:lstStyle/>
          <a:p>
            <a:pPr indent="0" marL="0">
              <a:buNone/>
            </a:pPr>
            <a:r>
              <a:rPr lang="en-US" sz="1000" dirty="0">
                <a:solidFill>
                  <a:srgbClr val="24303A"/>
                </a:solidFill>
                <a:latin typeface="Consolas" pitchFamily="34" charset="0"/>
                <a:ea typeface="Consolas" pitchFamily="34" charset="-122"/>
                <a:cs typeface="Consolas" pitchFamily="34" charset="-120"/>
              </a:rPr>
              <a:t>sex_not_recognised</a:t>
            </a:r>
            <a:endParaRPr lang="en-US" sz="1000" dirty="0"/>
          </a:p>
        </p:txBody>
      </p:sp>
      <p:sp>
        <p:nvSpPr>
          <p:cNvPr id="28" name="Shape 26"/>
          <p:cNvSpPr/>
          <p:nvPr/>
        </p:nvSpPr>
        <p:spPr>
          <a:xfrm>
            <a:off x="8933688" y="4572000"/>
            <a:ext cx="2606040" cy="420624"/>
          </a:xfrm>
          <a:prstGeom prst="roundRect">
            <a:avLst>
              <a:gd name="adj" fmla="val 10870"/>
            </a:avLst>
          </a:prstGeom>
          <a:solidFill>
            <a:srgbClr val="F1F3F5"/>
          </a:solidFill>
          <a:ln w="12700">
            <a:solidFill>
              <a:srgbClr val="E8ECEF"/>
            </a:solidFill>
            <a:prstDash val="solid"/>
          </a:ln>
        </p:spPr>
      </p:sp>
      <p:sp>
        <p:nvSpPr>
          <p:cNvPr id="29" name="Text 27"/>
          <p:cNvSpPr/>
          <p:nvPr/>
        </p:nvSpPr>
        <p:spPr>
          <a:xfrm>
            <a:off x="9043416" y="4572000"/>
            <a:ext cx="2377440" cy="420624"/>
          </a:xfrm>
          <a:prstGeom prst="rect">
            <a:avLst/>
          </a:prstGeom>
          <a:noFill/>
          <a:ln/>
        </p:spPr>
        <p:txBody>
          <a:bodyPr wrap="square" lIns="0" tIns="0" rIns="0" bIns="0" rtlCol="0" anchor="ctr"/>
          <a:lstStyle/>
          <a:p>
            <a:pPr indent="0" marL="0">
              <a:buNone/>
            </a:pPr>
            <a:r>
              <a:rPr lang="en-US" sz="1000" dirty="0">
                <a:solidFill>
                  <a:srgbClr val="24303A"/>
                </a:solidFill>
                <a:latin typeface="Consolas" pitchFamily="34" charset="0"/>
                <a:ea typeface="Consolas" pitchFamily="34" charset="-122"/>
                <a:cs typeface="Consolas" pitchFamily="34" charset="-120"/>
              </a:rPr>
              <a:t>education_mapping_mismatch</a:t>
            </a:r>
            <a:endParaRPr lang="en-US" sz="1000" dirty="0"/>
          </a:p>
        </p:txBody>
      </p:sp>
      <p:sp>
        <p:nvSpPr>
          <p:cNvPr id="30" name="Shape 28"/>
          <p:cNvSpPr/>
          <p:nvPr/>
        </p:nvSpPr>
        <p:spPr>
          <a:xfrm>
            <a:off x="566928" y="5257800"/>
            <a:ext cx="11027664" cy="1005840"/>
          </a:xfrm>
          <a:prstGeom prst="roundRect">
            <a:avLst>
              <a:gd name="adj" fmla="val 5455"/>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31" name="Text 29"/>
          <p:cNvSpPr/>
          <p:nvPr/>
        </p:nvSpPr>
        <p:spPr>
          <a:xfrm>
            <a:off x="859536" y="5422392"/>
            <a:ext cx="10424160" cy="292608"/>
          </a:xfrm>
          <a:prstGeom prst="rect">
            <a:avLst/>
          </a:prstGeom>
          <a:noFill/>
          <a:ln/>
        </p:spPr>
        <p:txBody>
          <a:bodyPr wrap="square" lIns="0" tIns="0" rIns="0" bIns="0" rtlCol="0" anchor="ctr"/>
          <a:lstStyle/>
          <a:p>
            <a:pPr indent="0" marL="0">
              <a:buNone/>
            </a:pPr>
            <a:r>
              <a:rPr lang="en-US" sz="1400" b="1" dirty="0">
                <a:solidFill>
                  <a:srgbClr val="2E6F5E"/>
                </a:solidFill>
                <a:latin typeface="Calibri" pitchFamily="34" charset="0"/>
                <a:ea typeface="Calibri" pitchFamily="34" charset="-122"/>
                <a:cs typeface="Calibri" pitchFamily="34" charset="-120"/>
              </a:rPr>
              <a:t>The rules reject rows that are malformed, not rows that are merely odd.</a:t>
            </a:r>
            <a:endParaRPr lang="en-US" sz="1400" dirty="0"/>
          </a:p>
        </p:txBody>
      </p:sp>
      <p:sp>
        <p:nvSpPr>
          <p:cNvPr id="32" name="Text 30"/>
          <p:cNvSpPr/>
          <p:nvPr/>
        </p:nvSpPr>
        <p:spPr>
          <a:xfrm>
            <a:off x="859536" y="5742432"/>
            <a:ext cx="10424160" cy="41148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The 2,399 records carrying "?" and the three records contradicting themselves on sex and relationship are real observations and load normally.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LABS 1 TO 3</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What is closed, and what is not</a:t>
            </a:r>
            <a:endParaRPr lang="en-US" sz="3200" dirty="0"/>
          </a:p>
        </p:txBody>
      </p:sp>
      <p:sp>
        <p:nvSpPr>
          <p:cNvPr id="4" name="Shape 2"/>
          <p:cNvSpPr/>
          <p:nvPr/>
        </p:nvSpPr>
        <p:spPr>
          <a:xfrm>
            <a:off x="566928" y="1371600"/>
            <a:ext cx="11027664" cy="914400"/>
          </a:xfrm>
          <a:prstGeom prst="roundRect">
            <a:avLst>
              <a:gd name="adj" fmla="val 6000"/>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5" name="Shape 3"/>
          <p:cNvSpPr/>
          <p:nvPr/>
        </p:nvSpPr>
        <p:spPr>
          <a:xfrm>
            <a:off x="841248" y="1627632"/>
            <a:ext cx="384048" cy="384048"/>
          </a:xfrm>
          <a:prstGeom prst="ellipse">
            <a:avLst/>
          </a:prstGeom>
          <a:solidFill>
            <a:srgbClr val="2E6F5E"/>
          </a:solidFill>
          <a:ln w="12700">
            <a:solidFill>
              <a:srgbClr val="2E6F5E"/>
            </a:solidFill>
            <a:prstDash val="solid"/>
          </a:ln>
        </p:spPr>
      </p:sp>
      <p:sp>
        <p:nvSpPr>
          <p:cNvPr id="6" name="Text 4"/>
          <p:cNvSpPr/>
          <p:nvPr/>
        </p:nvSpPr>
        <p:spPr>
          <a:xfrm>
            <a:off x="841248" y="16276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35608" y="1508760"/>
            <a:ext cx="3291840" cy="320040"/>
          </a:xfrm>
          <a:prstGeom prst="rect">
            <a:avLst/>
          </a:prstGeom>
          <a:noFill/>
          <a:ln/>
        </p:spPr>
        <p:txBody>
          <a:bodyPr wrap="square" lIns="0" tIns="0" rIns="0" bIns="0" rtlCol="0" anchor="ctr"/>
          <a:lstStyle/>
          <a:p>
            <a:pPr indent="0" marL="0">
              <a:buNone/>
            </a:pPr>
            <a:r>
              <a:rPr lang="en-US" sz="1600" b="1" dirty="0">
                <a:solidFill>
                  <a:srgbClr val="2E6F5E"/>
                </a:solidFill>
                <a:latin typeface="Cambria" pitchFamily="34" charset="0"/>
                <a:ea typeface="Cambria" pitchFamily="34" charset="-122"/>
                <a:cs typeface="Cambria" pitchFamily="34" charset="-120"/>
              </a:rPr>
              <a:t>No primary key</a:t>
            </a:r>
            <a:endParaRPr lang="en-US" sz="1600" dirty="0"/>
          </a:p>
        </p:txBody>
      </p:sp>
      <p:sp>
        <p:nvSpPr>
          <p:cNvPr id="8" name="Text 6"/>
          <p:cNvSpPr/>
          <p:nvPr/>
        </p:nvSpPr>
        <p:spPr>
          <a:xfrm>
            <a:off x="1435608" y="1856232"/>
            <a:ext cx="9784080" cy="36576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record_key manufactures identity from content, so incremental loading is possible and re-running is safe.</a:t>
            </a:r>
            <a:endParaRPr lang="en-US" sz="1250" dirty="0"/>
          </a:p>
        </p:txBody>
      </p:sp>
      <p:sp>
        <p:nvSpPr>
          <p:cNvPr id="9" name="Shape 7"/>
          <p:cNvSpPr/>
          <p:nvPr/>
        </p:nvSpPr>
        <p:spPr>
          <a:xfrm>
            <a:off x="566928" y="2423160"/>
            <a:ext cx="11027664" cy="914400"/>
          </a:xfrm>
          <a:prstGeom prst="roundRect">
            <a:avLst>
              <a:gd name="adj" fmla="val 6000"/>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0" name="Shape 8"/>
          <p:cNvSpPr/>
          <p:nvPr/>
        </p:nvSpPr>
        <p:spPr>
          <a:xfrm>
            <a:off x="841248" y="2679192"/>
            <a:ext cx="384048" cy="384048"/>
          </a:xfrm>
          <a:prstGeom prst="ellipse">
            <a:avLst/>
          </a:prstGeom>
          <a:solidFill>
            <a:srgbClr val="2E6F5E"/>
          </a:solidFill>
          <a:ln w="12700">
            <a:solidFill>
              <a:srgbClr val="2E6F5E"/>
            </a:solidFill>
            <a:prstDash val="solid"/>
          </a:ln>
        </p:spPr>
      </p:sp>
      <p:sp>
        <p:nvSpPr>
          <p:cNvPr id="11" name="Text 9"/>
          <p:cNvSpPr/>
          <p:nvPr/>
        </p:nvSpPr>
        <p:spPr>
          <a:xfrm>
            <a:off x="841248" y="26791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35608" y="2560320"/>
            <a:ext cx="3291840" cy="320040"/>
          </a:xfrm>
          <a:prstGeom prst="rect">
            <a:avLst/>
          </a:prstGeom>
          <a:noFill/>
          <a:ln/>
        </p:spPr>
        <p:txBody>
          <a:bodyPr wrap="square" lIns="0" tIns="0" rIns="0" bIns="0" rtlCol="0" anchor="ctr"/>
          <a:lstStyle/>
          <a:p>
            <a:pPr indent="0" marL="0">
              <a:buNone/>
            </a:pPr>
            <a:r>
              <a:rPr lang="en-US" sz="1600" b="1" dirty="0">
                <a:solidFill>
                  <a:srgbClr val="2E6F5E"/>
                </a:solidFill>
                <a:latin typeface="Cambria" pitchFamily="34" charset="0"/>
                <a:ea typeface="Cambria" pitchFamily="34" charset="-122"/>
                <a:cs typeface="Cambria" pitchFamily="34" charset="-120"/>
              </a:rPr>
              <a:t>No incremental refresh</a:t>
            </a:r>
            <a:endParaRPr lang="en-US" sz="1600" dirty="0"/>
          </a:p>
        </p:txBody>
      </p:sp>
      <p:sp>
        <p:nvSpPr>
          <p:cNvPr id="13" name="Text 11"/>
          <p:cNvSpPr/>
          <p:nvPr/>
        </p:nvSpPr>
        <p:spPr>
          <a:xfrm>
            <a:off x="1435608" y="2907792"/>
            <a:ext cx="9784080" cy="36576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Lab 1 said every load must be full replace. It no longer must be.</a:t>
            </a:r>
            <a:endParaRPr lang="en-US" sz="1250" dirty="0"/>
          </a:p>
        </p:txBody>
      </p:sp>
      <p:sp>
        <p:nvSpPr>
          <p:cNvPr id="14" name="Shape 12"/>
          <p:cNvSpPr/>
          <p:nvPr/>
        </p:nvSpPr>
        <p:spPr>
          <a:xfrm>
            <a:off x="566928" y="3474720"/>
            <a:ext cx="11027664" cy="914400"/>
          </a:xfrm>
          <a:prstGeom prst="roundRect">
            <a:avLst>
              <a:gd name="adj" fmla="val 6000"/>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5" name="Shape 13"/>
          <p:cNvSpPr/>
          <p:nvPr/>
        </p:nvSpPr>
        <p:spPr>
          <a:xfrm>
            <a:off x="841248" y="3730752"/>
            <a:ext cx="384048" cy="384048"/>
          </a:xfrm>
          <a:prstGeom prst="ellipse">
            <a:avLst/>
          </a:prstGeom>
          <a:solidFill>
            <a:srgbClr val="2E6F5E"/>
          </a:solidFill>
          <a:ln w="12700">
            <a:solidFill>
              <a:srgbClr val="2E6F5E"/>
            </a:solidFill>
            <a:prstDash val="solid"/>
          </a:ln>
        </p:spPr>
      </p:sp>
      <p:sp>
        <p:nvSpPr>
          <p:cNvPr id="16" name="Text 14"/>
          <p:cNvSpPr/>
          <p:nvPr/>
        </p:nvSpPr>
        <p:spPr>
          <a:xfrm>
            <a:off x="841248" y="3730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435608" y="3611880"/>
            <a:ext cx="3291840" cy="320040"/>
          </a:xfrm>
          <a:prstGeom prst="rect">
            <a:avLst/>
          </a:prstGeom>
          <a:noFill/>
          <a:ln/>
        </p:spPr>
        <p:txBody>
          <a:bodyPr wrap="square" lIns="0" tIns="0" rIns="0" bIns="0" rtlCol="0" anchor="ctr"/>
          <a:lstStyle/>
          <a:p>
            <a:pPr indent="0" marL="0">
              <a:buNone/>
            </a:pPr>
            <a:r>
              <a:rPr lang="en-US" sz="1600" b="1" dirty="0">
                <a:solidFill>
                  <a:srgbClr val="2E6F5E"/>
                </a:solidFill>
                <a:latin typeface="Cambria" pitchFamily="34" charset="0"/>
                <a:ea typeface="Cambria" pitchFamily="34" charset="-122"/>
                <a:cs typeface="Cambria" pitchFamily="34" charset="-120"/>
              </a:rPr>
              <a:t>No auditable lineage</a:t>
            </a:r>
            <a:endParaRPr lang="en-US" sz="1600" dirty="0"/>
          </a:p>
        </p:txBody>
      </p:sp>
      <p:sp>
        <p:nvSpPr>
          <p:cNvPr id="18" name="Text 16"/>
          <p:cNvSpPr/>
          <p:nvPr/>
        </p:nvSpPr>
        <p:spPr>
          <a:xfrm>
            <a:off x="1435608" y="3959352"/>
            <a:ext cx="9784080" cy="36576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Every fact row carries its run, file and line. Every run records the file sha256.</a:t>
            </a:r>
            <a:endParaRPr lang="en-US" sz="1250" dirty="0"/>
          </a:p>
        </p:txBody>
      </p:sp>
      <p:sp>
        <p:nvSpPr>
          <p:cNvPr id="19" name="Shape 17"/>
          <p:cNvSpPr/>
          <p:nvPr/>
        </p:nvSpPr>
        <p:spPr>
          <a:xfrm>
            <a:off x="566928" y="4663440"/>
            <a:ext cx="11027664" cy="1325880"/>
          </a:xfrm>
          <a:prstGeom prst="roundRect">
            <a:avLst>
              <a:gd name="adj" fmla="val 4138"/>
            </a:avLst>
          </a:prstGeom>
          <a:solidFill>
            <a:srgbClr val="F6E9E7"/>
          </a:solidFill>
          <a:ln w="12700">
            <a:solidFill>
              <a:srgbClr val="F6E9E7"/>
            </a:solidFill>
            <a:prstDash val="solid"/>
          </a:ln>
          <a:effectLst>
            <a:outerShdw sx="100000" sy="100000" kx="0" ky="0" algn="bl" rotWithShape="0" blurRad="101600" dist="12700" dir="5400000">
              <a:srgbClr val="9AA5AE">
                <a:alpha val="25000"/>
              </a:srgbClr>
            </a:outerShdw>
          </a:effectLst>
        </p:spPr>
      </p:sp>
      <p:sp>
        <p:nvSpPr>
          <p:cNvPr id="20" name="Text 18"/>
          <p:cNvSpPr/>
          <p:nvPr/>
        </p:nvSpPr>
        <p:spPr>
          <a:xfrm>
            <a:off x="859536" y="4846320"/>
            <a:ext cx="10424160" cy="320040"/>
          </a:xfrm>
          <a:prstGeom prst="rect">
            <a:avLst/>
          </a:prstGeom>
          <a:noFill/>
          <a:ln/>
        </p:spPr>
        <p:txBody>
          <a:bodyPr wrap="square" lIns="0" tIns="0" rIns="0" bIns="0" rtlCol="0" anchor="ctr"/>
          <a:lstStyle/>
          <a:p>
            <a:pPr indent="0" marL="0">
              <a:buNone/>
            </a:pPr>
            <a:r>
              <a:rPr lang="en-US" sz="1600" b="1" dirty="0">
                <a:solidFill>
                  <a:srgbClr val="B3453A"/>
                </a:solidFill>
                <a:latin typeface="Cambria" pitchFamily="34" charset="0"/>
                <a:ea typeface="Cambria" pitchFamily="34" charset="-122"/>
                <a:cs typeface="Cambria" pitchFamily="34" charset="-120"/>
              </a:rPr>
              <a:t>What it does not fix</a:t>
            </a:r>
            <a:endParaRPr lang="en-US" sz="1600" dirty="0"/>
          </a:p>
        </p:txBody>
      </p:sp>
      <p:sp>
        <p:nvSpPr>
          <p:cNvPr id="21" name="Text 19"/>
          <p:cNvSpPr/>
          <p:nvPr/>
        </p:nvSpPr>
        <p:spPr>
          <a:xfrm>
            <a:off x="859536" y="5193792"/>
            <a:ext cx="10424160" cy="640080"/>
          </a:xfrm>
          <a:prstGeom prst="rect">
            <a:avLst/>
          </a:prstGeom>
          <a:noFill/>
          <a:ln/>
        </p:spPr>
        <p:txBody>
          <a:bodyPr wrap="square" lIns="0" tIns="0" rIns="0" bIns="0" rtlCol="0" anchor="t"/>
          <a:lstStyle/>
          <a:p>
            <a:pPr algn="l" indent="0" marL="0">
              <a:lnSpc>
                <a:spcPct val="115000"/>
              </a:lnSpc>
              <a:buNone/>
            </a:pPr>
            <a:r>
              <a:rPr lang="en-US" sz="1300" dirty="0">
                <a:solidFill>
                  <a:srgbClr val="24303A"/>
                </a:solidFill>
                <a:latin typeface="Calibri" pitchFamily="34" charset="0"/>
                <a:ea typeface="Calibri" pitchFamily="34" charset="-122"/>
                <a:cs typeface="Calibri" pitchFamily="34" charset="-120"/>
              </a:rPr>
              <a:t>Two genuinely different people who match on all 15 attributes are still indistinguishable. The ingester inherits that ambiguity from the source and does not pretend to resolve it. A real fix needs a real identifier, which only the data collector can supply.</a:t>
            </a:r>
            <a:endParaRPr lang="en-US" sz="1300" dirty="0"/>
          </a:p>
        </p:txBody>
      </p:sp>
      <p:sp>
        <p:nvSpPr>
          <p:cNvPr id="22" name="Text 20"/>
          <p:cNvSpPr/>
          <p:nvPr/>
        </p:nvSpPr>
        <p:spPr>
          <a:xfrm>
            <a:off x="566928" y="6172200"/>
            <a:ext cx="11027664" cy="365760"/>
          </a:xfrm>
          <a:prstGeom prst="rect">
            <a:avLst/>
          </a:prstGeom>
          <a:noFill/>
          <a:ln/>
        </p:spPr>
        <p:txBody>
          <a:bodyPr wrap="square" lIns="0" tIns="0" rIns="0" bIns="0" rtlCol="0" anchor="t"/>
          <a:lstStyle/>
          <a:p>
            <a:pPr algn="l" indent="0" marL="0">
              <a:lnSpc>
                <a:spcPct val="115000"/>
              </a:lnSpc>
              <a:buNone/>
            </a:pPr>
            <a:r>
              <a:rPr lang="en-US" sz="1200" dirty="0">
                <a:solidFill>
                  <a:srgbClr val="5E6B77"/>
                </a:solidFill>
                <a:latin typeface="Calibri" pitchFamily="34" charset="0"/>
                <a:ea typeface="Calibri" pitchFamily="34" charset="-122"/>
                <a:cs typeface="Calibri" pitchFamily="34" charset="-120"/>
              </a:rPr>
              <a:t>Duplicates are retained and marked, not dropped, so the decision is recorded in the data and stays reversible.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2103120"/>
            <a:ext cx="5486400" cy="365760"/>
          </a:xfrm>
          <a:prstGeom prst="rect">
            <a:avLst/>
          </a:prstGeom>
          <a:noFill/>
          <a:ln/>
        </p:spPr>
        <p:txBody>
          <a:bodyPr wrap="square" lIns="0" tIns="0" rIns="0" bIns="0" rtlCol="0" anchor="ctr"/>
          <a:lstStyle/>
          <a:p>
            <a:pPr indent="0" marL="0">
              <a:buNone/>
            </a:pPr>
            <a:r>
              <a:rPr lang="en-US" sz="1300" b="1" spc="300" kern="0" dirty="0">
                <a:solidFill>
                  <a:srgbClr val="8FC3B2"/>
                </a:solidFill>
                <a:latin typeface="Calibri" pitchFamily="34" charset="0"/>
                <a:ea typeface="Calibri" pitchFamily="34" charset="-122"/>
                <a:cs typeface="Calibri" pitchFamily="34" charset="-120"/>
              </a:rPr>
              <a:t>LAB 4</a:t>
            </a:r>
            <a:endParaRPr lang="en-US" sz="1300" dirty="0"/>
          </a:p>
        </p:txBody>
      </p:sp>
      <p:sp>
        <p:nvSpPr>
          <p:cNvPr id="3" name="Text 1"/>
          <p:cNvSpPr/>
          <p:nvPr/>
        </p:nvSpPr>
        <p:spPr>
          <a:xfrm>
            <a:off x="566928" y="25146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Benchmark, do not believe</a:t>
            </a:r>
            <a:endParaRPr lang="en-US" sz="4000" dirty="0"/>
          </a:p>
        </p:txBody>
      </p:sp>
      <p:sp>
        <p:nvSpPr>
          <p:cNvPr id="4" name="Text 2"/>
          <p:cNvSpPr/>
          <p:nvPr/>
        </p:nvSpPr>
        <p:spPr>
          <a:xfrm>
            <a:off x="566928" y="3520440"/>
            <a:ext cx="10058400" cy="457200"/>
          </a:xfrm>
          <a:prstGeom prst="rect">
            <a:avLst/>
          </a:prstGeom>
          <a:noFill/>
          <a:ln/>
        </p:spPr>
        <p:txBody>
          <a:bodyPr wrap="square" lIns="0" tIns="0" rIns="0" bIns="0" rtlCol="0" anchor="ctr"/>
          <a:lstStyle/>
          <a:p>
            <a:pPr indent="0" marL="0">
              <a:buNone/>
            </a:pPr>
            <a:r>
              <a:rPr lang="en-US" sz="1600" dirty="0">
                <a:solidFill>
                  <a:srgbClr val="A8B4BE"/>
                </a:solidFill>
                <a:latin typeface="Calibri" pitchFamily="34" charset="0"/>
                <a:ea typeface="Calibri" pitchFamily="34" charset="-122"/>
                <a:cs typeface="Calibri" pitchFamily="34" charset="-120"/>
              </a:rPr>
              <a:t>Run the same aggregate query three ways. Record sizes and times. Then say which tool you would choose, and why.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4</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One query, three engines, identical data</a:t>
            </a:r>
            <a:endParaRPr lang="en-US" sz="3200" dirty="0"/>
          </a:p>
        </p:txBody>
      </p:sp>
      <p:sp>
        <p:nvSpPr>
          <p:cNvPr id="4" name="Text 2"/>
          <p:cNvSpPr/>
          <p:nvPr/>
        </p:nvSpPr>
        <p:spPr>
          <a:xfrm>
            <a:off x="566928" y="1298448"/>
            <a:ext cx="5486400" cy="274320"/>
          </a:xfrm>
          <a:prstGeom prst="rect">
            <a:avLst/>
          </a:prstGeom>
          <a:noFill/>
          <a:ln/>
        </p:spPr>
        <p:txBody>
          <a:bodyPr wrap="square" lIns="0" tIns="0" rIns="0" bIns="0" rtlCol="0" anchor="ctr"/>
          <a:lstStyle/>
          <a:p>
            <a:pPr indent="0" marL="0">
              <a:buNone/>
            </a:pPr>
            <a:r>
              <a:rPr lang="en-US" sz="1100" b="1" spc="100" kern="0" dirty="0">
                <a:solidFill>
                  <a:srgbClr val="5E6B77"/>
                </a:solidFill>
                <a:latin typeface="Calibri" pitchFamily="34" charset="0"/>
                <a:ea typeface="Calibri" pitchFamily="34" charset="-122"/>
                <a:cs typeface="Calibri" pitchFamily="34" charset="-120"/>
              </a:rPr>
              <a:t>NATIVE, 32,561 ROWS</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591056"/>
          <a:ext cx="11027664" cy="914400"/>
        </p:xfrm>
        <a:graphic>
          <a:graphicData uri="http://schemas.openxmlformats.org/drawingml/2006/table">
            <a:tbl>
              <a:tblPr/>
              <a:tblGrid>
                <a:gridCol w="3200400"/>
                <a:gridCol w="1828800"/>
                <a:gridCol w="2011680"/>
                <a:gridCol w="2011680"/>
                <a:gridCol w="1975104"/>
              </a:tblGrid>
              <a:tr h="310896">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Engine</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Stored size</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One-off load</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Query</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Query incl. read</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CSV + pandas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5.3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44.8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357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PostgreSQL 16</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6.5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1,165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35.8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DuckDB + Parquet</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2E6F5E"/>
                          </a:solidFill>
                          <a:latin typeface="Calibri" pitchFamily="34" charset="0"/>
                          <a:ea typeface="Calibri" pitchFamily="34" charset="-122"/>
                          <a:cs typeface="Calibri" pitchFamily="34" charset="-120"/>
                        </a:rPr>
                        <a:t>0.3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2E6F5E"/>
                          </a:solidFill>
                          <a:latin typeface="Calibri" pitchFamily="34" charset="0"/>
                          <a:ea typeface="Calibri" pitchFamily="34" charset="-122"/>
                          <a:cs typeface="Calibri" pitchFamily="34" charset="-120"/>
                        </a:rPr>
                        <a:t>17.2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3127248"/>
            <a:ext cx="5486400" cy="274320"/>
          </a:xfrm>
          <a:prstGeom prst="rect">
            <a:avLst/>
          </a:prstGeom>
          <a:noFill/>
          <a:ln/>
        </p:spPr>
        <p:txBody>
          <a:bodyPr wrap="square" lIns="0" tIns="0" rIns="0" bIns="0" rtlCol="0" anchor="ctr"/>
          <a:lstStyle/>
          <a:p>
            <a:pPr indent="0" marL="0">
              <a:buNone/>
            </a:pPr>
            <a:r>
              <a:rPr lang="en-US" sz="1100" b="1" spc="100" kern="0" dirty="0">
                <a:solidFill>
                  <a:srgbClr val="5E6B77"/>
                </a:solidFill>
                <a:latin typeface="Calibri" pitchFamily="34" charset="0"/>
                <a:ea typeface="Calibri" pitchFamily="34" charset="-122"/>
                <a:cs typeface="Calibri" pitchFamily="34" charset="-120"/>
              </a:rPr>
              <a:t>SCALED, 3,256,100 ROWS</a:t>
            </a:r>
            <a:endParaRPr lang="en-US" sz="11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66928" y="3419856"/>
          <a:ext cx="11027664" cy="914400"/>
        </p:xfrm>
        <a:graphic>
          <a:graphicData uri="http://schemas.openxmlformats.org/drawingml/2006/table">
            <a:tbl>
              <a:tblPr/>
              <a:tblGrid>
                <a:gridCol w="3200400"/>
                <a:gridCol w="1828800"/>
                <a:gridCol w="2011680"/>
                <a:gridCol w="2011680"/>
                <a:gridCol w="1975104"/>
              </a:tblGrid>
              <a:tr h="310896">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Engine</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Stored size</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One-off load</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Query</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Query incl. read</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CSV + pandas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545.5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1,450.6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30,373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PostgreSQL 16</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602.7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85,017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1,263.0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DuckDB + Parquet</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2E6F5E"/>
                          </a:solidFill>
                          <a:latin typeface="Calibri" pitchFamily="34" charset="0"/>
                          <a:ea typeface="Calibri" pitchFamily="34" charset="-122"/>
                          <a:cs typeface="Calibri" pitchFamily="34" charset="-120"/>
                        </a:rPr>
                        <a:t>14.6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2E6F5E"/>
                          </a:solidFill>
                          <a:latin typeface="Calibri" pitchFamily="34" charset="0"/>
                          <a:ea typeface="Calibri" pitchFamily="34" charset="-122"/>
                          <a:cs typeface="Calibri" pitchFamily="34" charset="-120"/>
                        </a:rPr>
                        <a:t>125.1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bl>
          </a:graphicData>
        </a:graphic>
      </p:graphicFrame>
      <p:sp>
        <p:nvSpPr>
          <p:cNvPr id="8" name="Text 4"/>
          <p:cNvSpPr/>
          <p:nvPr/>
        </p:nvSpPr>
        <p:spPr>
          <a:xfrm>
            <a:off x="566928" y="5212080"/>
            <a:ext cx="11027664" cy="411480"/>
          </a:xfrm>
          <a:prstGeom prst="rect">
            <a:avLst/>
          </a:prstGeom>
          <a:noFill/>
          <a:ln/>
        </p:spPr>
        <p:txBody>
          <a:bodyPr wrap="square" lIns="0" tIns="0" rIns="0" bIns="0" rtlCol="0" anchor="t"/>
          <a:lstStyle/>
          <a:p>
            <a:pPr algn="l" indent="0" marL="0">
              <a:lnSpc>
                <a:spcPct val="115000"/>
              </a:lnSpc>
              <a:buNone/>
            </a:pPr>
            <a:r>
              <a:rPr lang="en-US" sz="1100" dirty="0">
                <a:solidFill>
                  <a:srgbClr val="5E6B77"/>
                </a:solidFill>
                <a:latin typeface="Calibri" pitchFamily="34" charset="0"/>
                <a:ea typeface="Calibri" pitchFamily="34" charset="-122"/>
                <a:cs typeface="Calibri" pitchFamily="34" charset="-120"/>
              </a:rPr>
              <a:t>Median of 7 runs after a warm-up. AMD Ryzen 5 PRO 5650U, 12 threads, 15.3 GB RAM, Windows 11. DuckDB 1.5.5, pandas 3.0.3, PostgreSQL 16.14 in Docker.</a:t>
            </a:r>
            <a:endParaRPr lang="en-US" sz="1100" dirty="0"/>
          </a:p>
        </p:txBody>
      </p:sp>
      <p:sp>
        <p:nvSpPr>
          <p:cNvPr id="9" name="Shape 5"/>
          <p:cNvSpPr/>
          <p:nvPr/>
        </p:nvSpPr>
        <p:spPr>
          <a:xfrm>
            <a:off x="566928" y="5687568"/>
            <a:ext cx="11027664" cy="731520"/>
          </a:xfrm>
          <a:prstGeom prst="roundRect">
            <a:avLst>
              <a:gd name="adj" fmla="val 7500"/>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0" name="Text 6"/>
          <p:cNvSpPr/>
          <p:nvPr/>
        </p:nvSpPr>
        <p:spPr>
          <a:xfrm>
            <a:off x="859536" y="5888736"/>
            <a:ext cx="10424160" cy="365760"/>
          </a:xfrm>
          <a:prstGeom prst="rect">
            <a:avLst/>
          </a:prstGeom>
          <a:noFill/>
          <a:ln/>
        </p:spPr>
        <p:txBody>
          <a:bodyPr wrap="square" lIns="0" tIns="0" rIns="0" bIns="0" rtlCol="0" anchor="ctr"/>
          <a:lstStyle/>
          <a:p>
            <a:pPr indent="0" marL="0">
              <a:buNone/>
            </a:pPr>
            <a:r>
              <a:rPr lang="en-US" sz="1300" dirty="0">
                <a:solidFill>
                  <a:srgbClr val="2E6F5E"/>
                </a:solidFill>
                <a:latin typeface="Calibri" pitchFamily="34" charset="0"/>
                <a:ea typeface="Calibri" pitchFamily="34" charset="-122"/>
                <a:cs typeface="Calibri" pitchFamily="34" charset="-120"/>
              </a:rPr>
              <a:t>The scaled rows are here because at 32,561 the numbers say more about process startup than about engines.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4</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What stops this being a meaningless benchmark</a:t>
            </a:r>
            <a:endParaRPr lang="en-US" sz="3200" dirty="0"/>
          </a:p>
        </p:txBody>
      </p:sp>
      <p:sp>
        <p:nvSpPr>
          <p:cNvPr id="4" name="Shape 2"/>
          <p:cNvSpPr/>
          <p:nvPr/>
        </p:nvSpPr>
        <p:spPr>
          <a:xfrm>
            <a:off x="566928" y="1371600"/>
            <a:ext cx="11027664" cy="987552"/>
          </a:xfrm>
          <a:prstGeom prst="roundRect">
            <a:avLst>
              <a:gd name="adj" fmla="val 5556"/>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5" name="Shape 3"/>
          <p:cNvSpPr/>
          <p:nvPr/>
        </p:nvSpPr>
        <p:spPr>
          <a:xfrm>
            <a:off x="841248" y="1664208"/>
            <a:ext cx="384048" cy="384048"/>
          </a:xfrm>
          <a:prstGeom prst="ellipse">
            <a:avLst/>
          </a:prstGeom>
          <a:solidFill>
            <a:srgbClr val="24303A"/>
          </a:solidFill>
          <a:ln w="12700">
            <a:solidFill>
              <a:srgbClr val="24303A"/>
            </a:solidFill>
            <a:prstDash val="solid"/>
          </a:ln>
        </p:spPr>
      </p:sp>
      <p:sp>
        <p:nvSpPr>
          <p:cNvPr id="6" name="Text 4"/>
          <p:cNvSpPr/>
          <p:nvPr/>
        </p:nvSpPr>
        <p:spPr>
          <a:xfrm>
            <a:off x="841248" y="16642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35608" y="1517904"/>
            <a:ext cx="9875520" cy="320040"/>
          </a:xfrm>
          <a:prstGeom prst="rect">
            <a:avLst/>
          </a:prstGeom>
          <a:noFill/>
          <a:ln/>
        </p:spPr>
        <p:txBody>
          <a:bodyPr wrap="square" lIns="0" tIns="0" rIns="0" bIns="0" rtlCol="0" anchor="ctr"/>
          <a:lstStyle/>
          <a:p>
            <a:pPr indent="0" marL="0">
              <a:buNone/>
            </a:pPr>
            <a:r>
              <a:rPr lang="en-US" sz="1600" b="1" dirty="0">
                <a:solidFill>
                  <a:srgbClr val="24303A"/>
                </a:solidFill>
                <a:latin typeface="Cambria" pitchFamily="34" charset="0"/>
                <a:ea typeface="Cambria" pitchFamily="34" charset="-122"/>
                <a:cs typeface="Cambria" pitchFamily="34" charset="-120"/>
              </a:rPr>
              <a:t>All three engines see identical data</a:t>
            </a:r>
            <a:endParaRPr lang="en-US" sz="1600" dirty="0"/>
          </a:p>
        </p:txBody>
      </p:sp>
      <p:sp>
        <p:nvSpPr>
          <p:cNvPr id="8" name="Text 6"/>
          <p:cNvSpPr/>
          <p:nvPr/>
        </p:nvSpPr>
        <p:spPr>
          <a:xfrm>
            <a:off x="1435608" y="1865376"/>
            <a:ext cx="9875520" cy="438912"/>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Benchmarking the raw CSV against the cleaned warehouse would compare question marks and 99999 against nulls and flags. One denormalised table is written to all three formats.</a:t>
            </a:r>
            <a:endParaRPr lang="en-US" sz="1250" dirty="0"/>
          </a:p>
        </p:txBody>
      </p:sp>
      <p:sp>
        <p:nvSpPr>
          <p:cNvPr id="9" name="Shape 7"/>
          <p:cNvSpPr/>
          <p:nvPr/>
        </p:nvSpPr>
        <p:spPr>
          <a:xfrm>
            <a:off x="566928" y="2505456"/>
            <a:ext cx="11027664" cy="987552"/>
          </a:xfrm>
          <a:prstGeom prst="roundRect">
            <a:avLst>
              <a:gd name="adj" fmla="val 5556"/>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10" name="Shape 8"/>
          <p:cNvSpPr/>
          <p:nvPr/>
        </p:nvSpPr>
        <p:spPr>
          <a:xfrm>
            <a:off x="841248" y="2798064"/>
            <a:ext cx="384048" cy="384048"/>
          </a:xfrm>
          <a:prstGeom prst="ellipse">
            <a:avLst/>
          </a:prstGeom>
          <a:solidFill>
            <a:srgbClr val="24303A"/>
          </a:solidFill>
          <a:ln w="12700">
            <a:solidFill>
              <a:srgbClr val="24303A"/>
            </a:solidFill>
            <a:prstDash val="solid"/>
          </a:ln>
        </p:spPr>
      </p:sp>
      <p:sp>
        <p:nvSpPr>
          <p:cNvPr id="11" name="Text 9"/>
          <p:cNvSpPr/>
          <p:nvPr/>
        </p:nvSpPr>
        <p:spPr>
          <a:xfrm>
            <a:off x="841248" y="27980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35608" y="2651760"/>
            <a:ext cx="9875520" cy="320040"/>
          </a:xfrm>
          <a:prstGeom prst="rect">
            <a:avLst/>
          </a:prstGeom>
          <a:noFill/>
          <a:ln/>
        </p:spPr>
        <p:txBody>
          <a:bodyPr wrap="square" lIns="0" tIns="0" rIns="0" bIns="0" rtlCol="0" anchor="ctr"/>
          <a:lstStyle/>
          <a:p>
            <a:pPr indent="0" marL="0">
              <a:buNone/>
            </a:pPr>
            <a:r>
              <a:rPr lang="en-US" sz="1600" b="1" dirty="0">
                <a:solidFill>
                  <a:srgbClr val="24303A"/>
                </a:solidFill>
                <a:latin typeface="Cambria" pitchFamily="34" charset="0"/>
                <a:ea typeface="Cambria" pitchFamily="34" charset="-122"/>
                <a:cs typeface="Cambria" pitchFamily="34" charset="-120"/>
              </a:rPr>
              <a:t>The answers are checked before any timing is reported</a:t>
            </a:r>
            <a:endParaRPr lang="en-US" sz="1600" dirty="0"/>
          </a:p>
        </p:txBody>
      </p:sp>
      <p:sp>
        <p:nvSpPr>
          <p:cNvPr id="13" name="Text 11"/>
          <p:cNvSpPr/>
          <p:nvPr/>
        </p:nvSpPr>
        <p:spPr>
          <a:xfrm>
            <a:off x="1435608" y="2999232"/>
            <a:ext cx="9875520" cy="438912"/>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All three return the same 87 groups, and the script refuses to print a timing if they disagree. A fast engine computing a different answer is not a result.</a:t>
            </a:r>
            <a:endParaRPr lang="en-US" sz="1250" dirty="0"/>
          </a:p>
        </p:txBody>
      </p:sp>
      <p:sp>
        <p:nvSpPr>
          <p:cNvPr id="14" name="Shape 12"/>
          <p:cNvSpPr/>
          <p:nvPr/>
        </p:nvSpPr>
        <p:spPr>
          <a:xfrm>
            <a:off x="566928" y="3639312"/>
            <a:ext cx="11027664" cy="987552"/>
          </a:xfrm>
          <a:prstGeom prst="roundRect">
            <a:avLst>
              <a:gd name="adj" fmla="val 5556"/>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15" name="Shape 13"/>
          <p:cNvSpPr/>
          <p:nvPr/>
        </p:nvSpPr>
        <p:spPr>
          <a:xfrm>
            <a:off x="841248" y="3931920"/>
            <a:ext cx="384048" cy="384048"/>
          </a:xfrm>
          <a:prstGeom prst="ellipse">
            <a:avLst/>
          </a:prstGeom>
          <a:solidFill>
            <a:srgbClr val="24303A"/>
          </a:solidFill>
          <a:ln w="12700">
            <a:solidFill>
              <a:srgbClr val="24303A"/>
            </a:solidFill>
            <a:prstDash val="solid"/>
          </a:ln>
        </p:spPr>
      </p:sp>
      <p:sp>
        <p:nvSpPr>
          <p:cNvPr id="16" name="Text 14"/>
          <p:cNvSpPr/>
          <p:nvPr/>
        </p:nvSpPr>
        <p:spPr>
          <a:xfrm>
            <a:off x="841248" y="39319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435608" y="3785616"/>
            <a:ext cx="9875520" cy="320040"/>
          </a:xfrm>
          <a:prstGeom prst="rect">
            <a:avLst/>
          </a:prstGeom>
          <a:noFill/>
          <a:ln/>
        </p:spPr>
        <p:txBody>
          <a:bodyPr wrap="square" lIns="0" tIns="0" rIns="0" bIns="0" rtlCol="0" anchor="ctr"/>
          <a:lstStyle/>
          <a:p>
            <a:pPr indent="0" marL="0">
              <a:buNone/>
            </a:pPr>
            <a:r>
              <a:rPr lang="en-US" sz="1600" b="1" dirty="0">
                <a:solidFill>
                  <a:srgbClr val="24303A"/>
                </a:solidFill>
                <a:latin typeface="Cambria" pitchFamily="34" charset="0"/>
                <a:ea typeface="Cambria" pitchFamily="34" charset="-122"/>
                <a:cs typeface="Cambria" pitchFamily="34" charset="-120"/>
              </a:rPr>
              <a:t>Load cost is separated from query cost</a:t>
            </a:r>
            <a:endParaRPr lang="en-US" sz="1600" dirty="0"/>
          </a:p>
        </p:txBody>
      </p:sp>
      <p:sp>
        <p:nvSpPr>
          <p:cNvPr id="18" name="Text 16"/>
          <p:cNvSpPr/>
          <p:nvPr/>
        </p:nvSpPr>
        <p:spPr>
          <a:xfrm>
            <a:off x="1435608" y="4133088"/>
            <a:ext cx="9875520" cy="438912"/>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pandas pays the file read on every run. The databases pay it once. Reporting only per-query time flatters pandas, and only total time flatters the databases, so both are shown.</a:t>
            </a:r>
            <a:endParaRPr lang="en-US" sz="1250" dirty="0"/>
          </a:p>
        </p:txBody>
      </p:sp>
      <p:sp>
        <p:nvSpPr>
          <p:cNvPr id="19" name="Shape 17"/>
          <p:cNvSpPr/>
          <p:nvPr/>
        </p:nvSpPr>
        <p:spPr>
          <a:xfrm>
            <a:off x="566928" y="4937760"/>
            <a:ext cx="11027664" cy="1325880"/>
          </a:xfrm>
          <a:prstGeom prst="roundRect">
            <a:avLst>
              <a:gd name="adj" fmla="val 4138"/>
            </a:avLst>
          </a:prstGeom>
          <a:solidFill>
            <a:srgbClr val="F6E9E7"/>
          </a:solidFill>
          <a:ln w="12700">
            <a:solidFill>
              <a:srgbClr val="F6E9E7"/>
            </a:solidFill>
            <a:prstDash val="solid"/>
          </a:ln>
          <a:effectLst>
            <a:outerShdw sx="100000" sy="100000" kx="0" ky="0" algn="bl" rotWithShape="0" blurRad="101600" dist="12700" dir="5400000">
              <a:srgbClr val="9AA5AE">
                <a:alpha val="25000"/>
              </a:srgbClr>
            </a:outerShdw>
          </a:effectLst>
        </p:spPr>
      </p:sp>
      <p:sp>
        <p:nvSpPr>
          <p:cNvPr id="20" name="Text 18"/>
          <p:cNvSpPr/>
          <p:nvPr/>
        </p:nvSpPr>
        <p:spPr>
          <a:xfrm>
            <a:off x="859536" y="5120640"/>
            <a:ext cx="10424160" cy="320040"/>
          </a:xfrm>
          <a:prstGeom prst="rect">
            <a:avLst/>
          </a:prstGeom>
          <a:noFill/>
          <a:ln/>
        </p:spPr>
        <p:txBody>
          <a:bodyPr wrap="square" lIns="0" tIns="0" rIns="0" bIns="0" rtlCol="0" anchor="ctr"/>
          <a:lstStyle/>
          <a:p>
            <a:pPr indent="0" marL="0">
              <a:buNone/>
            </a:pPr>
            <a:r>
              <a:rPr lang="en-US" sz="1600" b="1" dirty="0">
                <a:solidFill>
                  <a:srgbClr val="B3453A"/>
                </a:solidFill>
                <a:latin typeface="Cambria" pitchFamily="34" charset="0"/>
                <a:ea typeface="Cambria" pitchFamily="34" charset="-122"/>
                <a:cs typeface="Cambria" pitchFamily="34" charset="-120"/>
              </a:rPr>
              <a:t>One figure had to be thrown away</a:t>
            </a:r>
            <a:endParaRPr lang="en-US" sz="1600" dirty="0"/>
          </a:p>
        </p:txBody>
      </p:sp>
      <p:sp>
        <p:nvSpPr>
          <p:cNvPr id="21" name="Text 19"/>
          <p:cNvSpPr/>
          <p:nvPr/>
        </p:nvSpPr>
        <p:spPr>
          <a:xfrm>
            <a:off x="859536" y="5477256"/>
            <a:ext cx="10424160" cy="658368"/>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The first scaled run put Parquet at 2.4 MB against 535 MB of CSV, a ratio of 223. That was an artifact of replicating rows: the columns became perfectly repetitive and compressed into almost nothing. No real dataset behaves that way, so the quoted storage figure is the native one.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4</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Run it on another machine and one result inverts</a:t>
            </a:r>
            <a:endParaRPr lang="en-US" sz="3200" dirty="0"/>
          </a:p>
        </p:txBody>
      </p:sp>
      <p:sp>
        <p:nvSpPr>
          <p:cNvPr id="4" name="Text 2"/>
          <p:cNvSpPr/>
          <p:nvPr/>
        </p:nvSpPr>
        <p:spPr>
          <a:xfrm>
            <a:off x="566928" y="1298448"/>
            <a:ext cx="11027664" cy="411480"/>
          </a:xfrm>
          <a:prstGeom prst="rect">
            <a:avLst/>
          </a:prstGeom>
          <a:noFill/>
          <a:ln/>
        </p:spPr>
        <p:txBody>
          <a:bodyPr wrap="square" lIns="0" tIns="0" rIns="0" bIns="0" rtlCol="0" anchor="t"/>
          <a:lstStyle/>
          <a:p>
            <a:pPr algn="l" indent="0" marL="0">
              <a:lnSpc>
                <a:spcPct val="115000"/>
              </a:lnSpc>
              <a:buNone/>
            </a:pPr>
            <a:r>
              <a:rPr lang="en-US" sz="1450" dirty="0">
                <a:solidFill>
                  <a:srgbClr val="24303A"/>
                </a:solidFill>
                <a:latin typeface="Calibri" pitchFamily="34" charset="0"/>
                <a:ea typeface="Calibri" pitchFamily="34" charset="-122"/>
                <a:cs typeface="Calibri" pitchFamily="34" charset="-120"/>
              </a:rPr>
              <a:t>The same benchmark, run again inside Colab on different hardware, with PostgreSQL 14 instead of 16.</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27664" cy="914400"/>
        </p:xfrm>
        <a:graphic>
          <a:graphicData uri="http://schemas.openxmlformats.org/drawingml/2006/table">
            <a:tbl>
              <a:tblPr/>
              <a:tblGrid>
                <a:gridCol w="3566160"/>
                <a:gridCol w="1828800"/>
                <a:gridCol w="1920240"/>
                <a:gridCol w="1828800"/>
                <a:gridCol w="1883664"/>
              </a:tblGrid>
              <a:tr h="310896">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Run</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Rows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CSV + pandas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PostgreSQL</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DuckDB + Parquet</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Local, PostgreSQL 16.14</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3,256,100</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1,450.6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1,263.0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2E6F5E"/>
                          </a:solidFill>
                          <a:latin typeface="Calibri" pitchFamily="34" charset="0"/>
                          <a:ea typeface="Calibri" pitchFamily="34" charset="-122"/>
                          <a:cs typeface="Calibri" pitchFamily="34" charset="-120"/>
                        </a:rPr>
                        <a:t>125.1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Colab, PostgreSQL 14.24</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1,628,050</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551.9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760.2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2E6F5E"/>
                          </a:solidFill>
                          <a:latin typeface="Calibri" pitchFamily="34" charset="0"/>
                          <a:ea typeface="Calibri" pitchFamily="34" charset="-122"/>
                          <a:cs typeface="Calibri" pitchFamily="34" charset="-120"/>
                        </a:rPr>
                        <a:t>107.5 ms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3127248"/>
            <a:ext cx="11027664" cy="365760"/>
          </a:xfrm>
          <a:prstGeom prst="rect">
            <a:avLst/>
          </a:prstGeom>
          <a:noFill/>
          <a:ln/>
        </p:spPr>
        <p:txBody>
          <a:bodyPr wrap="square" lIns="0" tIns="0" rIns="0" bIns="0" rtlCol="0" anchor="ctr"/>
          <a:lstStyle/>
          <a:p>
            <a:pPr indent="0" marL="0">
              <a:buNone/>
            </a:pPr>
            <a:r>
              <a:rPr lang="en-US" sz="1900" b="1" dirty="0">
                <a:solidFill>
                  <a:srgbClr val="24303A"/>
                </a:solidFill>
                <a:latin typeface="Cambria" pitchFamily="34" charset="0"/>
                <a:ea typeface="Cambria" pitchFamily="34" charset="-122"/>
                <a:cs typeface="Cambria" pitchFamily="34" charset="-120"/>
              </a:rPr>
              <a:t>PostgreSQL beat pandas on one run and lost to it on the other</a:t>
            </a:r>
            <a:endParaRPr lang="en-US" sz="1900" dirty="0"/>
          </a:p>
        </p:txBody>
      </p:sp>
      <p:sp>
        <p:nvSpPr>
          <p:cNvPr id="7" name="Text 4"/>
          <p:cNvSpPr/>
          <p:nvPr/>
        </p:nvSpPr>
        <p:spPr>
          <a:xfrm>
            <a:off x="566928" y="3566160"/>
            <a:ext cx="11027664" cy="731520"/>
          </a:xfrm>
          <a:prstGeom prst="rect">
            <a:avLst/>
          </a:prstGeom>
          <a:noFill/>
          <a:ln/>
        </p:spPr>
        <p:txBody>
          <a:bodyPr wrap="square" lIns="0" tIns="0" rIns="0" bIns="0" rtlCol="0" anchor="t"/>
          <a:lstStyle/>
          <a:p>
            <a:pPr algn="l" indent="0" marL="0">
              <a:lnSpc>
                <a:spcPct val="115000"/>
              </a:lnSpc>
              <a:buNone/>
            </a:pPr>
            <a:r>
              <a:rPr lang="en-US" sz="1350" dirty="0">
                <a:solidFill>
                  <a:srgbClr val="24303A"/>
                </a:solidFill>
                <a:latin typeface="Calibri" pitchFamily="34" charset="0"/>
                <a:ea typeface="Calibri" pitchFamily="34" charset="-122"/>
                <a:cs typeface="Calibri" pitchFamily="34" charset="-120"/>
              </a:rPr>
              <a:t>Three things differ between those two rows at once: the row count, the PostgreSQL version and the machine. The inversion cannot be pinned on any one of them without further work, and claiming otherwise would be exactly the thing this lab is named after.</a:t>
            </a:r>
            <a:endParaRPr lang="en-US" sz="1350" dirty="0"/>
          </a:p>
        </p:txBody>
      </p:sp>
      <p:sp>
        <p:nvSpPr>
          <p:cNvPr id="8" name="Shape 5"/>
          <p:cNvSpPr/>
          <p:nvPr/>
        </p:nvSpPr>
        <p:spPr>
          <a:xfrm>
            <a:off x="566928" y="4480560"/>
            <a:ext cx="5394960" cy="1737360"/>
          </a:xfrm>
          <a:prstGeom prst="roundRect">
            <a:avLst>
              <a:gd name="adj" fmla="val 3158"/>
            </a:avLst>
          </a:prstGeom>
          <a:solidFill>
            <a:srgbClr val="F6E9E7"/>
          </a:solidFill>
          <a:ln w="12700">
            <a:solidFill>
              <a:srgbClr val="F6E9E7"/>
            </a:solidFill>
            <a:prstDash val="solid"/>
          </a:ln>
          <a:effectLst>
            <a:outerShdw sx="100000" sy="100000" kx="0" ky="0" algn="bl" rotWithShape="0" blurRad="101600" dist="12700" dir="5400000">
              <a:srgbClr val="9AA5AE">
                <a:alpha val="25000"/>
              </a:srgbClr>
            </a:outerShdw>
          </a:effectLst>
        </p:spPr>
      </p:sp>
      <p:sp>
        <p:nvSpPr>
          <p:cNvPr id="9" name="Text 6"/>
          <p:cNvSpPr/>
          <p:nvPr/>
        </p:nvSpPr>
        <p:spPr>
          <a:xfrm>
            <a:off x="841248" y="4663440"/>
            <a:ext cx="4846320" cy="292608"/>
          </a:xfrm>
          <a:prstGeom prst="rect">
            <a:avLst/>
          </a:prstGeom>
          <a:noFill/>
          <a:ln/>
        </p:spPr>
        <p:txBody>
          <a:bodyPr wrap="square" lIns="0" tIns="0" rIns="0" bIns="0" rtlCol="0" anchor="ctr"/>
          <a:lstStyle/>
          <a:p>
            <a:pPr indent="0" marL="0">
              <a:buNone/>
            </a:pPr>
            <a:r>
              <a:rPr lang="en-US" sz="1500" b="1" dirty="0">
                <a:solidFill>
                  <a:srgbClr val="B3453A"/>
                </a:solidFill>
                <a:latin typeface="Cambria" pitchFamily="34" charset="0"/>
                <a:ea typeface="Cambria" pitchFamily="34" charset="-122"/>
                <a:cs typeface="Cambria" pitchFamily="34" charset="-120"/>
              </a:rPr>
              <a:t>What does not survive</a:t>
            </a:r>
            <a:endParaRPr lang="en-US" sz="1500" dirty="0"/>
          </a:p>
        </p:txBody>
      </p:sp>
      <p:sp>
        <p:nvSpPr>
          <p:cNvPr id="10" name="Text 7"/>
          <p:cNvSpPr/>
          <p:nvPr/>
        </p:nvSpPr>
        <p:spPr>
          <a:xfrm>
            <a:off x="841248" y="5010912"/>
            <a:ext cx="4846320" cy="105156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The gap between pandas and PostgreSQL on this query is small enough to invert when the environment changes. Neither figure is a fact about the engines.</a:t>
            </a:r>
            <a:endParaRPr lang="en-US" sz="1250" dirty="0"/>
          </a:p>
        </p:txBody>
      </p:sp>
      <p:sp>
        <p:nvSpPr>
          <p:cNvPr id="11" name="Shape 8"/>
          <p:cNvSpPr/>
          <p:nvPr/>
        </p:nvSpPr>
        <p:spPr>
          <a:xfrm>
            <a:off x="6217920" y="4480560"/>
            <a:ext cx="5376672" cy="1737360"/>
          </a:xfrm>
          <a:prstGeom prst="roundRect">
            <a:avLst>
              <a:gd name="adj" fmla="val 3158"/>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2" name="Text 9"/>
          <p:cNvSpPr/>
          <p:nvPr/>
        </p:nvSpPr>
        <p:spPr>
          <a:xfrm>
            <a:off x="6492240" y="4663440"/>
            <a:ext cx="4846320" cy="292608"/>
          </a:xfrm>
          <a:prstGeom prst="rect">
            <a:avLst/>
          </a:prstGeom>
          <a:noFill/>
          <a:ln/>
        </p:spPr>
        <p:txBody>
          <a:bodyPr wrap="square" lIns="0" tIns="0" rIns="0" bIns="0" rtlCol="0" anchor="ctr"/>
          <a:lstStyle/>
          <a:p>
            <a:pPr indent="0" marL="0">
              <a:buNone/>
            </a:pPr>
            <a:r>
              <a:rPr lang="en-US" sz="1500" b="1" dirty="0">
                <a:solidFill>
                  <a:srgbClr val="2E6F5E"/>
                </a:solidFill>
                <a:latin typeface="Cambria" pitchFamily="34" charset="0"/>
                <a:ea typeface="Cambria" pitchFamily="34" charset="-122"/>
                <a:cs typeface="Cambria" pitchFamily="34" charset="-120"/>
              </a:rPr>
              <a:t>What does survive</a:t>
            </a:r>
            <a:endParaRPr lang="en-US" sz="1500" dirty="0"/>
          </a:p>
        </p:txBody>
      </p:sp>
      <p:sp>
        <p:nvSpPr>
          <p:cNvPr id="13" name="Text 10"/>
          <p:cNvSpPr/>
          <p:nvPr/>
        </p:nvSpPr>
        <p:spPr>
          <a:xfrm>
            <a:off x="6492240" y="5010912"/>
            <a:ext cx="4846320" cy="105156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DuckDB with Parquet was between four and ten times faster than the next engine in both environments. That is the only part of the result the verdict rests on.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4</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Which tool we would choose, and why</a:t>
            </a:r>
            <a:endParaRPr lang="en-US" sz="3200" dirty="0"/>
          </a:p>
        </p:txBody>
      </p:sp>
      <p:sp>
        <p:nvSpPr>
          <p:cNvPr id="4" name="Shape 2"/>
          <p:cNvSpPr/>
          <p:nvPr/>
        </p:nvSpPr>
        <p:spPr>
          <a:xfrm>
            <a:off x="566928" y="1371600"/>
            <a:ext cx="11027664" cy="1005840"/>
          </a:xfrm>
          <a:prstGeom prst="roundRect">
            <a:avLst>
              <a:gd name="adj" fmla="val 5455"/>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5" name="Text 3"/>
          <p:cNvSpPr/>
          <p:nvPr/>
        </p:nvSpPr>
        <p:spPr>
          <a:xfrm>
            <a:off x="859536" y="1609344"/>
            <a:ext cx="10424160" cy="548640"/>
          </a:xfrm>
          <a:prstGeom prst="rect">
            <a:avLst/>
          </a:prstGeom>
          <a:noFill/>
          <a:ln/>
        </p:spPr>
        <p:txBody>
          <a:bodyPr wrap="square" lIns="0" tIns="0" rIns="0" bIns="0" rtlCol="0" anchor="ctr"/>
          <a:lstStyle/>
          <a:p>
            <a:pPr indent="0" marL="0">
              <a:buNone/>
            </a:pPr>
            <a:r>
              <a:rPr lang="en-US" sz="1500" dirty="0">
                <a:solidFill>
                  <a:srgbClr val="24303A"/>
                </a:solidFill>
                <a:latin typeface="Calibri" pitchFamily="34" charset="0"/>
                <a:ea typeface="Calibri" pitchFamily="34" charset="-122"/>
                <a:cs typeface="Calibri" pitchFamily="34" charset="-120"/>
              </a:rPr>
              <a:t>At 32,561 rows every engine answers in under 50 milliseconds, so for this dataset as it stands today, speed is not what decides the question.</a:t>
            </a:r>
            <a:endParaRPr lang="en-US" sz="1500" dirty="0"/>
          </a:p>
        </p:txBody>
      </p:sp>
      <p:sp>
        <p:nvSpPr>
          <p:cNvPr id="6" name="Shape 4"/>
          <p:cNvSpPr/>
          <p:nvPr/>
        </p:nvSpPr>
        <p:spPr>
          <a:xfrm>
            <a:off x="566928" y="2560320"/>
            <a:ext cx="11027664" cy="1645920"/>
          </a:xfrm>
          <a:prstGeom prst="roundRect">
            <a:avLst>
              <a:gd name="adj" fmla="val 3333"/>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7" name="Text 5"/>
          <p:cNvSpPr/>
          <p:nvPr/>
        </p:nvSpPr>
        <p:spPr>
          <a:xfrm>
            <a:off x="859536" y="2761488"/>
            <a:ext cx="10424160" cy="411480"/>
          </a:xfrm>
          <a:prstGeom prst="rect">
            <a:avLst/>
          </a:prstGeom>
          <a:noFill/>
          <a:ln/>
        </p:spPr>
        <p:txBody>
          <a:bodyPr wrap="square" lIns="0" tIns="0" rIns="0" bIns="0" rtlCol="0" anchor="ctr"/>
          <a:lstStyle/>
          <a:p>
            <a:pPr indent="0" marL="0">
              <a:buNone/>
            </a:pPr>
            <a:r>
              <a:rPr lang="en-US" sz="2600" b="1" dirty="0">
                <a:solidFill>
                  <a:srgbClr val="2E6F5E"/>
                </a:solidFill>
                <a:latin typeface="Cambria" pitchFamily="34" charset="0"/>
                <a:ea typeface="Cambria" pitchFamily="34" charset="-122"/>
                <a:cs typeface="Cambria" pitchFamily="34" charset="-120"/>
              </a:rPr>
              <a:t>DuckDB with Parquet</a:t>
            </a:r>
            <a:endParaRPr lang="en-US" sz="2600" dirty="0"/>
          </a:p>
        </p:txBody>
      </p:sp>
      <p:sp>
        <p:nvSpPr>
          <p:cNvPr id="8" name="Text 6"/>
          <p:cNvSpPr/>
          <p:nvPr/>
        </p:nvSpPr>
        <p:spPr>
          <a:xfrm>
            <a:off x="859536" y="3273552"/>
            <a:ext cx="10424160" cy="731520"/>
          </a:xfrm>
          <a:prstGeom prst="rect">
            <a:avLst/>
          </a:prstGeom>
          <a:noFill/>
          <a:ln/>
        </p:spPr>
        <p:txBody>
          <a:bodyPr wrap="square" lIns="0" tIns="0" rIns="0" bIns="0" rtlCol="0" anchor="ctr"/>
          <a:lstStyle/>
          <a:p>
            <a:pPr indent="0" marL="0">
              <a:buNone/>
            </a:pPr>
            <a:r>
              <a:rPr lang="en-US" sz="1500" dirty="0">
                <a:solidFill>
                  <a:srgbClr val="24303A"/>
                </a:solidFill>
                <a:latin typeface="Calibri" pitchFamily="34" charset="0"/>
                <a:ea typeface="Calibri" pitchFamily="34" charset="-122"/>
                <a:cs typeface="Calibri" pitchFamily="34" charset="-120"/>
              </a:rPr>
              <a:t>Fastest of the three at both sizes. The file is seventeen times smaller than the CSV. And it needs no server running before anyone can ask a question.</a:t>
            </a:r>
            <a:endParaRPr lang="en-US" sz="1500" dirty="0"/>
          </a:p>
        </p:txBody>
      </p:sp>
      <p:sp>
        <p:nvSpPr>
          <p:cNvPr id="9" name="Shape 7"/>
          <p:cNvSpPr/>
          <p:nvPr/>
        </p:nvSpPr>
        <p:spPr>
          <a:xfrm>
            <a:off x="566928" y="4370832"/>
            <a:ext cx="11027664" cy="1234440"/>
          </a:xfrm>
          <a:prstGeom prst="roundRect">
            <a:avLst>
              <a:gd name="adj" fmla="val 4444"/>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10" name="Text 8"/>
          <p:cNvSpPr/>
          <p:nvPr/>
        </p:nvSpPr>
        <p:spPr>
          <a:xfrm>
            <a:off x="859536" y="4590288"/>
            <a:ext cx="10424160" cy="822960"/>
          </a:xfrm>
          <a:prstGeom prst="rect">
            <a:avLst/>
          </a:prstGeom>
          <a:noFill/>
          <a:ln/>
        </p:spPr>
        <p:txBody>
          <a:bodyPr wrap="square" lIns="0" tIns="0" rIns="0" bIns="0" rtlCol="0" anchor="ctr"/>
          <a:lstStyle/>
          <a:p>
            <a:pPr indent="0" marL="0">
              <a:buNone/>
            </a:pPr>
            <a:r>
              <a:rPr lang="en-US" sz="1500" dirty="0">
                <a:solidFill>
                  <a:srgbClr val="24303A"/>
                </a:solidFill>
                <a:latin typeface="Calibri" pitchFamily="34" charset="0"/>
                <a:ea typeface="Calibri" pitchFamily="34" charset="-122"/>
                <a:cs typeface="Calibri" pitchFamily="34" charset="-120"/>
              </a:rPr>
              <a:t>PostgreSQL earns its load time and its extra disk only when several people write at once and the data has to survive a crash, and neither is true of a coursework warehouse that one analyst rebuilds from a clone in seconds.</a:t>
            </a:r>
            <a:endParaRPr lang="en-US" sz="1500" dirty="0"/>
          </a:p>
        </p:txBody>
      </p:sp>
      <p:sp>
        <p:nvSpPr>
          <p:cNvPr id="11" name="Text 9"/>
          <p:cNvSpPr/>
          <p:nvPr/>
        </p:nvSpPr>
        <p:spPr>
          <a:xfrm>
            <a:off x="566928" y="5806440"/>
            <a:ext cx="11027664" cy="36576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Reproduce with:  python scripts/benchmark.py</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2103120"/>
            <a:ext cx="5486400" cy="365760"/>
          </a:xfrm>
          <a:prstGeom prst="rect">
            <a:avLst/>
          </a:prstGeom>
          <a:noFill/>
          <a:ln/>
        </p:spPr>
        <p:txBody>
          <a:bodyPr wrap="square" lIns="0" tIns="0" rIns="0" bIns="0" rtlCol="0" anchor="ctr"/>
          <a:lstStyle/>
          <a:p>
            <a:pPr indent="0" marL="0">
              <a:buNone/>
            </a:pPr>
            <a:r>
              <a:rPr lang="en-US" sz="1300" b="1" spc="300" kern="0" dirty="0">
                <a:solidFill>
                  <a:srgbClr val="8FC3B2"/>
                </a:solidFill>
                <a:latin typeface="Calibri" pitchFamily="34" charset="0"/>
                <a:ea typeface="Calibri" pitchFamily="34" charset="-122"/>
                <a:cs typeface="Calibri" pitchFamily="34" charset="-120"/>
              </a:rPr>
              <a:t>LAB 5</a:t>
            </a:r>
            <a:endParaRPr lang="en-US" sz="1300" dirty="0"/>
          </a:p>
        </p:txBody>
      </p:sp>
      <p:sp>
        <p:nvSpPr>
          <p:cNvPr id="3" name="Text 1"/>
          <p:cNvSpPr/>
          <p:nvPr/>
        </p:nvSpPr>
        <p:spPr>
          <a:xfrm>
            <a:off x="566928" y="25146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Touch a real cloud warehouse</a:t>
            </a:r>
            <a:endParaRPr lang="en-US" sz="4000" dirty="0"/>
          </a:p>
        </p:txBody>
      </p:sp>
      <p:sp>
        <p:nvSpPr>
          <p:cNvPr id="4" name="Text 2"/>
          <p:cNvSpPr/>
          <p:nvPr/>
        </p:nvSpPr>
        <p:spPr>
          <a:xfrm>
            <a:off x="566928" y="3520440"/>
            <a:ext cx="10332720" cy="457200"/>
          </a:xfrm>
          <a:prstGeom prst="rect">
            <a:avLst/>
          </a:prstGeom>
          <a:noFill/>
          <a:ln/>
        </p:spPr>
        <p:txBody>
          <a:bodyPr wrap="square" lIns="0" tIns="0" rIns="0" bIns="0" rtlCol="0" anchor="ctr"/>
          <a:lstStyle/>
          <a:p>
            <a:pPr indent="0" marL="0">
              <a:buNone/>
            </a:pPr>
            <a:r>
              <a:rPr lang="en-US" sz="1600" dirty="0">
                <a:solidFill>
                  <a:srgbClr val="A8B4BE"/>
                </a:solidFill>
                <a:latin typeface="Calibri" pitchFamily="34" charset="0"/>
                <a:ea typeface="Calibri" pitchFamily="34" charset="-122"/>
                <a:cs typeface="Calibri" pitchFamily="34" charset="-120"/>
              </a:rPr>
              <a:t>Load a sample into the BigQuery sandbox, run one aggregate, and write down the bytes processed. That number is the cost driver.</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5</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We priced the query before we ran it</a:t>
            </a:r>
            <a:endParaRPr lang="en-US" sz="3200" dirty="0"/>
          </a:p>
        </p:txBody>
      </p:sp>
      <p:sp>
        <p:nvSpPr>
          <p:cNvPr id="4" name="Text 2"/>
          <p:cNvSpPr/>
          <p:nvPr/>
        </p:nvSpPr>
        <p:spPr>
          <a:xfrm>
            <a:off x="566928" y="1298448"/>
            <a:ext cx="11027664" cy="457200"/>
          </a:xfrm>
          <a:prstGeom prst="rect">
            <a:avLst/>
          </a:prstGeom>
          <a:noFill/>
          <a:ln/>
        </p:spPr>
        <p:txBody>
          <a:bodyPr wrap="square" lIns="0" tIns="0" rIns="0" bIns="0" rtlCol="0" anchor="t"/>
          <a:lstStyle/>
          <a:p>
            <a:pPr algn="l" indent="0" marL="0">
              <a:lnSpc>
                <a:spcPct val="115000"/>
              </a:lnSpc>
              <a:buNone/>
            </a:pPr>
            <a:r>
              <a:rPr lang="en-US" sz="1450" dirty="0">
                <a:solidFill>
                  <a:srgbClr val="24303A"/>
                </a:solidFill>
                <a:latin typeface="Calibri" pitchFamily="34" charset="0"/>
                <a:ea typeface="Calibri" pitchFamily="34" charset="-122"/>
                <a:cs typeface="Calibri" pitchFamily="34" charset="-120"/>
              </a:rPr>
              <a:t>BigQuery bills for bytes read. Column widths are fixed by type, a NULL costs nothing, and a query reads only the columns it names, so the scan is arithmetic. We computed it before opening the sandbox.</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27664" cy="914400"/>
        </p:xfrm>
        <a:graphic>
          <a:graphicData uri="http://schemas.openxmlformats.org/drawingml/2006/table">
            <a:tbl>
              <a:tblPr/>
              <a:tblGrid>
                <a:gridCol w="3840480"/>
                <a:gridCol w="2103120"/>
                <a:gridCol w="1737360"/>
                <a:gridCol w="1645920"/>
                <a:gridCol w="1700784"/>
              </a:tblGrid>
              <a:tr h="310896">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Query</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Predicted</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Measured</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Billed</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Agrees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24303A"/>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The aggregate, six columns referenced</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1,898,872 bytes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2E6F5E"/>
                          </a:solidFill>
                          <a:latin typeface="Calibri" pitchFamily="34" charset="0"/>
                          <a:ea typeface="Calibri" pitchFamily="34" charset="-122"/>
                          <a:cs typeface="Calibri" pitchFamily="34" charset="-120"/>
                        </a:rPr>
                        <a:t>1.81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10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exact</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r h="310896">
                <a:tc>
                  <a:txBody>
                    <a:bodyPr/>
                    <a:lstStyle/>
                    <a:p>
                      <a:pPr algn="l" indent="0" marL="0">
                        <a:buNone/>
                      </a:pPr>
                      <a:r>
                        <a:rPr lang="en-US" sz="1250" dirty="0">
                          <a:solidFill>
                            <a:srgbClr val="24303A"/>
                          </a:solidFill>
                          <a:latin typeface="Calibri" pitchFamily="34" charset="0"/>
                          <a:ea typeface="Calibri" pitchFamily="34" charset="-122"/>
                          <a:cs typeface="Calibri" pitchFamily="34" charset="-120"/>
                        </a:rPr>
                        <a:t>Every column genuinely read</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5,604,157 bytes</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2E6F5E"/>
                          </a:solidFill>
                          <a:latin typeface="Calibri" pitchFamily="34" charset="0"/>
                          <a:ea typeface="Calibri" pitchFamily="34" charset="-122"/>
                          <a:cs typeface="Calibri" pitchFamily="34" charset="-120"/>
                        </a:rPr>
                        <a:t>5.34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10 MB</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c>
                  <a:txBody>
                    <a:bodyPr/>
                    <a:lstStyle/>
                    <a:p>
                      <a:pPr algn="r" indent="0" marL="0">
                        <a:buNone/>
                      </a:pPr>
                      <a:r>
                        <a:rPr lang="en-US" sz="1250" dirty="0">
                          <a:solidFill>
                            <a:srgbClr val="24303A"/>
                          </a:solidFill>
                          <a:latin typeface="Calibri" pitchFamily="34" charset="0"/>
                          <a:ea typeface="Calibri" pitchFamily="34" charset="-122"/>
                          <a:cs typeface="Calibri" pitchFamily="34" charset="-120"/>
                        </a:rPr>
                        <a:t>exact</a:t>
                      </a:r>
                      <a:endParaRPr lang="en-US" sz="1250" dirty="0">
                        <a:latin typeface="Calibri" charset="0"/>
                        <a:ea typeface="Calibri" charset="0"/>
                        <a:cs typeface="Calibri" charset="0"/>
                      </a:endParaRPr>
                    </a:p>
                  </a:txBody>
                  <a:tcPr marL="91440" marR="91440" marT="45720" marB="45720" anchor="ctr">
                    <a:lnL w="12700" cap="flat" cmpd="sng" algn="ctr">
                      <a:solidFill>
                        <a:srgbClr val="E8ECEF"/>
                      </a:solidFill>
                      <a:prstDash val="solid"/>
                      <a:round/>
                      <a:headEnd type="none" w="med" len="med"/>
                      <a:tailEnd type="none" w="med" len="med"/>
                    </a:lnL>
                    <a:lnR w="12700" cap="flat" cmpd="sng" algn="ctr">
                      <a:solidFill>
                        <a:srgbClr val="E8ECEF"/>
                      </a:solidFill>
                      <a:prstDash val="solid"/>
                      <a:round/>
                      <a:headEnd type="none" w="med" len="med"/>
                      <a:tailEnd type="none" w="med" len="med"/>
                    </a:lnR>
                    <a:lnT w="12700" cap="flat" cmpd="sng" algn="ctr">
                      <a:solidFill>
                        <a:srgbClr val="E8ECEF"/>
                      </a:solidFill>
                      <a:prstDash val="solid"/>
                      <a:round/>
                      <a:headEnd type="none" w="med" len="med"/>
                      <a:tailEnd type="none" w="med" len="med"/>
                    </a:lnT>
                    <a:lnB w="12700" cap="flat" cmpd="sng" algn="ctr">
                      <a:solidFill>
                        <a:srgbClr val="E8ECEF"/>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3246120"/>
            <a:ext cx="2743200" cy="777240"/>
          </a:xfrm>
          <a:prstGeom prst="rect">
            <a:avLst/>
          </a:prstGeom>
          <a:noFill/>
          <a:ln/>
        </p:spPr>
        <p:txBody>
          <a:bodyPr wrap="square" lIns="0" tIns="0" rIns="0" bIns="0" rtlCol="0" anchor="ctr"/>
          <a:lstStyle/>
          <a:p>
            <a:pPr algn="l" indent="0" marL="0">
              <a:buNone/>
            </a:pPr>
            <a:r>
              <a:rPr lang="en-US" sz="3400" b="1" dirty="0">
                <a:solidFill>
                  <a:srgbClr val="2E6F5E"/>
                </a:solidFill>
                <a:latin typeface="Cambria" pitchFamily="34" charset="0"/>
                <a:ea typeface="Cambria" pitchFamily="34" charset="-122"/>
                <a:cs typeface="Cambria" pitchFamily="34" charset="-120"/>
              </a:rPr>
              <a:t>1.81 MB</a:t>
            </a:r>
            <a:endParaRPr lang="en-US" sz="3400" dirty="0"/>
          </a:p>
        </p:txBody>
      </p:sp>
      <p:sp>
        <p:nvSpPr>
          <p:cNvPr id="7" name="Text 4"/>
          <p:cNvSpPr/>
          <p:nvPr/>
        </p:nvSpPr>
        <p:spPr>
          <a:xfrm>
            <a:off x="566928" y="3995928"/>
            <a:ext cx="274320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the figure the lab asks for</a:t>
            </a:r>
            <a:endParaRPr lang="en-US" sz="1200" dirty="0"/>
          </a:p>
        </p:txBody>
      </p:sp>
      <p:sp>
        <p:nvSpPr>
          <p:cNvPr id="8" name="Text 5"/>
          <p:cNvSpPr/>
          <p:nvPr/>
        </p:nvSpPr>
        <p:spPr>
          <a:xfrm>
            <a:off x="3840480" y="3246120"/>
            <a:ext cx="2743200" cy="777240"/>
          </a:xfrm>
          <a:prstGeom prst="rect">
            <a:avLst/>
          </a:prstGeom>
          <a:noFill/>
          <a:ln/>
        </p:spPr>
        <p:txBody>
          <a:bodyPr wrap="square" lIns="0" tIns="0" rIns="0" bIns="0" rtlCol="0" anchor="ctr"/>
          <a:lstStyle/>
          <a:p>
            <a:pPr algn="l" indent="0" marL="0">
              <a:buNone/>
            </a:pPr>
            <a:r>
              <a:rPr lang="en-US" sz="3400" b="1" dirty="0">
                <a:solidFill>
                  <a:srgbClr val="24303A"/>
                </a:solidFill>
                <a:latin typeface="Cambria" pitchFamily="34" charset="0"/>
                <a:ea typeface="Cambria" pitchFamily="34" charset="-122"/>
                <a:cs typeface="Cambria" pitchFamily="34" charset="-120"/>
              </a:rPr>
              <a:t>10 MB</a:t>
            </a:r>
            <a:endParaRPr lang="en-US" sz="3400" dirty="0"/>
          </a:p>
        </p:txBody>
      </p:sp>
      <p:sp>
        <p:nvSpPr>
          <p:cNvPr id="9" name="Text 6"/>
          <p:cNvSpPr/>
          <p:nvPr/>
        </p:nvSpPr>
        <p:spPr>
          <a:xfrm>
            <a:off x="3840480" y="3995928"/>
            <a:ext cx="274320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what it was billed, the</a:t>
            </a:r>
            <a:endParaRPr lang="en-US" sz="1200" dirty="0"/>
          </a:p>
          <a:p>
            <a:pPr algn="l" indent="0" marL="0">
              <a:buNone/>
            </a:pPr>
            <a:r>
              <a:rPr lang="en-US" sz="1200" dirty="0">
                <a:solidFill>
                  <a:srgbClr val="5E6B77"/>
                </a:solidFill>
                <a:latin typeface="Calibri" pitchFamily="34" charset="0"/>
                <a:ea typeface="Calibri" pitchFamily="34" charset="-122"/>
                <a:cs typeface="Calibri" pitchFamily="34" charset="-120"/>
              </a:rPr>
              <a:t>per-table minimum</a:t>
            </a:r>
            <a:endParaRPr lang="en-US" sz="1200" dirty="0"/>
          </a:p>
        </p:txBody>
      </p:sp>
      <p:sp>
        <p:nvSpPr>
          <p:cNvPr id="10" name="Text 7"/>
          <p:cNvSpPr/>
          <p:nvPr/>
        </p:nvSpPr>
        <p:spPr>
          <a:xfrm>
            <a:off x="7132320" y="3246120"/>
            <a:ext cx="2377440" cy="777240"/>
          </a:xfrm>
          <a:prstGeom prst="rect">
            <a:avLst/>
          </a:prstGeom>
          <a:noFill/>
          <a:ln/>
        </p:spPr>
        <p:txBody>
          <a:bodyPr wrap="square" lIns="0" tIns="0" rIns="0" bIns="0" rtlCol="0" anchor="ctr"/>
          <a:lstStyle/>
          <a:p>
            <a:pPr algn="l" indent="0" marL="0">
              <a:buNone/>
            </a:pPr>
            <a:r>
              <a:rPr lang="en-US" sz="3400" b="1" dirty="0">
                <a:solidFill>
                  <a:srgbClr val="5E6B77"/>
                </a:solidFill>
                <a:latin typeface="Cambria" pitchFamily="34" charset="0"/>
                <a:ea typeface="Cambria" pitchFamily="34" charset="-122"/>
                <a:cs typeface="Cambria" pitchFamily="34" charset="-120"/>
              </a:rPr>
              <a:t>494 ms</a:t>
            </a:r>
            <a:endParaRPr lang="en-US" sz="3400" dirty="0"/>
          </a:p>
        </p:txBody>
      </p:sp>
      <p:sp>
        <p:nvSpPr>
          <p:cNvPr id="11" name="Text 8"/>
          <p:cNvSpPr/>
          <p:nvPr/>
        </p:nvSpPr>
        <p:spPr>
          <a:xfrm>
            <a:off x="7132320" y="3995928"/>
            <a:ext cx="237744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to answer</a:t>
            </a:r>
            <a:endParaRPr lang="en-US" sz="1200" dirty="0"/>
          </a:p>
        </p:txBody>
      </p:sp>
      <p:sp>
        <p:nvSpPr>
          <p:cNvPr id="12" name="Text 9"/>
          <p:cNvSpPr/>
          <p:nvPr/>
        </p:nvSpPr>
        <p:spPr>
          <a:xfrm>
            <a:off x="9784080" y="3246120"/>
            <a:ext cx="1828800" cy="777240"/>
          </a:xfrm>
          <a:prstGeom prst="rect">
            <a:avLst/>
          </a:prstGeom>
          <a:noFill/>
          <a:ln/>
        </p:spPr>
        <p:txBody>
          <a:bodyPr wrap="square" lIns="0" tIns="0" rIns="0" bIns="0" rtlCol="0" anchor="ctr"/>
          <a:lstStyle/>
          <a:p>
            <a:pPr algn="l" indent="0" marL="0">
              <a:buNone/>
            </a:pPr>
            <a:r>
              <a:rPr lang="en-US" sz="3400" b="1" dirty="0">
                <a:solidFill>
                  <a:srgbClr val="5E6B77"/>
                </a:solidFill>
                <a:latin typeface="Cambria" pitchFamily="34" charset="0"/>
                <a:ea typeface="Cambria" pitchFamily="34" charset="-122"/>
                <a:cs typeface="Cambria" pitchFamily="34" charset="-120"/>
              </a:rPr>
              <a:t>87</a:t>
            </a:r>
            <a:endParaRPr lang="en-US" sz="3400" dirty="0"/>
          </a:p>
        </p:txBody>
      </p:sp>
      <p:sp>
        <p:nvSpPr>
          <p:cNvPr id="13" name="Text 10"/>
          <p:cNvSpPr/>
          <p:nvPr/>
        </p:nvSpPr>
        <p:spPr>
          <a:xfrm>
            <a:off x="9784080" y="3995928"/>
            <a:ext cx="182880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segments, matching</a:t>
            </a:r>
            <a:endParaRPr lang="en-US" sz="1200" dirty="0"/>
          </a:p>
          <a:p>
            <a:pPr algn="l" indent="0" marL="0">
              <a:buNone/>
            </a:pPr>
            <a:r>
              <a:rPr lang="en-US" sz="1200" dirty="0">
                <a:solidFill>
                  <a:srgbClr val="5E6B77"/>
                </a:solidFill>
                <a:latin typeface="Calibri" pitchFamily="34" charset="0"/>
                <a:ea typeface="Calibri" pitchFamily="34" charset="-122"/>
                <a:cs typeface="Calibri" pitchFamily="34" charset="-120"/>
              </a:rPr>
              <a:t>the local warehouse</a:t>
            </a:r>
            <a:endParaRPr lang="en-US" sz="1200" dirty="0"/>
          </a:p>
        </p:txBody>
      </p:sp>
      <p:sp>
        <p:nvSpPr>
          <p:cNvPr id="14" name="Shape 11"/>
          <p:cNvSpPr/>
          <p:nvPr/>
        </p:nvSpPr>
        <p:spPr>
          <a:xfrm>
            <a:off x="566928" y="4892040"/>
            <a:ext cx="11027664" cy="1371600"/>
          </a:xfrm>
          <a:prstGeom prst="roundRect">
            <a:avLst>
              <a:gd name="adj" fmla="val 4000"/>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5" name="Text 12"/>
          <p:cNvSpPr/>
          <p:nvPr/>
        </p:nvSpPr>
        <p:spPr>
          <a:xfrm>
            <a:off x="859536" y="5084064"/>
            <a:ext cx="10424160" cy="320040"/>
          </a:xfrm>
          <a:prstGeom prst="rect">
            <a:avLst/>
          </a:prstGeom>
          <a:noFill/>
          <a:ln/>
        </p:spPr>
        <p:txBody>
          <a:bodyPr wrap="square" lIns="0" tIns="0" rIns="0" bIns="0" rtlCol="0" anchor="ctr"/>
          <a:lstStyle/>
          <a:p>
            <a:pPr indent="0" marL="0">
              <a:buNone/>
            </a:pPr>
            <a:r>
              <a:rPr lang="en-US" sz="1600" b="1" dirty="0">
                <a:solidFill>
                  <a:srgbClr val="2E6F5E"/>
                </a:solidFill>
                <a:latin typeface="Cambria" pitchFamily="34" charset="0"/>
                <a:ea typeface="Cambria" pitchFamily="34" charset="-122"/>
                <a:cs typeface="Cambria" pitchFamily="34" charset="-120"/>
              </a:rPr>
              <a:t>The saving is real in bytes and zero in money</a:t>
            </a:r>
            <a:endParaRPr lang="en-US" sz="1600" dirty="0"/>
          </a:p>
        </p:txBody>
      </p:sp>
      <p:sp>
        <p:nvSpPr>
          <p:cNvPr id="16" name="Text 13"/>
          <p:cNvSpPr/>
          <p:nvPr/>
        </p:nvSpPr>
        <p:spPr>
          <a:xfrm>
            <a:off x="859536" y="5440680"/>
            <a:ext cx="10424160" cy="68580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Both queries round to the same 10 MB minimum, and the sandbox includes the first terabyte each month. Reporting a three times saving as a cost saving on this dataset would be wrong. The ratio only becomes money when the table is large enough for the meter to notice.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5</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SELECT star is not what costs</a:t>
            </a:r>
            <a:endParaRPr lang="en-US" sz="3200" dirty="0"/>
          </a:p>
        </p:txBody>
      </p:sp>
      <p:sp>
        <p:nvSpPr>
          <p:cNvPr id="4" name="Shape 2"/>
          <p:cNvSpPr/>
          <p:nvPr/>
        </p:nvSpPr>
        <p:spPr>
          <a:xfrm>
            <a:off x="566928" y="1325880"/>
            <a:ext cx="11027664" cy="914400"/>
          </a:xfrm>
          <a:prstGeom prst="roundRect">
            <a:avLst>
              <a:gd name="adj" fmla="val 6000"/>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5" name="Text 3"/>
          <p:cNvSpPr/>
          <p:nvPr/>
        </p:nvSpPr>
        <p:spPr>
          <a:xfrm>
            <a:off x="859536" y="1536192"/>
            <a:ext cx="10424160" cy="457200"/>
          </a:xfrm>
          <a:prstGeom prst="rect">
            <a:avLst/>
          </a:prstGeom>
          <a:noFill/>
          <a:ln/>
        </p:spPr>
        <p:txBody>
          <a:bodyPr wrap="square" lIns="0" tIns="0" rIns="0" bIns="0" rtlCol="0" anchor="ctr"/>
          <a:lstStyle/>
          <a:p>
            <a:pPr indent="0" marL="0">
              <a:buNone/>
            </a:pPr>
            <a:r>
              <a:rPr lang="en-US" sz="1500" dirty="0">
                <a:solidFill>
                  <a:srgbClr val="24303A"/>
                </a:solidFill>
                <a:latin typeface="Calibri" pitchFamily="34" charset="0"/>
                <a:ea typeface="Calibri" pitchFamily="34" charset="-122"/>
                <a:cs typeface="Calibri" pitchFamily="34" charset="-120"/>
              </a:rPr>
              <a:t>Unit 5: the most expensive words in the cloud are SELECT star.</a:t>
            </a:r>
            <a:endParaRPr lang="en-US" sz="1500" dirty="0"/>
          </a:p>
        </p:txBody>
      </p:sp>
      <p:sp>
        <p:nvSpPr>
          <p:cNvPr id="6" name="Text 4"/>
          <p:cNvSpPr/>
          <p:nvPr/>
        </p:nvSpPr>
        <p:spPr>
          <a:xfrm>
            <a:off x="566928" y="2423160"/>
            <a:ext cx="11027664" cy="457200"/>
          </a:xfrm>
          <a:prstGeom prst="rect">
            <a:avLst/>
          </a:prstGeom>
          <a:noFill/>
          <a:ln/>
        </p:spPr>
        <p:txBody>
          <a:bodyPr wrap="square" lIns="0" tIns="0" rIns="0" bIns="0" rtlCol="0" anchor="t"/>
          <a:lstStyle/>
          <a:p>
            <a:pPr algn="l" indent="0" marL="0">
              <a:lnSpc>
                <a:spcPct val="115000"/>
              </a:lnSpc>
              <a:buNone/>
            </a:pPr>
            <a:r>
              <a:rPr lang="en-US" sz="1500" dirty="0">
                <a:solidFill>
                  <a:srgbClr val="24303A"/>
                </a:solidFill>
                <a:latin typeface="Calibri" pitchFamily="34" charset="0"/>
                <a:ea typeface="Calibri" pitchFamily="34" charset="-122"/>
                <a:cs typeface="Calibri" pitchFamily="34" charset="-120"/>
              </a:rPr>
              <a:t>We built a query to demonstrate that. It did not demonstrate it.</a:t>
            </a:r>
            <a:endParaRPr lang="en-US" sz="1500" dirty="0"/>
          </a:p>
        </p:txBody>
      </p:sp>
      <p:sp>
        <p:nvSpPr>
          <p:cNvPr id="7" name="Shape 5"/>
          <p:cNvSpPr/>
          <p:nvPr/>
        </p:nvSpPr>
        <p:spPr>
          <a:xfrm>
            <a:off x="566928" y="2971800"/>
            <a:ext cx="5394960" cy="1828800"/>
          </a:xfrm>
          <a:prstGeom prst="roundRect">
            <a:avLst>
              <a:gd name="adj" fmla="val 3000"/>
            </a:avLst>
          </a:prstGeom>
          <a:solidFill>
            <a:srgbClr val="F6E9E7"/>
          </a:solidFill>
          <a:ln w="12700">
            <a:solidFill>
              <a:srgbClr val="F6E9E7"/>
            </a:solidFill>
            <a:prstDash val="solid"/>
          </a:ln>
          <a:effectLst>
            <a:outerShdw sx="100000" sy="100000" kx="0" ky="0" algn="bl" rotWithShape="0" blurRad="101600" dist="12700" dir="5400000">
              <a:srgbClr val="9AA5AE">
                <a:alpha val="25000"/>
              </a:srgbClr>
            </a:outerShdw>
          </a:effectLst>
        </p:spPr>
      </p:sp>
      <p:sp>
        <p:nvSpPr>
          <p:cNvPr id="8" name="Text 6"/>
          <p:cNvSpPr/>
          <p:nvPr/>
        </p:nvSpPr>
        <p:spPr>
          <a:xfrm>
            <a:off x="841248" y="3154680"/>
            <a:ext cx="4846320" cy="292608"/>
          </a:xfrm>
          <a:prstGeom prst="rect">
            <a:avLst/>
          </a:prstGeom>
          <a:noFill/>
          <a:ln/>
        </p:spPr>
        <p:txBody>
          <a:bodyPr wrap="square" lIns="0" tIns="0" rIns="0" bIns="0" rtlCol="0" anchor="ctr"/>
          <a:lstStyle/>
          <a:p>
            <a:pPr indent="0" marL="0">
              <a:buNone/>
            </a:pPr>
            <a:r>
              <a:rPr lang="en-US" sz="1500" b="1" dirty="0">
                <a:solidFill>
                  <a:srgbClr val="B3453A"/>
                </a:solidFill>
                <a:latin typeface="Cambria" pitchFamily="34" charset="0"/>
                <a:ea typeface="Cambria" pitchFamily="34" charset="-122"/>
                <a:cs typeface="Cambria" pitchFamily="34" charset="-120"/>
              </a:rPr>
              <a:t>What we expected</a:t>
            </a:r>
            <a:endParaRPr lang="en-US" sz="1500" dirty="0"/>
          </a:p>
        </p:txBody>
      </p:sp>
      <p:sp>
        <p:nvSpPr>
          <p:cNvPr id="9" name="Text 7"/>
          <p:cNvSpPr/>
          <p:nvPr/>
        </p:nvSpPr>
        <p:spPr>
          <a:xfrm>
            <a:off x="841248" y="3502152"/>
            <a:ext cx="4846320" cy="118872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Wrap the table in a subquery selecting everything, aggregate six columns, and pay for all twenty-four. Predicted 5.34 MB.</a:t>
            </a:r>
            <a:endParaRPr lang="en-US" sz="1250" dirty="0"/>
          </a:p>
        </p:txBody>
      </p:sp>
      <p:sp>
        <p:nvSpPr>
          <p:cNvPr id="10" name="Shape 8"/>
          <p:cNvSpPr/>
          <p:nvPr/>
        </p:nvSpPr>
        <p:spPr>
          <a:xfrm>
            <a:off x="6217920" y="2971800"/>
            <a:ext cx="5376672" cy="1828800"/>
          </a:xfrm>
          <a:prstGeom prst="roundRect">
            <a:avLst>
              <a:gd name="adj" fmla="val 3000"/>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1" name="Text 9"/>
          <p:cNvSpPr/>
          <p:nvPr/>
        </p:nvSpPr>
        <p:spPr>
          <a:xfrm>
            <a:off x="6492240" y="3154680"/>
            <a:ext cx="4846320" cy="292608"/>
          </a:xfrm>
          <a:prstGeom prst="rect">
            <a:avLst/>
          </a:prstGeom>
          <a:noFill/>
          <a:ln/>
        </p:spPr>
        <p:txBody>
          <a:bodyPr wrap="square" lIns="0" tIns="0" rIns="0" bIns="0" rtlCol="0" anchor="ctr"/>
          <a:lstStyle/>
          <a:p>
            <a:pPr indent="0" marL="0">
              <a:buNone/>
            </a:pPr>
            <a:r>
              <a:rPr lang="en-US" sz="1500" b="1" dirty="0">
                <a:solidFill>
                  <a:srgbClr val="2E6F5E"/>
                </a:solidFill>
                <a:latin typeface="Cambria" pitchFamily="34" charset="0"/>
                <a:ea typeface="Cambria" pitchFamily="34" charset="-122"/>
                <a:cs typeface="Cambria" pitchFamily="34" charset="-120"/>
              </a:rPr>
              <a:t>What happened</a:t>
            </a:r>
            <a:endParaRPr lang="en-US" sz="1500" dirty="0"/>
          </a:p>
        </p:txBody>
      </p:sp>
      <p:sp>
        <p:nvSpPr>
          <p:cNvPr id="12" name="Text 10"/>
          <p:cNvSpPr/>
          <p:nvPr/>
        </p:nvSpPr>
        <p:spPr>
          <a:xfrm>
            <a:off x="6492240" y="3502152"/>
            <a:ext cx="4846320" cy="118872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Still 1.81 MB. BigQuery prunes columns the query never references, even through the subquery. The literal words cost nothing.</a:t>
            </a:r>
            <a:endParaRPr lang="en-US" sz="1250" dirty="0"/>
          </a:p>
        </p:txBody>
      </p:sp>
      <p:sp>
        <p:nvSpPr>
          <p:cNvPr id="13" name="Shape 11"/>
          <p:cNvSpPr/>
          <p:nvPr/>
        </p:nvSpPr>
        <p:spPr>
          <a:xfrm>
            <a:off x="566928" y="4983480"/>
            <a:ext cx="11027664" cy="1280160"/>
          </a:xfrm>
          <a:prstGeom prst="roundRect">
            <a:avLst>
              <a:gd name="adj" fmla="val 4286"/>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14" name="Text 12"/>
          <p:cNvSpPr/>
          <p:nvPr/>
        </p:nvSpPr>
        <p:spPr>
          <a:xfrm>
            <a:off x="859536" y="5166360"/>
            <a:ext cx="10424160" cy="320040"/>
          </a:xfrm>
          <a:prstGeom prst="rect">
            <a:avLst/>
          </a:prstGeom>
          <a:noFill/>
          <a:ln/>
        </p:spPr>
        <p:txBody>
          <a:bodyPr wrap="square" lIns="0" tIns="0" rIns="0" bIns="0" rtlCol="0" anchor="ctr"/>
          <a:lstStyle/>
          <a:p>
            <a:pPr indent="0" marL="0">
              <a:buNone/>
            </a:pPr>
            <a:r>
              <a:rPr lang="en-US" sz="1600" b="1" dirty="0">
                <a:solidFill>
                  <a:srgbClr val="24303A"/>
                </a:solidFill>
                <a:latin typeface="Cambria" pitchFamily="34" charset="0"/>
                <a:ea typeface="Cambria" pitchFamily="34" charset="-122"/>
                <a:cs typeface="Cambria" pitchFamily="34" charset="-120"/>
              </a:rPr>
              <a:t>The rule that survives testing is narrower</a:t>
            </a:r>
            <a:endParaRPr lang="en-US" sz="1600" dirty="0"/>
          </a:p>
        </p:txBody>
      </p:sp>
      <p:sp>
        <p:nvSpPr>
          <p:cNvPr id="15" name="Text 13"/>
          <p:cNvSpPr/>
          <p:nvPr/>
        </p:nvSpPr>
        <p:spPr>
          <a:xfrm>
            <a:off x="859536" y="5513832"/>
            <a:ext cx="10424160" cy="640080"/>
          </a:xfrm>
          <a:prstGeom prst="rect">
            <a:avLst/>
          </a:prstGeom>
          <a:noFill/>
          <a:ln/>
        </p:spPr>
        <p:txBody>
          <a:bodyPr wrap="square" lIns="0" tIns="0" rIns="0" bIns="0" rtlCol="0" anchor="t"/>
          <a:lstStyle/>
          <a:p>
            <a:pPr algn="l" indent="0" marL="0">
              <a:lnSpc>
                <a:spcPct val="115000"/>
              </a:lnSpc>
              <a:buNone/>
            </a:pPr>
            <a:r>
              <a:rPr lang="en-US" sz="1300" dirty="0">
                <a:solidFill>
                  <a:srgbClr val="24303A"/>
                </a:solidFill>
                <a:latin typeface="Calibri" pitchFamily="34" charset="0"/>
                <a:ea typeface="Calibri" pitchFamily="34" charset="-122"/>
                <a:cs typeface="Calibri" pitchFamily="34" charset="-120"/>
              </a:rPr>
              <a:t>You pay for the columns your query references. The saving comes from needing fewer columns, not from how the FROM clause is written. Only a bare SELECT star, with nothing left to prune, reached 5.34 MB.</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2E6F5E"/>
                </a:solidFill>
                <a:latin typeface="Calibri" pitchFamily="34" charset="0"/>
                <a:ea typeface="Calibri" pitchFamily="34" charset="-122"/>
                <a:cs typeface="Calibri" pitchFamily="34" charset="-120"/>
              </a:rPr>
              <a:t>LAB 5</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The pipeline, with a meter on every box</a:t>
            </a:r>
            <a:endParaRPr lang="en-US" sz="3200" dirty="0"/>
          </a:p>
        </p:txBody>
      </p:sp>
      <p:pic>
        <p:nvPicPr>
          <p:cNvPr id="4" name="Image 0" descr="pipeline.png">    </p:cNvPr>
          <p:cNvPicPr>
            <a:picLocks noChangeAspect="1"/>
          </p:cNvPicPr>
          <p:nvPr/>
        </p:nvPicPr>
        <p:blipFill>
          <a:blip r:embed="rId1"/>
          <a:stretch>
            <a:fillRect/>
          </a:stretch>
        </p:blipFill>
        <p:spPr>
          <a:xfrm>
            <a:off x="1188720" y="1234440"/>
            <a:ext cx="9784080" cy="4718304"/>
          </a:xfrm>
          <a:prstGeom prst="rect">
            <a:avLst/>
          </a:prstGeom>
        </p:spPr>
      </p:pic>
      <p:sp>
        <p:nvSpPr>
          <p:cNvPr id="5" name="Text 2"/>
          <p:cNvSpPr/>
          <p:nvPr/>
        </p:nvSpPr>
        <p:spPr>
          <a:xfrm>
            <a:off x="566928" y="6053328"/>
            <a:ext cx="11027664" cy="411480"/>
          </a:xfrm>
          <a:prstGeom prst="rect">
            <a:avLst/>
          </a:prstGeom>
          <a:noFill/>
          <a:ln/>
        </p:spPr>
        <p:txBody>
          <a:bodyPr wrap="square" lIns="0" tIns="0" rIns="0" bIns="0" rtlCol="0" anchor="t"/>
          <a:lstStyle/>
          <a:p>
            <a:pPr algn="l" indent="0" marL="0">
              <a:lnSpc>
                <a:spcPct val="115000"/>
              </a:lnSpc>
              <a:buNone/>
            </a:pPr>
            <a:r>
              <a:rPr lang="en-US" sz="1150" dirty="0">
                <a:solidFill>
                  <a:srgbClr val="5E6B77"/>
                </a:solidFill>
                <a:latin typeface="Calibri" pitchFamily="34" charset="0"/>
                <a:ea typeface="Calibri" pitchFamily="34" charset="-122"/>
                <a:cs typeface="Calibri" pitchFamily="34" charset="-120"/>
              </a:rPr>
              <a:t>The pipeline this project already builds, drawn with cloud services in place of local ones. Colour marks which meter each stage runs on. The reject path and the audit table get boxes of their own, because most diagrams draw only the happy path.</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2103120"/>
            <a:ext cx="5486400" cy="365760"/>
          </a:xfrm>
          <a:prstGeom prst="rect">
            <a:avLst/>
          </a:prstGeom>
          <a:noFill/>
          <a:ln/>
        </p:spPr>
        <p:txBody>
          <a:bodyPr wrap="square" lIns="0" tIns="0" rIns="0" bIns="0" rtlCol="0" anchor="ctr"/>
          <a:lstStyle/>
          <a:p>
            <a:pPr indent="0" marL="0">
              <a:buNone/>
            </a:pPr>
            <a:r>
              <a:rPr lang="en-US" sz="1300" b="1" spc="300" kern="0" dirty="0">
                <a:solidFill>
                  <a:srgbClr val="8FC3B2"/>
                </a:solidFill>
                <a:latin typeface="Calibri" pitchFamily="34" charset="0"/>
                <a:ea typeface="Calibri" pitchFamily="34" charset="-122"/>
                <a:cs typeface="Calibri" pitchFamily="34" charset="-120"/>
              </a:rPr>
              <a:t>LAB 6</a:t>
            </a:r>
            <a:endParaRPr lang="en-US" sz="1300" dirty="0"/>
          </a:p>
        </p:txBody>
      </p:sp>
      <p:sp>
        <p:nvSpPr>
          <p:cNvPr id="3" name="Text 1"/>
          <p:cNvSpPr/>
          <p:nvPr/>
        </p:nvSpPr>
        <p:spPr>
          <a:xfrm>
            <a:off x="566928" y="25146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Guard the pipeline</a:t>
            </a:r>
            <a:endParaRPr lang="en-US" sz="4000" dirty="0"/>
          </a:p>
        </p:txBody>
      </p:sp>
      <p:sp>
        <p:nvSpPr>
          <p:cNvPr id="4" name="Text 2"/>
          <p:cNvSpPr/>
          <p:nvPr/>
        </p:nvSpPr>
        <p:spPr>
          <a:xfrm>
            <a:off x="566928" y="3520440"/>
            <a:ext cx="10332720" cy="548640"/>
          </a:xfrm>
          <a:prstGeom prst="rect">
            <a:avLst/>
          </a:prstGeom>
          <a:noFill/>
          <a:ln/>
        </p:spPr>
        <p:txBody>
          <a:bodyPr wrap="square" lIns="0" tIns="0" rIns="0" bIns="0" rtlCol="0" anchor="ctr"/>
          <a:lstStyle/>
          <a:p>
            <a:pPr indent="0" marL="0">
              <a:buNone/>
            </a:pPr>
            <a:r>
              <a:rPr lang="en-US" sz="1600" dirty="0">
                <a:solidFill>
                  <a:srgbClr val="A8B4BE"/>
                </a:solidFill>
                <a:latin typeface="Calibri" pitchFamily="34" charset="0"/>
                <a:ea typeface="Calibri" pitchFamily="34" charset="-122"/>
                <a:cs typeface="Calibri" pitchFamily="34" charset="-120"/>
              </a:rPr>
              <a:t>Quality rules that run inside the pipeline on every batch, a holding table for what they refuse, and a written answer to who is in this data.</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5E6B77"/>
                </a:solidFill>
                <a:latin typeface="Calibri" pitchFamily="34" charset="0"/>
                <a:ea typeface="Calibri" pitchFamily="34" charset="-122"/>
                <a:cs typeface="Calibri" pitchFamily="34" charset="-120"/>
              </a:rPr>
              <a:t>LAB 6  ·  CHECKS IN CODE</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Two kinds of failure need two kinds of answer</a:t>
            </a:r>
            <a:endParaRPr lang="en-US" sz="3200" dirty="0"/>
          </a:p>
        </p:txBody>
      </p:sp>
      <p:sp>
        <p:nvSpPr>
          <p:cNvPr id="4" name="Shape 2"/>
          <p:cNvSpPr/>
          <p:nvPr/>
        </p:nvSpPr>
        <p:spPr>
          <a:xfrm>
            <a:off x="566928" y="1417320"/>
            <a:ext cx="5394960" cy="3200400"/>
          </a:xfrm>
          <a:prstGeom prst="roundRect">
            <a:avLst>
              <a:gd name="adj" fmla="val 1714"/>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5" name="Text 3"/>
          <p:cNvSpPr/>
          <p:nvPr/>
        </p:nvSpPr>
        <p:spPr>
          <a:xfrm>
            <a:off x="886968" y="1645920"/>
            <a:ext cx="4754880" cy="274320"/>
          </a:xfrm>
          <a:prstGeom prst="rect">
            <a:avLst/>
          </a:prstGeom>
          <a:noFill/>
          <a:ln/>
        </p:spPr>
        <p:txBody>
          <a:bodyPr wrap="square" lIns="0" tIns="0" rIns="0" bIns="0" rtlCol="0" anchor="ctr"/>
          <a:lstStyle/>
          <a:p>
            <a:pPr indent="0" marL="0">
              <a:buNone/>
            </a:pPr>
            <a:r>
              <a:rPr lang="en-US" sz="1100" b="1" spc="200" kern="0" dirty="0">
                <a:solidFill>
                  <a:srgbClr val="5E6B77"/>
                </a:solidFill>
                <a:latin typeface="Calibri" pitchFamily="34" charset="0"/>
                <a:ea typeface="Calibri" pitchFamily="34" charset="-122"/>
                <a:cs typeface="Calibri" pitchFamily="34" charset="-120"/>
              </a:rPr>
              <a:t>ROW LEVEL</a:t>
            </a:r>
            <a:endParaRPr lang="en-US" sz="1100" dirty="0"/>
          </a:p>
        </p:txBody>
      </p:sp>
      <p:sp>
        <p:nvSpPr>
          <p:cNvPr id="6" name="Text 4"/>
          <p:cNvSpPr/>
          <p:nvPr/>
        </p:nvSpPr>
        <p:spPr>
          <a:xfrm>
            <a:off x="886968" y="1938528"/>
            <a:ext cx="4754880" cy="548640"/>
          </a:xfrm>
          <a:prstGeom prst="rect">
            <a:avLst/>
          </a:prstGeom>
          <a:noFill/>
          <a:ln/>
        </p:spPr>
        <p:txBody>
          <a:bodyPr wrap="square" lIns="0" tIns="0" rIns="0" bIns="0" rtlCol="0" anchor="ctr"/>
          <a:lstStyle/>
          <a:p>
            <a:pPr indent="0" marL="0">
              <a:buNone/>
            </a:pPr>
            <a:r>
              <a:rPr lang="en-US" sz="3000" b="1" dirty="0">
                <a:solidFill>
                  <a:srgbClr val="24303A"/>
                </a:solidFill>
                <a:latin typeface="Cambria" pitchFamily="34" charset="0"/>
                <a:ea typeface="Cambria" pitchFamily="34" charset="-122"/>
                <a:cs typeface="Cambria" pitchFamily="34" charset="-120"/>
              </a:rPr>
              <a:t>10 rules</a:t>
            </a:r>
            <a:endParaRPr lang="en-US" sz="3000" dirty="0"/>
          </a:p>
        </p:txBody>
      </p:sp>
      <p:sp>
        <p:nvSpPr>
          <p:cNvPr id="7" name="Text 5"/>
          <p:cNvSpPr/>
          <p:nvPr/>
        </p:nvSpPr>
        <p:spPr>
          <a:xfrm>
            <a:off x="886968" y="2578608"/>
            <a:ext cx="4754880" cy="1828800"/>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250" dirty="0">
                <a:solidFill>
                  <a:srgbClr val="24303A"/>
                </a:solidFill>
                <a:latin typeface="Calibri" pitchFamily="34" charset="0"/>
                <a:ea typeface="Calibri" pitchFamily="34" charset="-122"/>
                <a:cs typeface="Calibri" pitchFamily="34" charset="-120"/>
              </a:rPr>
              <a:t>8 validity, 1 completeness, 1 uniqueness</a:t>
            </a:r>
            <a:endParaRPr lang="en-US" sz="1250" dirty="0"/>
          </a:p>
          <a:p>
            <a:pPr marL="342900" indent="-342900">
              <a:lnSpc>
                <a:spcPct val="110000"/>
              </a:lnSpc>
              <a:spcAft>
                <a:spcPts val="700"/>
              </a:spcAft>
              <a:buSzPct val="100000"/>
              <a:buChar char="•"/>
            </a:pPr>
            <a:r>
              <a:rPr lang="en-US" sz="1250" dirty="0">
                <a:solidFill>
                  <a:srgbClr val="24303A"/>
                </a:solidFill>
                <a:latin typeface="Calibri" pitchFamily="34" charset="0"/>
                <a:ea typeface="Calibri" pitchFamily="34" charset="-122"/>
                <a:cs typeface="Calibri" pitchFamily="34" charset="-120"/>
              </a:rPr>
              <a:t>A failing row goes whole into quarantine with a reason code</a:t>
            </a:r>
            <a:endParaRPr lang="en-US" sz="1250" dirty="0"/>
          </a:p>
          <a:p>
            <a:pPr marL="342900" indent="-342900">
              <a:lnSpc>
                <a:spcPct val="110000"/>
              </a:lnSpc>
              <a:spcAft>
                <a:spcPts val="700"/>
              </a:spcAft>
              <a:buSzPct val="100000"/>
              <a:buChar char="•"/>
            </a:pPr>
            <a:r>
              <a:rPr lang="en-US" sz="1250" dirty="0">
                <a:solidFill>
                  <a:srgbClr val="24303A"/>
                </a:solidFill>
                <a:latin typeface="Calibri" pitchFamily="34" charset="0"/>
                <a:ea typeface="Calibri" pitchFamily="34" charset="-122"/>
                <a:cs typeface="Calibri" pitchFamily="34" charset="-120"/>
              </a:rPr>
              <a:t>The load continues: one bad row does not stop 32,560 good ones</a:t>
            </a:r>
            <a:endParaRPr lang="en-US" sz="1250" dirty="0"/>
          </a:p>
        </p:txBody>
      </p:sp>
      <p:sp>
        <p:nvSpPr>
          <p:cNvPr id="8" name="Shape 6"/>
          <p:cNvSpPr/>
          <p:nvPr/>
        </p:nvSpPr>
        <p:spPr>
          <a:xfrm>
            <a:off x="6281928" y="1417320"/>
            <a:ext cx="5394960" cy="3200400"/>
          </a:xfrm>
          <a:prstGeom prst="roundRect">
            <a:avLst>
              <a:gd name="adj" fmla="val 1714"/>
            </a:avLst>
          </a:prstGeom>
          <a:solidFill>
            <a:srgbClr val="F1F3F5"/>
          </a:solidFill>
          <a:ln w="12700">
            <a:solidFill>
              <a:srgbClr val="F1F3F5"/>
            </a:solidFill>
            <a:prstDash val="solid"/>
          </a:ln>
          <a:effectLst>
            <a:outerShdw sx="100000" sy="100000" kx="0" ky="0" algn="bl" rotWithShape="0" blurRad="101600" dist="12700" dir="5400000">
              <a:srgbClr val="9AA5AE">
                <a:alpha val="25000"/>
              </a:srgbClr>
            </a:outerShdw>
          </a:effectLst>
        </p:spPr>
      </p:sp>
      <p:sp>
        <p:nvSpPr>
          <p:cNvPr id="9" name="Text 7"/>
          <p:cNvSpPr/>
          <p:nvPr/>
        </p:nvSpPr>
        <p:spPr>
          <a:xfrm>
            <a:off x="6601968" y="1645920"/>
            <a:ext cx="4754880" cy="274320"/>
          </a:xfrm>
          <a:prstGeom prst="rect">
            <a:avLst/>
          </a:prstGeom>
          <a:noFill/>
          <a:ln/>
        </p:spPr>
        <p:txBody>
          <a:bodyPr wrap="square" lIns="0" tIns="0" rIns="0" bIns="0" rtlCol="0" anchor="ctr"/>
          <a:lstStyle/>
          <a:p>
            <a:pPr indent="0" marL="0">
              <a:buNone/>
            </a:pPr>
            <a:r>
              <a:rPr lang="en-US" sz="1100" b="1" spc="200" kern="0" dirty="0">
                <a:solidFill>
                  <a:srgbClr val="5E6B77"/>
                </a:solidFill>
                <a:latin typeface="Calibri" pitchFamily="34" charset="0"/>
                <a:ea typeface="Calibri" pitchFamily="34" charset="-122"/>
                <a:cs typeface="Calibri" pitchFamily="34" charset="-120"/>
              </a:rPr>
              <a:t>TABLE LEVEL</a:t>
            </a:r>
            <a:endParaRPr lang="en-US" sz="1100" dirty="0"/>
          </a:p>
        </p:txBody>
      </p:sp>
      <p:sp>
        <p:nvSpPr>
          <p:cNvPr id="10" name="Text 8"/>
          <p:cNvSpPr/>
          <p:nvPr/>
        </p:nvSpPr>
        <p:spPr>
          <a:xfrm>
            <a:off x="6601968" y="1938528"/>
            <a:ext cx="4754880" cy="548640"/>
          </a:xfrm>
          <a:prstGeom prst="rect">
            <a:avLst/>
          </a:prstGeom>
          <a:noFill/>
          <a:ln/>
        </p:spPr>
        <p:txBody>
          <a:bodyPr wrap="square" lIns="0" tIns="0" rIns="0" bIns="0" rtlCol="0" anchor="ctr"/>
          <a:lstStyle/>
          <a:p>
            <a:pPr indent="0" marL="0">
              <a:buNone/>
            </a:pPr>
            <a:r>
              <a:rPr lang="en-US" sz="3000" b="1" dirty="0">
                <a:solidFill>
                  <a:srgbClr val="24303A"/>
                </a:solidFill>
                <a:latin typeface="Cambria" pitchFamily="34" charset="0"/>
                <a:ea typeface="Cambria" pitchFamily="34" charset="-122"/>
                <a:cs typeface="Cambria" pitchFamily="34" charset="-120"/>
              </a:rPr>
              <a:t>32 assertions</a:t>
            </a:r>
            <a:endParaRPr lang="en-US" sz="3000" dirty="0"/>
          </a:p>
        </p:txBody>
      </p:sp>
      <p:sp>
        <p:nvSpPr>
          <p:cNvPr id="11" name="Text 9"/>
          <p:cNvSpPr/>
          <p:nvPr/>
        </p:nvSpPr>
        <p:spPr>
          <a:xfrm>
            <a:off x="6601968" y="2578608"/>
            <a:ext cx="4754880" cy="1828800"/>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250" dirty="0">
                <a:solidFill>
                  <a:srgbClr val="24303A"/>
                </a:solidFill>
                <a:latin typeface="Calibri" pitchFamily="34" charset="0"/>
                <a:ea typeface="Calibri" pitchFamily="34" charset="-122"/>
                <a:cs typeface="Calibri" pitchFamily="34" charset="-120"/>
              </a:rPr>
              <a:t>All five dimensions, including the two no row can be judged against</a:t>
            </a:r>
            <a:endParaRPr lang="en-US" sz="1250" dirty="0"/>
          </a:p>
          <a:p>
            <a:pPr marL="342900" indent="-342900">
              <a:lnSpc>
                <a:spcPct val="110000"/>
              </a:lnSpc>
              <a:spcAft>
                <a:spcPts val="700"/>
              </a:spcAft>
              <a:buSzPct val="100000"/>
              <a:buChar char="•"/>
            </a:pPr>
            <a:r>
              <a:rPr lang="en-US" sz="1250" dirty="0">
                <a:solidFill>
                  <a:srgbClr val="24303A"/>
                </a:solidFill>
                <a:latin typeface="Calibri" pitchFamily="34" charset="0"/>
                <a:ea typeface="Calibri" pitchFamily="34" charset="-122"/>
                <a:cs typeface="Calibri" pitchFamily="34" charset="-120"/>
              </a:rPr>
              <a:t>Nothing to quarantine: these cannot be blamed on one row</a:t>
            </a:r>
            <a:endParaRPr lang="en-US" sz="1250" dirty="0"/>
          </a:p>
          <a:p>
            <a:pPr marL="342900" indent="-342900">
              <a:lnSpc>
                <a:spcPct val="110000"/>
              </a:lnSpc>
              <a:spcAft>
                <a:spcPts val="700"/>
              </a:spcAft>
              <a:buSzPct val="100000"/>
              <a:buChar char="•"/>
            </a:pPr>
            <a:r>
              <a:rPr lang="en-US" sz="1250" dirty="0">
                <a:solidFill>
                  <a:srgbClr val="24303A"/>
                </a:solidFill>
                <a:latin typeface="Calibri" pitchFamily="34" charset="0"/>
                <a:ea typeface="Calibri" pitchFamily="34" charset="-122"/>
                <a:cs typeface="Calibri" pitchFamily="34" charset="-120"/>
              </a:rPr>
              <a:t>They fail the build, exit code 1</a:t>
            </a:r>
            <a:endParaRPr lang="en-US" sz="1250" dirty="0"/>
          </a:p>
        </p:txBody>
      </p:sp>
      <p:sp>
        <p:nvSpPr>
          <p:cNvPr id="12" name="Shape 10"/>
          <p:cNvSpPr/>
          <p:nvPr/>
        </p:nvSpPr>
        <p:spPr>
          <a:xfrm>
            <a:off x="566928" y="4892040"/>
            <a:ext cx="11027664" cy="1051560"/>
          </a:xfrm>
          <a:prstGeom prst="roundRect">
            <a:avLst>
              <a:gd name="adj" fmla="val 5217"/>
            </a:avLst>
          </a:prstGeom>
          <a:solidFill>
            <a:srgbClr val="EAF0ED"/>
          </a:solidFill>
          <a:ln w="12700">
            <a:solidFill>
              <a:srgbClr val="EAF0ED"/>
            </a:solidFill>
            <a:prstDash val="solid"/>
          </a:ln>
        </p:spPr>
      </p:sp>
      <p:sp>
        <p:nvSpPr>
          <p:cNvPr id="13" name="Text 11"/>
          <p:cNvSpPr/>
          <p:nvPr/>
        </p:nvSpPr>
        <p:spPr>
          <a:xfrm>
            <a:off x="886968" y="5047488"/>
            <a:ext cx="10387584" cy="777240"/>
          </a:xfrm>
          <a:prstGeom prst="rect">
            <a:avLst/>
          </a:prstGeom>
          <a:noFill/>
          <a:ln/>
        </p:spPr>
        <p:txBody>
          <a:bodyPr wrap="square" lIns="0" tIns="0" rIns="0" bIns="0" rtlCol="0" anchor="ctr"/>
          <a:lstStyle/>
          <a:p>
            <a:pPr indent="0" marL="0">
              <a:lnSpc>
                <a:spcPct val="120000"/>
              </a:lnSpc>
              <a:buNone/>
            </a:pPr>
            <a:r>
              <a:rPr lang="en-US" sz="1300" dirty="0">
                <a:solidFill>
                  <a:srgbClr val="24303A"/>
                </a:solidFill>
                <a:latin typeface="Calibri" pitchFamily="34" charset="0"/>
                <a:ea typeface="Calibri" pitchFamily="34" charset="-122"/>
                <a:cs typeface="Calibri" pitchFamily="34" charset="-120"/>
              </a:rPr>
              <a:t>The suite has been seen to fail. Three faults were injected and caught. Three more were refused by the schema's own constraints before any check saw them, which is the more comfortable finding: constraints make a class of corruption impossible, checks catch what constraints cannot express.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6  ·  THE DECISION INSIDE THE RULE</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Completeness is not rejecting the question marks</a:t>
            </a:r>
            <a:endParaRPr lang="en-US" sz="3200" dirty="0"/>
          </a:p>
        </p:txBody>
      </p:sp>
      <p:sp>
        <p:nvSpPr>
          <p:cNvPr id="4" name="Text 2"/>
          <p:cNvSpPr/>
          <p:nvPr/>
        </p:nvSpPr>
        <p:spPr>
          <a:xfrm>
            <a:off x="566928" y="1298448"/>
            <a:ext cx="10881360" cy="548640"/>
          </a:xfrm>
          <a:prstGeom prst="rect">
            <a:avLst/>
          </a:prstGeom>
          <a:noFill/>
          <a:ln/>
        </p:spPr>
        <p:txBody>
          <a:bodyPr wrap="square" lIns="0" tIns="0" rIns="0" bIns="0" rtlCol="0" anchor="t"/>
          <a:lstStyle/>
          <a:p>
            <a:pPr algn="l" indent="0" marL="0">
              <a:lnSpc>
                <a:spcPct val="115000"/>
              </a:lnSpc>
              <a:buNone/>
            </a:pPr>
            <a:r>
              <a:rPr lang="en-US" sz="1500" dirty="0">
                <a:solidFill>
                  <a:srgbClr val="24303A"/>
                </a:solidFill>
                <a:latin typeface="Calibri" pitchFamily="34" charset="0"/>
                <a:ea typeface="Calibri" pitchFamily="34" charset="-122"/>
                <a:cs typeface="Calibri" pitchFamily="34" charset="-120"/>
              </a:rPr>
              <a:t>2,399 records carry ?. It means asked, not answered. A completeness rule that treated it as missing would have deleted 1,836 records and undone two labs of reasoning.</a:t>
            </a:r>
            <a:endParaRPr lang="en-US" sz="1500" dirty="0"/>
          </a:p>
        </p:txBody>
      </p:sp>
      <p:sp>
        <p:nvSpPr>
          <p:cNvPr id="5" name="Shape 3"/>
          <p:cNvSpPr/>
          <p:nvPr/>
        </p:nvSpPr>
        <p:spPr>
          <a:xfrm>
            <a:off x="566928" y="2057400"/>
            <a:ext cx="5394960" cy="2286000"/>
          </a:xfrm>
          <a:prstGeom prst="roundRect">
            <a:avLst>
              <a:gd name="adj" fmla="val 2400"/>
            </a:avLst>
          </a:prstGeom>
          <a:solidFill>
            <a:srgbClr val="FBEEEC"/>
          </a:solidFill>
          <a:ln w="12700">
            <a:solidFill>
              <a:srgbClr val="FBEEEC"/>
            </a:solidFill>
            <a:prstDash val="solid"/>
          </a:ln>
          <a:effectLst>
            <a:outerShdw sx="100000" sy="100000" kx="0" ky="0" algn="bl" rotWithShape="0" blurRad="101600" dist="12700" dir="5400000">
              <a:srgbClr val="9AA5AE">
                <a:alpha val="25000"/>
              </a:srgbClr>
            </a:outerShdw>
          </a:effectLst>
        </p:spPr>
      </p:sp>
      <p:sp>
        <p:nvSpPr>
          <p:cNvPr id="6" name="Text 4"/>
          <p:cNvSpPr/>
          <p:nvPr/>
        </p:nvSpPr>
        <p:spPr>
          <a:xfrm>
            <a:off x="886968" y="2286000"/>
            <a:ext cx="4754880" cy="274320"/>
          </a:xfrm>
          <a:prstGeom prst="rect">
            <a:avLst/>
          </a:prstGeom>
          <a:noFill/>
          <a:ln/>
        </p:spPr>
        <p:txBody>
          <a:bodyPr wrap="square" lIns="0" tIns="0" rIns="0" bIns="0" rtlCol="0" anchor="ctr"/>
          <a:lstStyle/>
          <a:p>
            <a:pPr indent="0" marL="0">
              <a:buNone/>
            </a:pPr>
            <a:r>
              <a:rPr lang="en-US" sz="1050" b="1" spc="150" kern="0" dirty="0">
                <a:solidFill>
                  <a:srgbClr val="B3453A"/>
                </a:solidFill>
                <a:latin typeface="Calibri" pitchFamily="34" charset="0"/>
                <a:ea typeface="Calibri" pitchFamily="34" charset="-122"/>
                <a:cs typeface="Calibri" pitchFamily="34" charset="-120"/>
              </a:rPr>
              <a:t>THE DELIBERATELY BAD ROW</a:t>
            </a:r>
            <a:endParaRPr lang="en-US" sz="1050" dirty="0"/>
          </a:p>
        </p:txBody>
      </p:sp>
      <p:sp>
        <p:nvSpPr>
          <p:cNvPr id="7" name="Text 5"/>
          <p:cNvSpPr/>
          <p:nvPr/>
        </p:nvSpPr>
        <p:spPr>
          <a:xfrm>
            <a:off x="886968" y="2606040"/>
            <a:ext cx="4754880" cy="411480"/>
          </a:xfrm>
          <a:prstGeom prst="rect">
            <a:avLst/>
          </a:prstGeom>
          <a:noFill/>
          <a:ln/>
        </p:spPr>
        <p:txBody>
          <a:bodyPr wrap="square" lIns="0" tIns="0" rIns="0" bIns="0" rtlCol="0" anchor="ctr"/>
          <a:lstStyle/>
          <a:p>
            <a:pPr indent="0" marL="0">
              <a:buNone/>
            </a:pPr>
            <a:r>
              <a:rPr lang="en-US" sz="1600" b="1" dirty="0">
                <a:solidFill>
                  <a:srgbClr val="24303A"/>
                </a:solidFill>
                <a:latin typeface="Consolas" pitchFamily="34" charset="0"/>
                <a:ea typeface="Consolas" pitchFamily="34" charset="-122"/>
                <a:cs typeface="Consolas" pitchFamily="34" charset="-120"/>
              </a:rPr>
              <a:t>occupation is empty</a:t>
            </a:r>
            <a:endParaRPr lang="en-US" sz="1600" dirty="0"/>
          </a:p>
        </p:txBody>
      </p:sp>
      <p:sp>
        <p:nvSpPr>
          <p:cNvPr id="8" name="Text 6"/>
          <p:cNvSpPr/>
          <p:nvPr/>
        </p:nvSpPr>
        <p:spPr>
          <a:xfrm>
            <a:off x="886968" y="3090672"/>
            <a:ext cx="4754880" cy="100584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Nothing was recorded at all. That is a delivery fault, so it is quarantined, whole, with its reason.</a:t>
            </a:r>
            <a:endParaRPr lang="en-US" sz="1250" dirty="0"/>
          </a:p>
        </p:txBody>
      </p:sp>
      <p:sp>
        <p:nvSpPr>
          <p:cNvPr id="9" name="Shape 7"/>
          <p:cNvSpPr/>
          <p:nvPr/>
        </p:nvSpPr>
        <p:spPr>
          <a:xfrm>
            <a:off x="6281928" y="2057400"/>
            <a:ext cx="5394960" cy="2286000"/>
          </a:xfrm>
          <a:prstGeom prst="roundRect">
            <a:avLst>
              <a:gd name="adj" fmla="val 2400"/>
            </a:avLst>
          </a:prstGeom>
          <a:solidFill>
            <a:srgbClr val="EAF0ED"/>
          </a:solidFill>
          <a:ln w="12700">
            <a:solidFill>
              <a:srgbClr val="EAF0ED"/>
            </a:solidFill>
            <a:prstDash val="solid"/>
          </a:ln>
          <a:effectLst>
            <a:outerShdw sx="100000" sy="100000" kx="0" ky="0" algn="bl" rotWithShape="0" blurRad="101600" dist="12700" dir="5400000">
              <a:srgbClr val="9AA5AE">
                <a:alpha val="25000"/>
              </a:srgbClr>
            </a:outerShdw>
          </a:effectLst>
        </p:spPr>
      </p:sp>
      <p:sp>
        <p:nvSpPr>
          <p:cNvPr id="10" name="Text 8"/>
          <p:cNvSpPr/>
          <p:nvPr/>
        </p:nvSpPr>
        <p:spPr>
          <a:xfrm>
            <a:off x="6601968" y="2286000"/>
            <a:ext cx="4754880" cy="274320"/>
          </a:xfrm>
          <a:prstGeom prst="rect">
            <a:avLst/>
          </a:prstGeom>
          <a:noFill/>
          <a:ln/>
        </p:spPr>
        <p:txBody>
          <a:bodyPr wrap="square" lIns="0" tIns="0" rIns="0" bIns="0" rtlCol="0" anchor="ctr"/>
          <a:lstStyle/>
          <a:p>
            <a:pPr indent="0" marL="0">
              <a:buNone/>
            </a:pPr>
            <a:r>
              <a:rPr lang="en-US" sz="1050" b="1" spc="150" kern="0" dirty="0">
                <a:solidFill>
                  <a:srgbClr val="2E6F5E"/>
                </a:solidFill>
                <a:latin typeface="Calibri" pitchFamily="34" charset="0"/>
                <a:ea typeface="Calibri" pitchFamily="34" charset="-122"/>
                <a:cs typeface="Calibri" pitchFamily="34" charset="-120"/>
              </a:rPr>
              <a:t>THE CONTROL ROW</a:t>
            </a:r>
            <a:endParaRPr lang="en-US" sz="1050" dirty="0"/>
          </a:p>
        </p:txBody>
      </p:sp>
      <p:sp>
        <p:nvSpPr>
          <p:cNvPr id="11" name="Text 9"/>
          <p:cNvSpPr/>
          <p:nvPr/>
        </p:nvSpPr>
        <p:spPr>
          <a:xfrm>
            <a:off x="6601968" y="2606040"/>
            <a:ext cx="4754880" cy="411480"/>
          </a:xfrm>
          <a:prstGeom prst="rect">
            <a:avLst/>
          </a:prstGeom>
          <a:noFill/>
          <a:ln/>
        </p:spPr>
        <p:txBody>
          <a:bodyPr wrap="square" lIns="0" tIns="0" rIns="0" bIns="0" rtlCol="0" anchor="ctr"/>
          <a:lstStyle/>
          <a:p>
            <a:pPr indent="0" marL="0">
              <a:buNone/>
            </a:pPr>
            <a:r>
              <a:rPr lang="en-US" sz="1600" b="1" dirty="0">
                <a:solidFill>
                  <a:srgbClr val="24303A"/>
                </a:solidFill>
                <a:latin typeface="Consolas" pitchFamily="34" charset="0"/>
                <a:ea typeface="Consolas" pitchFamily="34" charset="-122"/>
                <a:cs typeface="Consolas" pitchFamily="34" charset="-120"/>
              </a:rPr>
              <a:t>occupation is ?</a:t>
            </a:r>
            <a:endParaRPr lang="en-US" sz="1600" dirty="0"/>
          </a:p>
        </p:txBody>
      </p:sp>
      <p:sp>
        <p:nvSpPr>
          <p:cNvPr id="12" name="Text 10"/>
          <p:cNvSpPr/>
          <p:nvPr/>
        </p:nvSpPr>
        <p:spPr>
          <a:xfrm>
            <a:off x="6601968" y="3090672"/>
            <a:ext cx="4754880" cy="100584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The answer is unknown, which is a fact. It must LOAD, mapped to the Unknown member.</a:t>
            </a:r>
            <a:endParaRPr lang="en-US" sz="1250" dirty="0"/>
          </a:p>
        </p:txBody>
      </p:sp>
      <p:sp>
        <p:nvSpPr>
          <p:cNvPr id="13" name="Text 11"/>
          <p:cNvSpPr/>
          <p:nvPr/>
        </p:nvSpPr>
        <p:spPr>
          <a:xfrm>
            <a:off x="566928" y="4663440"/>
            <a:ext cx="10881360" cy="457200"/>
          </a:xfrm>
          <a:prstGeom prst="rect">
            <a:avLst/>
          </a:prstGeom>
          <a:noFill/>
          <a:ln/>
        </p:spPr>
        <p:txBody>
          <a:bodyPr wrap="square" lIns="0" tIns="0" rIns="0" bIns="0" rtlCol="0" anchor="ctr"/>
          <a:lstStyle/>
          <a:p>
            <a:pPr indent="0" marL="0">
              <a:buNone/>
            </a:pPr>
            <a:r>
              <a:rPr lang="en-US" sz="1400" b="1" dirty="0">
                <a:solidFill>
                  <a:srgbClr val="24303A"/>
                </a:solidFill>
                <a:latin typeface="Calibri" pitchFamily="34" charset="0"/>
                <a:ea typeface="Calibri" pitchFamily="34" charset="-122"/>
                <a:cs typeface="Calibri" pitchFamily="34" charset="-120"/>
              </a:rPr>
              <a:t>If the control row is ever refused, the rule has silently become a regression that deletes 1,836 records. That is why it is in the fixture.</a:t>
            </a:r>
            <a:endParaRPr lang="en-US" sz="1400" dirty="0"/>
          </a:p>
        </p:txBody>
      </p:sp>
      <p:sp>
        <p:nvSpPr>
          <p:cNvPr id="14" name="Text 12"/>
          <p:cNvSpPr/>
          <p:nvPr/>
        </p:nvSpPr>
        <p:spPr>
          <a:xfrm>
            <a:off x="566928" y="5230368"/>
            <a:ext cx="10881360" cy="731520"/>
          </a:xfrm>
          <a:prstGeom prst="rect">
            <a:avLst/>
          </a:prstGeom>
          <a:noFill/>
          <a:ln/>
        </p:spPr>
        <p:txBody>
          <a:bodyPr wrap="square" lIns="0" tIns="0" rIns="0" bIns="0" rtlCol="0" anchor="t"/>
          <a:lstStyle/>
          <a:p>
            <a:pPr algn="l" indent="0" marL="0">
              <a:lnSpc>
                <a:spcPct val="115000"/>
              </a:lnSpc>
              <a:buNone/>
            </a:pPr>
            <a:r>
              <a:rPr lang="en-US" sz="1250" dirty="0">
                <a:solidFill>
                  <a:srgbClr val="5E6B77"/>
                </a:solidFill>
                <a:latin typeface="Calibri" pitchFamily="34" charset="0"/>
                <a:ea typeface="Calibri" pitchFamily="34" charset="-122"/>
                <a:cs typeface="Calibri" pitchFamily="34" charset="-120"/>
              </a:rPr>
              <a:t>Nine of the ten rules are demonstrated against a fixture that quarantines nine rows and loads one. The tenth, duplicate_record_key, cannot fire from a well-formed file, and that is written down rather than hidden.</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5E6B77"/>
                </a:solidFill>
                <a:latin typeface="Calibri" pitchFamily="34" charset="0"/>
                <a:ea typeface="Calibri" pitchFamily="34" charset="-122"/>
                <a:cs typeface="Calibri" pitchFamily="34" charset="-120"/>
              </a:rPr>
              <a:t>LAB 6  ·  PROTECT PEOPLE</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Does this dataset contain personal data?</a:t>
            </a:r>
            <a:endParaRPr lang="en-US" sz="3200" dirty="0"/>
          </a:p>
        </p:txBody>
      </p:sp>
      <p:sp>
        <p:nvSpPr>
          <p:cNvPr id="4" name="Shape 2"/>
          <p:cNvSpPr/>
          <p:nvPr/>
        </p:nvSpPr>
        <p:spPr>
          <a:xfrm>
            <a:off x="566928" y="1371600"/>
            <a:ext cx="5394960" cy="1371600"/>
          </a:xfrm>
          <a:prstGeom prst="roundRect">
            <a:avLst>
              <a:gd name="adj" fmla="val 4000"/>
            </a:avLst>
          </a:prstGeom>
          <a:solidFill>
            <a:srgbClr val="EAF0ED"/>
          </a:solidFill>
          <a:ln w="12700">
            <a:solidFill>
              <a:srgbClr val="EAF0ED"/>
            </a:solidFill>
            <a:prstDash val="solid"/>
          </a:ln>
        </p:spPr>
      </p:sp>
      <p:sp>
        <p:nvSpPr>
          <p:cNvPr id="5" name="Text 3"/>
          <p:cNvSpPr/>
          <p:nvPr/>
        </p:nvSpPr>
        <p:spPr>
          <a:xfrm>
            <a:off x="886968" y="1572768"/>
            <a:ext cx="4754880" cy="411480"/>
          </a:xfrm>
          <a:prstGeom prst="rect">
            <a:avLst/>
          </a:prstGeom>
          <a:noFill/>
          <a:ln/>
        </p:spPr>
        <p:txBody>
          <a:bodyPr wrap="square" lIns="0" tIns="0" rIns="0" bIns="0" rtlCol="0" anchor="ctr"/>
          <a:lstStyle/>
          <a:p>
            <a:pPr indent="0" marL="0">
              <a:buNone/>
            </a:pPr>
            <a:r>
              <a:rPr lang="en-US" sz="2200" b="1" dirty="0">
                <a:solidFill>
                  <a:srgbClr val="2E6F5E"/>
                </a:solidFill>
                <a:latin typeface="Cambria" pitchFamily="34" charset="0"/>
                <a:ea typeface="Cambria" pitchFamily="34" charset="-122"/>
                <a:cs typeface="Cambria" pitchFamily="34" charset="-120"/>
              </a:rPr>
              <a:t>This file:  no</a:t>
            </a:r>
            <a:endParaRPr lang="en-US" sz="2200" dirty="0"/>
          </a:p>
        </p:txBody>
      </p:sp>
      <p:sp>
        <p:nvSpPr>
          <p:cNvPr id="6" name="Text 4"/>
          <p:cNvSpPr/>
          <p:nvPr/>
        </p:nvSpPr>
        <p:spPr>
          <a:xfrm>
            <a:off x="886968" y="2029968"/>
            <a:ext cx="4754880" cy="64008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1994 US census public-use microdata. No identifier, no Tanzanian data subject. Steps 2 to 4 do not apply.</a:t>
            </a:r>
            <a:endParaRPr lang="en-US" sz="1250" dirty="0"/>
          </a:p>
        </p:txBody>
      </p:sp>
      <p:sp>
        <p:nvSpPr>
          <p:cNvPr id="7" name="Shape 5"/>
          <p:cNvSpPr/>
          <p:nvPr/>
        </p:nvSpPr>
        <p:spPr>
          <a:xfrm>
            <a:off x="6281928" y="1371600"/>
            <a:ext cx="5394960" cy="1371600"/>
          </a:xfrm>
          <a:prstGeom prst="roundRect">
            <a:avLst>
              <a:gd name="adj" fmla="val 4000"/>
            </a:avLst>
          </a:prstGeom>
          <a:solidFill>
            <a:srgbClr val="FBEEEC"/>
          </a:solidFill>
          <a:ln w="12700">
            <a:solidFill>
              <a:srgbClr val="FBEEEC"/>
            </a:solidFill>
            <a:prstDash val="solid"/>
          </a:ln>
        </p:spPr>
      </p:sp>
      <p:sp>
        <p:nvSpPr>
          <p:cNvPr id="8" name="Text 6"/>
          <p:cNvSpPr/>
          <p:nvPr/>
        </p:nvSpPr>
        <p:spPr>
          <a:xfrm>
            <a:off x="6601968" y="1572768"/>
            <a:ext cx="4846320" cy="411480"/>
          </a:xfrm>
          <a:prstGeom prst="rect">
            <a:avLst/>
          </a:prstGeom>
          <a:noFill/>
          <a:ln/>
        </p:spPr>
        <p:txBody>
          <a:bodyPr wrap="square" lIns="0" tIns="0" rIns="0" bIns="0" rtlCol="0" anchor="ctr"/>
          <a:lstStyle/>
          <a:p>
            <a:pPr indent="0" marL="0">
              <a:buNone/>
            </a:pPr>
            <a:r>
              <a:rPr lang="en-US" sz="2000" b="1" dirty="0">
                <a:solidFill>
                  <a:srgbClr val="B3453A"/>
                </a:solidFill>
                <a:latin typeface="Cambria" pitchFamily="34" charset="0"/>
                <a:ea typeface="Cambria" pitchFamily="34" charset="-122"/>
                <a:cs typeface="Cambria" pitchFamily="34" charset="-120"/>
              </a:rPr>
              <a:t>The pipeline it rehearses:  yes</a:t>
            </a:r>
            <a:endParaRPr lang="en-US" sz="2000" dirty="0"/>
          </a:p>
        </p:txBody>
      </p:sp>
      <p:sp>
        <p:nvSpPr>
          <p:cNvPr id="9" name="Text 7"/>
          <p:cNvSpPr/>
          <p:nvPr/>
        </p:nvSpPr>
        <p:spPr>
          <a:xfrm>
            <a:off x="6601968" y="2029968"/>
            <a:ext cx="4754880" cy="640080"/>
          </a:xfrm>
          <a:prstGeom prst="rect">
            <a:avLst/>
          </a:prstGeom>
          <a:noFill/>
          <a:ln/>
        </p:spPr>
        <p:txBody>
          <a:bodyPr wrap="square" lIns="0" tIns="0" rIns="0" bIns="0" rtlCol="0" anchor="t"/>
          <a:lstStyle/>
          <a:p>
            <a:pPr algn="l" indent="0" marL="0">
              <a:lnSpc>
                <a:spcPct val="115000"/>
              </a:lnSpc>
              <a:buNone/>
            </a:pPr>
            <a:r>
              <a:rPr lang="en-US" sz="1250" dirty="0">
                <a:solidFill>
                  <a:srgbClr val="24303A"/>
                </a:solidFill>
                <a:latin typeface="Calibri" pitchFamily="34" charset="0"/>
                <a:ea typeface="Calibri" pitchFamily="34" charset="-122"/>
                <a:cs typeface="Calibri" pitchFamily="34" charset="-120"/>
              </a:rPr>
              <a:t>Outcome records about identifiable living people. Act No. 11 of 2022 applies in full, starting with registration.</a:t>
            </a:r>
            <a:endParaRPr lang="en-US" sz="1250" dirty="0"/>
          </a:p>
        </p:txBody>
      </p:sp>
      <p:sp>
        <p:nvSpPr>
          <p:cNvPr id="10" name="Shape 8"/>
          <p:cNvSpPr/>
          <p:nvPr/>
        </p:nvSpPr>
        <p:spPr>
          <a:xfrm>
            <a:off x="566928" y="3063240"/>
            <a:ext cx="11027664" cy="1783080"/>
          </a:xfrm>
          <a:prstGeom prst="roundRect">
            <a:avLst>
              <a:gd name="adj" fmla="val 3077"/>
            </a:avLst>
          </a:prstGeom>
          <a:solidFill>
            <a:srgbClr val="F1F3F5"/>
          </a:solidFill>
          <a:ln w="12700">
            <a:solidFill>
              <a:srgbClr val="F1F3F5"/>
            </a:solidFill>
            <a:prstDash val="solid"/>
          </a:ln>
        </p:spPr>
      </p:sp>
      <p:sp>
        <p:nvSpPr>
          <p:cNvPr id="11" name="Text 9"/>
          <p:cNvSpPr/>
          <p:nvPr/>
        </p:nvSpPr>
        <p:spPr>
          <a:xfrm>
            <a:off x="932688" y="3273552"/>
            <a:ext cx="10058400" cy="365760"/>
          </a:xfrm>
          <a:prstGeom prst="rect">
            <a:avLst/>
          </a:prstGeom>
          <a:noFill/>
          <a:ln/>
        </p:spPr>
        <p:txBody>
          <a:bodyPr wrap="square" lIns="0" tIns="0" rIns="0" bIns="0" rtlCol="0" anchor="ctr"/>
          <a:lstStyle/>
          <a:p>
            <a:pPr indent="0" marL="0">
              <a:buNone/>
            </a:pPr>
            <a:r>
              <a:rPr lang="en-US" sz="1300" b="1" spc="100" kern="0" dirty="0">
                <a:solidFill>
                  <a:srgbClr val="24303A"/>
                </a:solidFill>
                <a:latin typeface="Calibri" pitchFamily="34" charset="0"/>
                <a:ea typeface="Calibri" pitchFamily="34" charset="-122"/>
                <a:cs typeface="Calibri" pitchFamily="34" charset="-120"/>
              </a:rPr>
              <a:t>The connection we did not expect</a:t>
            </a:r>
            <a:endParaRPr lang="en-US" sz="1300" dirty="0"/>
          </a:p>
        </p:txBody>
      </p:sp>
      <p:sp>
        <p:nvSpPr>
          <p:cNvPr id="12" name="Text 10"/>
          <p:cNvSpPr/>
          <p:nvPr/>
        </p:nvSpPr>
        <p:spPr>
          <a:xfrm>
            <a:off x="932688" y="3657600"/>
            <a:ext cx="10296144" cy="1097280"/>
          </a:xfrm>
          <a:prstGeom prst="rect">
            <a:avLst/>
          </a:prstGeom>
          <a:noFill/>
          <a:ln/>
        </p:spPr>
        <p:txBody>
          <a:bodyPr wrap="square" lIns="0" tIns="0" rIns="0" bIns="0" rtlCol="0" anchor="ctr"/>
          <a:lstStyle/>
          <a:p>
            <a:pPr indent="0" marL="0">
              <a:lnSpc>
                <a:spcPct val="125000"/>
              </a:lnSpc>
              <a:buNone/>
            </a:pPr>
            <a:r>
              <a:rPr lang="en-US" sz="1400" dirty="0">
                <a:solidFill>
                  <a:srgbClr val="24303A"/>
                </a:solidFill>
                <a:latin typeface="Calibri" pitchFamily="34" charset="0"/>
                <a:ea typeface="Calibri" pitchFamily="34" charset="-122"/>
                <a:cs typeface="Calibri" pitchFamily="34" charset="-120"/>
              </a:rPr>
              <a:t>The top-coding Lab 1 recorded as a defect is anonymisation. Age capped at 90 with zero records at 89, capital gain at 99999, hours at 99: the tails compressed into one bucket so the unusual respondent cannot be picked out. Both readings are true at once, which is exactly why those measures are flagged and excluded from averages rather than deleted.</a:t>
            </a:r>
            <a:endParaRPr lang="en-US" sz="1400" dirty="0"/>
          </a:p>
        </p:txBody>
      </p:sp>
      <p:sp>
        <p:nvSpPr>
          <p:cNvPr id="13" name="Text 11"/>
          <p:cNvSpPr/>
          <p:nvPr/>
        </p:nvSpPr>
        <p:spPr>
          <a:xfrm>
            <a:off x="566928" y="5120640"/>
            <a:ext cx="10881360" cy="457200"/>
          </a:xfrm>
          <a:prstGeom prst="rect">
            <a:avLst/>
          </a:prstGeom>
          <a:noFill/>
          <a:ln/>
        </p:spPr>
        <p:txBody>
          <a:bodyPr wrap="square" lIns="0" tIns="0" rIns="0" bIns="0" rtlCol="0" anchor="ctr"/>
          <a:lstStyle/>
          <a:p>
            <a:pPr indent="0" marL="0">
              <a:buNone/>
            </a:pPr>
            <a:r>
              <a:rPr lang="en-US" sz="1350" i="1" dirty="0">
                <a:solidFill>
                  <a:srgbClr val="5E6B77"/>
                </a:solidFill>
                <a:latin typeface="Calibri" pitchFamily="34" charset="0"/>
                <a:ea typeface="Calibri" pitchFamily="34" charset="-122"/>
                <a:cs typeface="Calibri" pitchFamily="34" charset="-120"/>
              </a:rPr>
              <a:t>Claiming compliance over a public teaching file would misread the law. Assuming the real system inherits this file's freedom would be worse.</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2103120"/>
            <a:ext cx="5486400" cy="365760"/>
          </a:xfrm>
          <a:prstGeom prst="rect">
            <a:avLst/>
          </a:prstGeom>
          <a:noFill/>
          <a:ln/>
        </p:spPr>
        <p:txBody>
          <a:bodyPr wrap="square" lIns="0" tIns="0" rIns="0" bIns="0" rtlCol="0" anchor="ctr"/>
          <a:lstStyle/>
          <a:p>
            <a:pPr indent="0" marL="0">
              <a:buNone/>
            </a:pPr>
            <a:r>
              <a:rPr lang="en-US" sz="1300" b="1" spc="300" kern="0" dirty="0">
                <a:solidFill>
                  <a:srgbClr val="8FC3B2"/>
                </a:solidFill>
                <a:latin typeface="Calibri" pitchFamily="34" charset="0"/>
                <a:ea typeface="Calibri" pitchFamily="34" charset="-122"/>
                <a:cs typeface="Calibri" pitchFamily="34" charset="-120"/>
              </a:rPr>
              <a:t>LAB 7</a:t>
            </a:r>
            <a:endParaRPr lang="en-US" sz="1300" dirty="0"/>
          </a:p>
        </p:txBody>
      </p:sp>
      <p:sp>
        <p:nvSpPr>
          <p:cNvPr id="3" name="Text 1"/>
          <p:cNvSpPr/>
          <p:nvPr/>
        </p:nvSpPr>
        <p:spPr>
          <a:xfrm>
            <a:off x="566928" y="25146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Open one clean tap</a:t>
            </a:r>
            <a:endParaRPr lang="en-US" sz="4000" dirty="0"/>
          </a:p>
        </p:txBody>
      </p:sp>
      <p:sp>
        <p:nvSpPr>
          <p:cNvPr id="4" name="Text 2"/>
          <p:cNvSpPr/>
          <p:nvPr/>
        </p:nvSpPr>
        <p:spPr>
          <a:xfrm>
            <a:off x="566928" y="3520440"/>
            <a:ext cx="10332720" cy="457200"/>
          </a:xfrm>
          <a:prstGeom prst="rect">
            <a:avLst/>
          </a:prstGeom>
          <a:noFill/>
          <a:ln/>
        </p:spPr>
        <p:txBody>
          <a:bodyPr wrap="square" lIns="0" tIns="0" rIns="0" bIns="0" rtlCol="0" anchor="ctr"/>
          <a:lstStyle/>
          <a:p>
            <a:pPr indent="0" marL="0">
              <a:buNone/>
            </a:pPr>
            <a:r>
              <a:rPr lang="en-US" sz="1600" dirty="0">
                <a:solidFill>
                  <a:srgbClr val="A8B4BE"/>
                </a:solidFill>
                <a:latin typeface="Calibri" pitchFamily="34" charset="0"/>
                <a:ea typeface="Calibri" pitchFamily="34" charset="-122"/>
                <a:cs typeface="Calibri" pitchFamily="34" charset="-120"/>
              </a:rPr>
              <a:t>One curated table, every metric defined once, and a freshness label that goes stale on its own.</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5E6B77"/>
                </a:solidFill>
                <a:latin typeface="Calibri" pitchFamily="34" charset="0"/>
                <a:ea typeface="Calibri" pitchFamily="34" charset="-122"/>
                <a:cs typeface="Calibri" pitchFamily="34" charset="-120"/>
              </a:rPr>
              <a:t>LAB 7  ·  THE SERVING TABLE</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mart_segment_allocation, and why it is a table</a:t>
            </a:r>
            <a:endParaRPr lang="en-US" sz="3200" dirty="0"/>
          </a:p>
        </p:txBody>
      </p:sp>
      <p:sp>
        <p:nvSpPr>
          <p:cNvPr id="4" name="Text 2"/>
          <p:cNvSpPr/>
          <p:nvPr/>
        </p:nvSpPr>
        <p:spPr>
          <a:xfrm>
            <a:off x="566928" y="1371600"/>
            <a:ext cx="2377440" cy="777240"/>
          </a:xfrm>
          <a:prstGeom prst="rect">
            <a:avLst/>
          </a:prstGeom>
          <a:noFill/>
          <a:ln/>
        </p:spPr>
        <p:txBody>
          <a:bodyPr wrap="square" lIns="0" tIns="0" rIns="0" bIns="0" rtlCol="0" anchor="ctr"/>
          <a:lstStyle/>
          <a:p>
            <a:pPr algn="l" indent="0" marL="0">
              <a:buNone/>
            </a:pPr>
            <a:r>
              <a:rPr lang="en-US" sz="4200" b="1" dirty="0">
                <a:solidFill>
                  <a:srgbClr val="24303A"/>
                </a:solidFill>
                <a:latin typeface="Cambria" pitchFamily="34" charset="0"/>
                <a:ea typeface="Cambria" pitchFamily="34" charset="-122"/>
                <a:cs typeface="Cambria" pitchFamily="34" charset="-120"/>
              </a:rPr>
              <a:t>87</a:t>
            </a:r>
            <a:endParaRPr lang="en-US" sz="4200" dirty="0"/>
          </a:p>
        </p:txBody>
      </p:sp>
      <p:sp>
        <p:nvSpPr>
          <p:cNvPr id="5" name="Text 3"/>
          <p:cNvSpPr/>
          <p:nvPr/>
        </p:nvSpPr>
        <p:spPr>
          <a:xfrm>
            <a:off x="566928" y="2121408"/>
            <a:ext cx="237744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segments published</a:t>
            </a:r>
            <a:endParaRPr lang="en-US" sz="1200" dirty="0"/>
          </a:p>
        </p:txBody>
      </p:sp>
      <p:sp>
        <p:nvSpPr>
          <p:cNvPr id="6" name="Text 4"/>
          <p:cNvSpPr/>
          <p:nvPr/>
        </p:nvSpPr>
        <p:spPr>
          <a:xfrm>
            <a:off x="3218688" y="1371600"/>
            <a:ext cx="2560320" cy="777240"/>
          </a:xfrm>
          <a:prstGeom prst="rect">
            <a:avLst/>
          </a:prstGeom>
          <a:noFill/>
          <a:ln/>
        </p:spPr>
        <p:txBody>
          <a:bodyPr wrap="square" lIns="0" tIns="0" rIns="0" bIns="0" rtlCol="0" anchor="ctr"/>
          <a:lstStyle/>
          <a:p>
            <a:pPr algn="l" indent="0" marL="0">
              <a:buNone/>
            </a:pPr>
            <a:r>
              <a:rPr lang="en-US" sz="4200" b="1" dirty="0">
                <a:solidFill>
                  <a:srgbClr val="24303A"/>
                </a:solidFill>
                <a:latin typeface="Cambria" pitchFamily="34" charset="0"/>
                <a:ea typeface="Cambria" pitchFamily="34" charset="-122"/>
                <a:cs typeface="Cambria" pitchFamily="34" charset="-120"/>
              </a:rPr>
              <a:t>16,005</a:t>
            </a:r>
            <a:endParaRPr lang="en-US" sz="4200" dirty="0"/>
          </a:p>
        </p:txBody>
      </p:sp>
      <p:sp>
        <p:nvSpPr>
          <p:cNvPr id="7" name="Text 5"/>
          <p:cNvSpPr/>
          <p:nvPr/>
        </p:nvSpPr>
        <p:spPr>
          <a:xfrm>
            <a:off x="3218688" y="2121408"/>
            <a:ext cx="256032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in the eligible pool</a:t>
            </a:r>
            <a:endParaRPr lang="en-US" sz="1200" dirty="0"/>
          </a:p>
        </p:txBody>
      </p:sp>
      <p:sp>
        <p:nvSpPr>
          <p:cNvPr id="8" name="Text 6"/>
          <p:cNvSpPr/>
          <p:nvPr/>
        </p:nvSpPr>
        <p:spPr>
          <a:xfrm>
            <a:off x="6053328" y="1371600"/>
            <a:ext cx="2377440" cy="777240"/>
          </a:xfrm>
          <a:prstGeom prst="rect">
            <a:avLst/>
          </a:prstGeom>
          <a:noFill/>
          <a:ln/>
        </p:spPr>
        <p:txBody>
          <a:bodyPr wrap="square" lIns="0" tIns="0" rIns="0" bIns="0" rtlCol="0" anchor="ctr"/>
          <a:lstStyle/>
          <a:p>
            <a:pPr algn="l" indent="0" marL="0">
              <a:buNone/>
            </a:pPr>
            <a:r>
              <a:rPr lang="en-US" sz="4200" b="1" dirty="0">
                <a:solidFill>
                  <a:srgbClr val="B3453A"/>
                </a:solidFill>
                <a:latin typeface="Cambria" pitchFamily="34" charset="0"/>
                <a:ea typeface="Cambria" pitchFamily="34" charset="-122"/>
                <a:cs typeface="Cambria" pitchFamily="34" charset="-120"/>
              </a:rPr>
              <a:t>20</a:t>
            </a:r>
            <a:endParaRPr lang="en-US" sz="4200" dirty="0"/>
          </a:p>
        </p:txBody>
      </p:sp>
      <p:sp>
        <p:nvSpPr>
          <p:cNvPr id="9" name="Text 7"/>
          <p:cNvSpPr/>
          <p:nvPr/>
        </p:nvSpPr>
        <p:spPr>
          <a:xfrm>
            <a:off x="6053328" y="2121408"/>
            <a:ext cx="237744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sparse, under 30 people</a:t>
            </a:r>
            <a:endParaRPr lang="en-US" sz="1200" dirty="0"/>
          </a:p>
        </p:txBody>
      </p:sp>
      <p:sp>
        <p:nvSpPr>
          <p:cNvPr id="10" name="Text 8"/>
          <p:cNvSpPr/>
          <p:nvPr/>
        </p:nvSpPr>
        <p:spPr>
          <a:xfrm>
            <a:off x="8796528" y="1371600"/>
            <a:ext cx="2743200" cy="777240"/>
          </a:xfrm>
          <a:prstGeom prst="rect">
            <a:avLst/>
          </a:prstGeom>
          <a:noFill/>
          <a:ln/>
        </p:spPr>
        <p:txBody>
          <a:bodyPr wrap="square" lIns="0" tIns="0" rIns="0" bIns="0" rtlCol="0" anchor="ctr"/>
          <a:lstStyle/>
          <a:p>
            <a:pPr algn="l" indent="0" marL="0">
              <a:buNone/>
            </a:pPr>
            <a:r>
              <a:rPr lang="en-US" sz="4200" b="1" dirty="0">
                <a:solidFill>
                  <a:srgbClr val="B3453A"/>
                </a:solidFill>
                <a:latin typeface="Cambria" pitchFamily="34" charset="0"/>
                <a:ea typeface="Cambria" pitchFamily="34" charset="-122"/>
                <a:cs typeface="Cambria" pitchFamily="34" charset="-120"/>
              </a:rPr>
              <a:t>7</a:t>
            </a:r>
            <a:endParaRPr lang="en-US" sz="4200" dirty="0"/>
          </a:p>
        </p:txBody>
      </p:sp>
      <p:sp>
        <p:nvSpPr>
          <p:cNvPr id="11" name="Text 9"/>
          <p:cNvSpPr/>
          <p:nvPr/>
        </p:nvSpPr>
        <p:spPr>
          <a:xfrm>
            <a:off x="8796528" y="2121408"/>
            <a:ext cx="2743200" cy="457200"/>
          </a:xfrm>
          <a:prstGeom prst="rect">
            <a:avLst/>
          </a:prstGeom>
          <a:noFill/>
          <a:ln/>
        </p:spPr>
        <p:txBody>
          <a:bodyPr wrap="square" lIns="0" tIns="0" rIns="0" bIns="0" rtlCol="0" anchor="ctr"/>
          <a:lstStyle/>
          <a:p>
            <a:pPr algn="l" indent="0" marL="0">
              <a:buNone/>
            </a:pPr>
            <a:r>
              <a:rPr lang="en-US" sz="1200" dirty="0">
                <a:solidFill>
                  <a:srgbClr val="5E6B77"/>
                </a:solidFill>
                <a:latin typeface="Calibri" pitchFamily="34" charset="0"/>
                <a:ea typeface="Calibri" pitchFamily="34" charset="-122"/>
                <a:cs typeface="Calibri" pitchFamily="34" charset="-120"/>
              </a:rPr>
              <a:t>no assignable occupation</a:t>
            </a:r>
            <a:endParaRPr lang="en-US" sz="1200" dirty="0"/>
          </a:p>
        </p:txBody>
      </p:sp>
      <p:sp>
        <p:nvSpPr>
          <p:cNvPr id="12" name="Shape 10"/>
          <p:cNvSpPr/>
          <p:nvPr/>
        </p:nvSpPr>
        <p:spPr>
          <a:xfrm>
            <a:off x="566928" y="2834640"/>
            <a:ext cx="11027664" cy="1371600"/>
          </a:xfrm>
          <a:prstGeom prst="roundRect">
            <a:avLst>
              <a:gd name="adj" fmla="val 4000"/>
            </a:avLst>
          </a:prstGeom>
          <a:solidFill>
            <a:srgbClr val="F1F3F5"/>
          </a:solidFill>
          <a:ln w="12700">
            <a:solidFill>
              <a:srgbClr val="F1F3F5"/>
            </a:solidFill>
            <a:prstDash val="solid"/>
          </a:ln>
        </p:spPr>
      </p:sp>
      <p:sp>
        <p:nvSpPr>
          <p:cNvPr id="13" name="Text 11"/>
          <p:cNvSpPr/>
          <p:nvPr/>
        </p:nvSpPr>
        <p:spPr>
          <a:xfrm>
            <a:off x="932688" y="3017520"/>
            <a:ext cx="10058400" cy="365760"/>
          </a:xfrm>
          <a:prstGeom prst="rect">
            <a:avLst/>
          </a:prstGeom>
          <a:noFill/>
          <a:ln/>
        </p:spPr>
        <p:txBody>
          <a:bodyPr wrap="square" lIns="0" tIns="0" rIns="0" bIns="0" rtlCol="0" anchor="ctr"/>
          <a:lstStyle/>
          <a:p>
            <a:pPr indent="0" marL="0">
              <a:buNone/>
            </a:pPr>
            <a:r>
              <a:rPr lang="en-US" sz="1300" b="1" spc="100" kern="0" dirty="0">
                <a:solidFill>
                  <a:srgbClr val="24303A"/>
                </a:solidFill>
                <a:latin typeface="Calibri" pitchFamily="34" charset="0"/>
                <a:ea typeface="Calibri" pitchFamily="34" charset="-122"/>
                <a:cs typeface="Calibri" pitchFamily="34" charset="-120"/>
              </a:rPr>
              <a:t>A view can never be stale</a:t>
            </a:r>
            <a:endParaRPr lang="en-US" sz="1300" dirty="0"/>
          </a:p>
        </p:txBody>
      </p:sp>
      <p:sp>
        <p:nvSpPr>
          <p:cNvPr id="14" name="Text 12"/>
          <p:cNvSpPr/>
          <p:nvPr/>
        </p:nvSpPr>
        <p:spPr>
          <a:xfrm>
            <a:off x="932688" y="3401568"/>
            <a:ext cx="10296144" cy="731520"/>
          </a:xfrm>
          <a:prstGeom prst="rect">
            <a:avLst/>
          </a:prstGeom>
          <a:noFill/>
          <a:ln/>
        </p:spPr>
        <p:txBody>
          <a:bodyPr wrap="square" lIns="0" tIns="0" rIns="0" bIns="0" rtlCol="0" anchor="ctr"/>
          <a:lstStyle/>
          <a:p>
            <a:pPr indent="0" marL="0">
              <a:lnSpc>
                <a:spcPct val="120000"/>
              </a:lnSpc>
              <a:buNone/>
            </a:pPr>
            <a:r>
              <a:rPr lang="en-US" sz="1400" dirty="0">
                <a:solidFill>
                  <a:srgbClr val="24303A"/>
                </a:solidFill>
                <a:latin typeface="Calibri" pitchFamily="34" charset="0"/>
                <a:ea typeface="Calibri" pitchFamily="34" charset="-122"/>
                <a:cs typeface="Calibri" pitchFamily="34" charset="-120"/>
              </a:rPr>
              <a:t>A view is recomputed on read, so it would always report fresh whatever had happened to the pipeline. A label that cannot go stale is worse than no label, because it is a promise nothing can break. Materialising the table means it carries the moment it was built.</a:t>
            </a:r>
            <a:endParaRPr lang="en-US" sz="1400" dirty="0"/>
          </a:p>
        </p:txBody>
      </p:sp>
      <p:sp>
        <p:nvSpPr>
          <p:cNvPr id="15" name="Text 13"/>
          <p:cNvSpPr/>
          <p:nvPr/>
        </p:nvSpPr>
        <p:spPr>
          <a:xfrm>
            <a:off x="566928" y="4434840"/>
            <a:ext cx="10881360" cy="1463040"/>
          </a:xfrm>
          <a:prstGeom prst="rect">
            <a:avLst/>
          </a:prstGeom>
          <a:noFill/>
          <a:ln/>
        </p:spPr>
        <p:txBody>
          <a:bodyPr wrap="square" lIns="0" tIns="0" rIns="0" bIns="0" rtlCol="0" anchor="ctr"/>
          <a:lstStyle/>
          <a:p>
            <a:pPr marL="342900" indent="-342900">
              <a:lnSpc>
                <a:spcPct val="110000"/>
              </a:lnSpc>
              <a:spcAft>
                <a:spcPts val="600"/>
              </a:spcAft>
              <a:buSzPct val="100000"/>
              <a:buChar char="•"/>
            </a:pPr>
            <a:r>
              <a:rPr lang="en-US" sz="1250" dirty="0">
                <a:solidFill>
                  <a:srgbClr val="24303A"/>
                </a:solidFill>
                <a:latin typeface="Calibri" pitchFamily="34" charset="0"/>
                <a:ea typeface="Calibri" pitchFamily="34" charset="-122"/>
                <a:cs typeface="Calibri" pitchFamily="34" charset="-120"/>
              </a:rPr>
              <a:t>Two columns exist because a number alone misleads: hours_measured_on beside mean_hours, because a mean over 12 records and a mean over 1,200 are different claims</a:t>
            </a:r>
            <a:endParaRPr lang="en-US" sz="1250" dirty="0"/>
          </a:p>
          <a:p>
            <a:pPr marL="342900" indent="-342900">
              <a:lnSpc>
                <a:spcPct val="110000"/>
              </a:lnSpc>
              <a:spcAft>
                <a:spcPts val="600"/>
              </a:spcAft>
              <a:buSzPct val="100000"/>
              <a:buChar char="•"/>
            </a:pPr>
            <a:r>
              <a:rPr lang="en-US" sz="1250" dirty="0">
                <a:solidFill>
                  <a:srgbClr val="24303A"/>
                </a:solidFill>
                <a:latin typeface="Calibri" pitchFamily="34" charset="0"/>
                <a:ea typeface="Calibri" pitchFamily="34" charset="-122"/>
                <a:cs typeface="Calibri" pitchFamily="34" charset="-120"/>
              </a:rPr>
              <a:t>The 7 unassignable segments are published and flagged, not dropped, so the counts still sum to 16,005. A total that does not reconcile is how two dashboards begin to disagree</a:t>
            </a:r>
            <a:endParaRPr lang="en-US" sz="1250" dirty="0"/>
          </a:p>
          <a:p>
            <a:pPr marL="342900" indent="-342900">
              <a:lnSpc>
                <a:spcPct val="110000"/>
              </a:lnSpc>
              <a:spcAft>
                <a:spcPts val="600"/>
              </a:spcAft>
              <a:buSzPct val="100000"/>
              <a:buChar char="•"/>
            </a:pPr>
            <a:r>
              <a:rPr lang="en-US" sz="1250" dirty="0">
                <a:solidFill>
                  <a:srgbClr val="24303A"/>
                </a:solidFill>
                <a:latin typeface="Calibri" pitchFamily="34" charset="0"/>
                <a:ea typeface="Calibri" pitchFamily="34" charset="-122"/>
                <a:cs typeface="Calibri" pitchFamily="34" charset="-120"/>
              </a:rPr>
              <a:t>metrics.md defines formula, grain, filters and owner for every column. The dashboard computes nothing of its own</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7  ·  BREAK IT ON PURPOSE</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The label is a function of the data, not a reminder</a:t>
            </a:r>
            <a:endParaRPr lang="en-US" sz="3200" dirty="0"/>
          </a:p>
        </p:txBody>
      </p:sp>
      <p:sp>
        <p:nvSpPr>
          <p:cNvPr id="4" name="Shape 2"/>
          <p:cNvSpPr/>
          <p:nvPr/>
        </p:nvSpPr>
        <p:spPr>
          <a:xfrm>
            <a:off x="566928" y="1371600"/>
            <a:ext cx="5394960" cy="2011680"/>
          </a:xfrm>
          <a:prstGeom prst="roundRect">
            <a:avLst>
              <a:gd name="adj" fmla="val 2727"/>
            </a:avLst>
          </a:prstGeom>
          <a:solidFill>
            <a:srgbClr val="FFFFFF"/>
          </a:solidFill>
          <a:ln w="31750">
            <a:solidFill>
              <a:srgbClr val="2E6F5E"/>
            </a:solidFill>
            <a:prstDash val="solid"/>
          </a:ln>
        </p:spPr>
      </p:sp>
      <p:sp>
        <p:nvSpPr>
          <p:cNvPr id="5" name="Text 3"/>
          <p:cNvSpPr/>
          <p:nvPr/>
        </p:nvSpPr>
        <p:spPr>
          <a:xfrm>
            <a:off x="886968" y="1600200"/>
            <a:ext cx="4754880" cy="365760"/>
          </a:xfrm>
          <a:prstGeom prst="rect">
            <a:avLst/>
          </a:prstGeom>
          <a:noFill/>
          <a:ln/>
        </p:spPr>
        <p:txBody>
          <a:bodyPr wrap="square" lIns="0" tIns="0" rIns="0" bIns="0" rtlCol="0" anchor="ctr"/>
          <a:lstStyle/>
          <a:p>
            <a:pPr indent="0" marL="0">
              <a:buNone/>
            </a:pPr>
            <a:r>
              <a:rPr lang="en-US" sz="1400" b="1" spc="200" kern="0" dirty="0">
                <a:solidFill>
                  <a:srgbClr val="2E6F5E"/>
                </a:solidFill>
                <a:latin typeface="Calibri" pitchFamily="34" charset="0"/>
                <a:ea typeface="Calibri" pitchFamily="34" charset="-122"/>
                <a:cs typeface="Calibri" pitchFamily="34" charset="-120"/>
              </a:rPr>
              <a:t>FRESH</a:t>
            </a:r>
            <a:endParaRPr lang="en-US" sz="1400" dirty="0"/>
          </a:p>
        </p:txBody>
      </p:sp>
      <p:sp>
        <p:nvSpPr>
          <p:cNvPr id="6" name="Text 4"/>
          <p:cNvSpPr/>
          <p:nvPr/>
        </p:nvSpPr>
        <p:spPr>
          <a:xfrm>
            <a:off x="886968" y="1993392"/>
            <a:ext cx="4754880" cy="1097280"/>
          </a:xfrm>
          <a:prstGeom prst="rect">
            <a:avLst/>
          </a:prstGeom>
          <a:noFill/>
          <a:ln/>
        </p:spPr>
        <p:txBody>
          <a:bodyPr wrap="square" lIns="0" tIns="0" rIns="0" bIns="0" rtlCol="0" anchor="ctr"/>
          <a:lstStyle/>
          <a:p>
            <a:pPr indent="0" marL="0">
              <a:lnSpc>
                <a:spcPct val="120000"/>
              </a:lnSpc>
              <a:buNone/>
            </a:pPr>
            <a:r>
              <a:rPr lang="en-US" sz="1300" dirty="0">
                <a:solidFill>
                  <a:srgbClr val="24303A"/>
                </a:solidFill>
                <a:latin typeface="Calibri" pitchFamily="34" charset="0"/>
                <a:ea typeface="Calibri" pitchFamily="34" charset="-122"/>
                <a:cs typeface="Calibri" pitchFamily="34" charset="-120"/>
              </a:rPr>
              <a:t>Data as of 0.0 hours ago. The pipeline refreshed this table within its promise of every run.</a:t>
            </a:r>
            <a:endParaRPr lang="en-US" sz="1300" dirty="0"/>
          </a:p>
        </p:txBody>
      </p:sp>
      <p:sp>
        <p:nvSpPr>
          <p:cNvPr id="7" name="Shape 5"/>
          <p:cNvSpPr/>
          <p:nvPr/>
        </p:nvSpPr>
        <p:spPr>
          <a:xfrm>
            <a:off x="6281928" y="1371600"/>
            <a:ext cx="5394960" cy="2011680"/>
          </a:xfrm>
          <a:prstGeom prst="roundRect">
            <a:avLst>
              <a:gd name="adj" fmla="val 2727"/>
            </a:avLst>
          </a:prstGeom>
          <a:solidFill>
            <a:srgbClr val="FFFFFF"/>
          </a:solidFill>
          <a:ln w="31750">
            <a:solidFill>
              <a:srgbClr val="B3453A"/>
            </a:solidFill>
            <a:prstDash val="solid"/>
          </a:ln>
        </p:spPr>
      </p:sp>
      <p:sp>
        <p:nvSpPr>
          <p:cNvPr id="8" name="Text 6"/>
          <p:cNvSpPr/>
          <p:nvPr/>
        </p:nvSpPr>
        <p:spPr>
          <a:xfrm>
            <a:off x="6601968" y="1600200"/>
            <a:ext cx="4754880" cy="365760"/>
          </a:xfrm>
          <a:prstGeom prst="rect">
            <a:avLst/>
          </a:prstGeom>
          <a:noFill/>
          <a:ln/>
        </p:spPr>
        <p:txBody>
          <a:bodyPr wrap="square" lIns="0" tIns="0" rIns="0" bIns="0" rtlCol="0" anchor="ctr"/>
          <a:lstStyle/>
          <a:p>
            <a:pPr indent="0" marL="0">
              <a:buNone/>
            </a:pPr>
            <a:r>
              <a:rPr lang="en-US" sz="1400" b="1" spc="200" kern="0" dirty="0">
                <a:solidFill>
                  <a:srgbClr val="B3453A"/>
                </a:solidFill>
                <a:latin typeface="Calibri" pitchFamily="34" charset="0"/>
                <a:ea typeface="Calibri" pitchFamily="34" charset="-122"/>
                <a:cs typeface="Calibri" pitchFamily="34" charset="-120"/>
              </a:rPr>
              <a:t>STALE</a:t>
            </a:r>
            <a:endParaRPr lang="en-US" sz="1400" dirty="0"/>
          </a:p>
        </p:txBody>
      </p:sp>
      <p:sp>
        <p:nvSpPr>
          <p:cNvPr id="9" name="Text 7"/>
          <p:cNvSpPr/>
          <p:nvPr/>
        </p:nvSpPr>
        <p:spPr>
          <a:xfrm>
            <a:off x="6601968" y="1993392"/>
            <a:ext cx="4754880" cy="1097280"/>
          </a:xfrm>
          <a:prstGeom prst="rect">
            <a:avLst/>
          </a:prstGeom>
          <a:noFill/>
          <a:ln/>
        </p:spPr>
        <p:txBody>
          <a:bodyPr wrap="square" lIns="0" tIns="0" rIns="0" bIns="0" rtlCol="0" anchor="ctr"/>
          <a:lstStyle/>
          <a:p>
            <a:pPr indent="0" marL="0">
              <a:lnSpc>
                <a:spcPct val="120000"/>
              </a:lnSpc>
              <a:buNone/>
            </a:pPr>
            <a:r>
              <a:rPr lang="en-US" sz="1300" dirty="0">
                <a:solidFill>
                  <a:srgbClr val="24303A"/>
                </a:solidFill>
                <a:latin typeface="Calibri" pitchFamily="34" charset="0"/>
                <a:ea typeface="Calibri" pitchFamily="34" charset="-122"/>
                <a:cs typeface="Calibri" pitchFamily="34" charset="-120"/>
              </a:rPr>
              <a:t>Data is 9.0 days old. This view is not current and should not be used for a decision until the pipeline has run.</a:t>
            </a:r>
            <a:endParaRPr lang="en-US" sz="1300" dirty="0"/>
          </a:p>
        </p:txBody>
      </p:sp>
      <p:sp>
        <p:nvSpPr>
          <p:cNvPr id="10" name="Text 8"/>
          <p:cNvSpPr/>
          <p:nvPr/>
        </p:nvSpPr>
        <p:spPr>
          <a:xfrm>
            <a:off x="566928" y="3657600"/>
            <a:ext cx="10881360" cy="822960"/>
          </a:xfrm>
          <a:prstGeom prst="rect">
            <a:avLst/>
          </a:prstGeom>
          <a:noFill/>
          <a:ln/>
        </p:spPr>
        <p:txBody>
          <a:bodyPr wrap="square" lIns="0" tIns="0" rIns="0" bIns="0" rtlCol="0" anchor="t"/>
          <a:lstStyle/>
          <a:p>
            <a:pPr algn="l" indent="0" marL="0">
              <a:lnSpc>
                <a:spcPct val="115000"/>
              </a:lnSpc>
              <a:buNone/>
            </a:pPr>
            <a:r>
              <a:rPr lang="en-US" sz="1400" dirty="0">
                <a:solidFill>
                  <a:srgbClr val="24303A"/>
                </a:solidFill>
                <a:latin typeface="Calibri" pitchFamily="34" charset="0"/>
                <a:ea typeface="Calibri" pitchFamily="34" charset="-122"/>
                <a:cs typeface="Calibri" pitchFamily="34" charset="-120"/>
              </a:rPr>
              <a:t>We pushed the last successful refresh back nine days in the warehouse, which is what a pipeline that quietly stopped would leave behind, then rebuilt the page with no override of any kind. The banner changed from a reassurance to an instruction.</a:t>
            </a:r>
            <a:endParaRPr lang="en-US" sz="1400" dirty="0"/>
          </a:p>
        </p:txBody>
      </p:sp>
      <p:sp>
        <p:nvSpPr>
          <p:cNvPr id="11" name="Shape 9"/>
          <p:cNvSpPr/>
          <p:nvPr/>
        </p:nvSpPr>
        <p:spPr>
          <a:xfrm>
            <a:off x="566928" y="4663440"/>
            <a:ext cx="11027664" cy="1005840"/>
          </a:xfrm>
          <a:prstGeom prst="roundRect">
            <a:avLst>
              <a:gd name="adj" fmla="val 5455"/>
            </a:avLst>
          </a:prstGeom>
          <a:solidFill>
            <a:srgbClr val="EAF0ED"/>
          </a:solidFill>
          <a:ln w="12700">
            <a:solidFill>
              <a:srgbClr val="EAF0ED"/>
            </a:solidFill>
            <a:prstDash val="solid"/>
          </a:ln>
        </p:spPr>
      </p:sp>
      <p:sp>
        <p:nvSpPr>
          <p:cNvPr id="12" name="Text 10"/>
          <p:cNvSpPr/>
          <p:nvPr/>
        </p:nvSpPr>
        <p:spPr>
          <a:xfrm>
            <a:off x="886968" y="4864608"/>
            <a:ext cx="10387584" cy="640080"/>
          </a:xfrm>
          <a:prstGeom prst="rect">
            <a:avLst/>
          </a:prstGeom>
          <a:noFill/>
          <a:ln/>
        </p:spPr>
        <p:txBody>
          <a:bodyPr wrap="square" lIns="0" tIns="0" rIns="0" bIns="0" rtlCol="0" anchor="ctr"/>
          <a:lstStyle/>
          <a:p>
            <a:pPr indent="0" marL="0">
              <a:lnSpc>
                <a:spcPct val="120000"/>
              </a:lnSpc>
              <a:buNone/>
            </a:pPr>
            <a:r>
              <a:rPr lang="en-US" sz="1350" dirty="0">
                <a:solidFill>
                  <a:srgbClr val="24303A"/>
                </a:solidFill>
                <a:latin typeface="Calibri" pitchFamily="34" charset="0"/>
                <a:ea typeface="Calibri" pitchFamily="34" charset="-122"/>
                <a:cs typeface="Calibri" pitchFamily="34" charset="-120"/>
              </a:rPr>
              <a:t>The recovery is the half worth noticing. Running the pipeline again cleared the banner without anyone editing the page. The label is not a warning someone remembered to switch on.</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2103120"/>
            <a:ext cx="5486400" cy="365760"/>
          </a:xfrm>
          <a:prstGeom prst="rect">
            <a:avLst/>
          </a:prstGeom>
          <a:noFill/>
          <a:ln/>
        </p:spPr>
        <p:txBody>
          <a:bodyPr wrap="square" lIns="0" tIns="0" rIns="0" bIns="0" rtlCol="0" anchor="ctr"/>
          <a:lstStyle/>
          <a:p>
            <a:pPr indent="0" marL="0">
              <a:buNone/>
            </a:pPr>
            <a:r>
              <a:rPr lang="en-US" sz="1300" b="1" spc="300" kern="0" dirty="0">
                <a:solidFill>
                  <a:srgbClr val="8FC3B2"/>
                </a:solidFill>
                <a:latin typeface="Calibri" pitchFamily="34" charset="0"/>
                <a:ea typeface="Calibri" pitchFamily="34" charset="-122"/>
                <a:cs typeface="Calibri" pitchFamily="34" charset="-120"/>
              </a:rPr>
              <a:t>LAB 8</a:t>
            </a:r>
            <a:endParaRPr lang="en-US" sz="1300" dirty="0"/>
          </a:p>
        </p:txBody>
      </p:sp>
      <p:sp>
        <p:nvSpPr>
          <p:cNvPr id="3" name="Text 1"/>
          <p:cNvSpPr/>
          <p:nvPr/>
        </p:nvSpPr>
        <p:spPr>
          <a:xfrm>
            <a:off x="566928" y="25146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Build an honest feature table</a:t>
            </a:r>
            <a:endParaRPr lang="en-US" sz="4000" dirty="0"/>
          </a:p>
        </p:txBody>
      </p:sp>
      <p:sp>
        <p:nvSpPr>
          <p:cNvPr id="4" name="Text 2"/>
          <p:cNvSpPr/>
          <p:nvPr/>
        </p:nvSpPr>
        <p:spPr>
          <a:xfrm>
            <a:off x="566928" y="3520440"/>
            <a:ext cx="10332720" cy="457200"/>
          </a:xfrm>
          <a:prstGeom prst="rect">
            <a:avLst/>
          </a:prstGeom>
          <a:noFill/>
          <a:ln/>
        </p:spPr>
        <p:txBody>
          <a:bodyPr wrap="square" lIns="0" tIns="0" rIns="0" bIns="0" rtlCol="0" anchor="ctr"/>
          <a:lstStyle/>
          <a:p>
            <a:pPr indent="0" marL="0">
              <a:buNone/>
            </a:pPr>
            <a:r>
              <a:rPr lang="en-US" sz="1600" dirty="0">
                <a:solidFill>
                  <a:srgbClr val="A8B4BE"/>
                </a:solidFill>
                <a:latin typeface="Calibri" pitchFamily="34" charset="0"/>
                <a:ea typeface="Calibri" pitchFamily="34" charset="-122"/>
                <a:cs typeface="Calibri" pitchFamily="34" charset="-120"/>
              </a:rPr>
              <a:t>Great models are built on great tables. Leaky tables build lies.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8  ·  THE LEAKAGE AUDIT</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capital.gain is not a predictor. It is the answer.</a:t>
            </a:r>
            <a:endParaRPr lang="en-US" sz="3200" dirty="0"/>
          </a:p>
        </p:txBody>
      </p:sp>
      <p:sp>
        <p:nvSpPr>
          <p:cNvPr id="4" name="Shape 2"/>
          <p:cNvSpPr/>
          <p:nvPr/>
        </p:nvSpPr>
        <p:spPr>
          <a:xfrm>
            <a:off x="566928" y="1371600"/>
            <a:ext cx="6675120" cy="420624"/>
          </a:xfrm>
          <a:prstGeom prst="rect">
            <a:avLst/>
          </a:prstGeom>
          <a:solidFill>
            <a:srgbClr val="24303A"/>
          </a:solidFill>
          <a:ln w="6350">
            <a:solidFill>
              <a:srgbClr val="E8ECEF"/>
            </a:solidFill>
            <a:prstDash val="solid"/>
          </a:ln>
        </p:spPr>
      </p:sp>
      <p:sp>
        <p:nvSpPr>
          <p:cNvPr id="5" name="Text 3"/>
          <p:cNvSpPr/>
          <p:nvPr/>
        </p:nvSpPr>
        <p:spPr>
          <a:xfrm>
            <a:off x="795528" y="1371600"/>
            <a:ext cx="2926080" cy="420624"/>
          </a:xfrm>
          <a:prstGeom prst="rect">
            <a:avLst/>
          </a:prstGeom>
          <a:noFill/>
          <a:ln/>
        </p:spPr>
        <p:txBody>
          <a:bodyPr wrap="square" lIns="0" tIns="0" rIns="0" bIns="0" rtlCol="0" anchor="ctr"/>
          <a:lstStyle/>
          <a:p>
            <a:pPr algn="l" indent="0" marL="0">
              <a:buNone/>
            </a:pPr>
            <a:r>
              <a:rPr lang="en-US" sz="1100" b="1" spc="150" kern="0" dirty="0">
                <a:solidFill>
                  <a:srgbClr val="FFFFFF"/>
                </a:solidFill>
                <a:latin typeface="Calibri" pitchFamily="34" charset="0"/>
                <a:ea typeface="Calibri" pitchFamily="34" charset="-122"/>
                <a:cs typeface="Calibri" pitchFamily="34" charset="-120"/>
              </a:rPr>
              <a:t>capital_gain</a:t>
            </a:r>
            <a:endParaRPr lang="en-US" sz="1100" dirty="0"/>
          </a:p>
        </p:txBody>
      </p:sp>
      <p:sp>
        <p:nvSpPr>
          <p:cNvPr id="6" name="Text 4"/>
          <p:cNvSpPr/>
          <p:nvPr/>
        </p:nvSpPr>
        <p:spPr>
          <a:xfrm>
            <a:off x="3767328" y="1371600"/>
            <a:ext cx="1737360" cy="420624"/>
          </a:xfrm>
          <a:prstGeom prst="rect">
            <a:avLst/>
          </a:prstGeom>
          <a:noFill/>
          <a:ln/>
        </p:spPr>
        <p:txBody>
          <a:bodyPr wrap="square" lIns="0" tIns="0" rIns="0" bIns="0" rtlCol="0" anchor="ctr"/>
          <a:lstStyle/>
          <a:p>
            <a:pPr algn="r" indent="0" marL="0">
              <a:buNone/>
            </a:pPr>
            <a:r>
              <a:rPr lang="en-US" sz="1100" b="1" spc="150" kern="0" dirty="0">
                <a:solidFill>
                  <a:srgbClr val="FFFFFF"/>
                </a:solidFill>
                <a:latin typeface="Consolas" pitchFamily="34" charset="0"/>
                <a:ea typeface="Consolas" pitchFamily="34" charset="-122"/>
                <a:cs typeface="Consolas" pitchFamily="34" charset="-120"/>
              </a:rPr>
              <a:t>records</a:t>
            </a:r>
            <a:endParaRPr lang="en-US" sz="1100" dirty="0"/>
          </a:p>
        </p:txBody>
      </p:sp>
      <p:sp>
        <p:nvSpPr>
          <p:cNvPr id="7" name="Text 5"/>
          <p:cNvSpPr/>
          <p:nvPr/>
        </p:nvSpPr>
        <p:spPr>
          <a:xfrm>
            <a:off x="5596128" y="1371600"/>
            <a:ext cx="1463040" cy="420624"/>
          </a:xfrm>
          <a:prstGeom prst="rect">
            <a:avLst/>
          </a:prstGeom>
          <a:noFill/>
          <a:ln/>
        </p:spPr>
        <p:txBody>
          <a:bodyPr wrap="square" lIns="0" tIns="0" rIns="0" bIns="0" rtlCol="0" anchor="ctr"/>
          <a:lstStyle/>
          <a:p>
            <a:pPr algn="r" indent="0" marL="0">
              <a:buNone/>
            </a:pPr>
            <a:r>
              <a:rPr lang="en-US" sz="1100" b="1" spc="150" kern="0" dirty="0">
                <a:solidFill>
                  <a:srgbClr val="FFFFFF"/>
                </a:solidFill>
                <a:latin typeface="Consolas" pitchFamily="34" charset="0"/>
                <a:ea typeface="Consolas" pitchFamily="34" charset="-122"/>
                <a:cs typeface="Consolas" pitchFamily="34" charset="-120"/>
              </a:rPr>
              <a:t>above 50K</a:t>
            </a:r>
            <a:endParaRPr lang="en-US" sz="1100" dirty="0"/>
          </a:p>
        </p:txBody>
      </p:sp>
      <p:sp>
        <p:nvSpPr>
          <p:cNvPr id="8" name="Shape 6"/>
          <p:cNvSpPr/>
          <p:nvPr/>
        </p:nvSpPr>
        <p:spPr>
          <a:xfrm>
            <a:off x="566928" y="1792224"/>
            <a:ext cx="6675120" cy="420624"/>
          </a:xfrm>
          <a:prstGeom prst="rect">
            <a:avLst/>
          </a:prstGeom>
          <a:solidFill>
            <a:srgbClr val="FFFFFF"/>
          </a:solidFill>
          <a:ln w="6350">
            <a:solidFill>
              <a:srgbClr val="E8ECEF"/>
            </a:solidFill>
            <a:prstDash val="solid"/>
          </a:ln>
        </p:spPr>
      </p:sp>
      <p:sp>
        <p:nvSpPr>
          <p:cNvPr id="9" name="Text 7"/>
          <p:cNvSpPr/>
          <p:nvPr/>
        </p:nvSpPr>
        <p:spPr>
          <a:xfrm>
            <a:off x="795528" y="1792224"/>
            <a:ext cx="2926080" cy="420624"/>
          </a:xfrm>
          <a:prstGeom prst="rect">
            <a:avLst/>
          </a:prstGeom>
          <a:noFill/>
          <a:ln/>
        </p:spPr>
        <p:txBody>
          <a:bodyPr wrap="square" lIns="0" tIns="0" rIns="0" bIns="0" rtlCol="0" anchor="ctr"/>
          <a:lstStyle/>
          <a:p>
            <a:pPr algn="l" indent="0" marL="0">
              <a:buNone/>
            </a:pPr>
            <a:r>
              <a:rPr lang="en-US" sz="1300" dirty="0">
                <a:solidFill>
                  <a:srgbClr val="24303A"/>
                </a:solidFill>
                <a:latin typeface="Calibri" pitchFamily="34" charset="0"/>
                <a:ea typeface="Calibri" pitchFamily="34" charset="-122"/>
                <a:cs typeface="Calibri" pitchFamily="34" charset="-120"/>
              </a:rPr>
              <a:t>zero</a:t>
            </a:r>
            <a:endParaRPr lang="en-US" sz="1300" dirty="0"/>
          </a:p>
        </p:txBody>
      </p:sp>
      <p:sp>
        <p:nvSpPr>
          <p:cNvPr id="10" name="Text 8"/>
          <p:cNvSpPr/>
          <p:nvPr/>
        </p:nvSpPr>
        <p:spPr>
          <a:xfrm>
            <a:off x="3767328" y="1792224"/>
            <a:ext cx="1737360" cy="420624"/>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29,849</a:t>
            </a:r>
            <a:endParaRPr lang="en-US" sz="1300" dirty="0"/>
          </a:p>
        </p:txBody>
      </p:sp>
      <p:sp>
        <p:nvSpPr>
          <p:cNvPr id="11" name="Text 9"/>
          <p:cNvSpPr/>
          <p:nvPr/>
        </p:nvSpPr>
        <p:spPr>
          <a:xfrm>
            <a:off x="5596128" y="1792224"/>
            <a:ext cx="1463040" cy="420624"/>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20.7%</a:t>
            </a:r>
            <a:endParaRPr lang="en-US" sz="1300" dirty="0"/>
          </a:p>
        </p:txBody>
      </p:sp>
      <p:sp>
        <p:nvSpPr>
          <p:cNvPr id="12" name="Shape 10"/>
          <p:cNvSpPr/>
          <p:nvPr/>
        </p:nvSpPr>
        <p:spPr>
          <a:xfrm>
            <a:off x="566928" y="2212848"/>
            <a:ext cx="6675120" cy="420624"/>
          </a:xfrm>
          <a:prstGeom prst="rect">
            <a:avLst/>
          </a:prstGeom>
          <a:solidFill>
            <a:srgbClr val="F1F3F5"/>
          </a:solidFill>
          <a:ln w="6350">
            <a:solidFill>
              <a:srgbClr val="E8ECEF"/>
            </a:solidFill>
            <a:prstDash val="solid"/>
          </a:ln>
        </p:spPr>
      </p:sp>
      <p:sp>
        <p:nvSpPr>
          <p:cNvPr id="13" name="Text 11"/>
          <p:cNvSpPr/>
          <p:nvPr/>
        </p:nvSpPr>
        <p:spPr>
          <a:xfrm>
            <a:off x="795528" y="2212848"/>
            <a:ext cx="2926080" cy="420624"/>
          </a:xfrm>
          <a:prstGeom prst="rect">
            <a:avLst/>
          </a:prstGeom>
          <a:noFill/>
          <a:ln/>
        </p:spPr>
        <p:txBody>
          <a:bodyPr wrap="square" lIns="0" tIns="0" rIns="0" bIns="0" rtlCol="0" anchor="ctr"/>
          <a:lstStyle/>
          <a:p>
            <a:pPr algn="l" indent="0" marL="0">
              <a:buNone/>
            </a:pPr>
            <a:r>
              <a:rPr lang="en-US" sz="1300" dirty="0">
                <a:solidFill>
                  <a:srgbClr val="24303A"/>
                </a:solidFill>
                <a:latin typeface="Calibri" pitchFamily="34" charset="0"/>
                <a:ea typeface="Calibri" pitchFamily="34" charset="-122"/>
                <a:cs typeface="Calibri" pitchFamily="34" charset="-120"/>
              </a:rPr>
              <a:t>1,000 to 4,999</a:t>
            </a:r>
            <a:endParaRPr lang="en-US" sz="1300" dirty="0"/>
          </a:p>
        </p:txBody>
      </p:sp>
      <p:sp>
        <p:nvSpPr>
          <p:cNvPr id="14" name="Text 12"/>
          <p:cNvSpPr/>
          <p:nvPr/>
        </p:nvSpPr>
        <p:spPr>
          <a:xfrm>
            <a:off x="3767328" y="2212848"/>
            <a:ext cx="1737360" cy="420624"/>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1,009</a:t>
            </a:r>
            <a:endParaRPr lang="en-US" sz="1300" dirty="0"/>
          </a:p>
        </p:txBody>
      </p:sp>
      <p:sp>
        <p:nvSpPr>
          <p:cNvPr id="15" name="Text 13"/>
          <p:cNvSpPr/>
          <p:nvPr/>
        </p:nvSpPr>
        <p:spPr>
          <a:xfrm>
            <a:off x="5596128" y="2212848"/>
            <a:ext cx="1463040" cy="420624"/>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17.9%</a:t>
            </a:r>
            <a:endParaRPr lang="en-US" sz="1300" dirty="0"/>
          </a:p>
        </p:txBody>
      </p:sp>
      <p:sp>
        <p:nvSpPr>
          <p:cNvPr id="16" name="Shape 14"/>
          <p:cNvSpPr/>
          <p:nvPr/>
        </p:nvSpPr>
        <p:spPr>
          <a:xfrm>
            <a:off x="566928" y="2633472"/>
            <a:ext cx="6675120" cy="420624"/>
          </a:xfrm>
          <a:prstGeom prst="rect">
            <a:avLst/>
          </a:prstGeom>
          <a:solidFill>
            <a:srgbClr val="FFFFFF"/>
          </a:solidFill>
          <a:ln w="6350">
            <a:solidFill>
              <a:srgbClr val="E8ECEF"/>
            </a:solidFill>
            <a:prstDash val="solid"/>
          </a:ln>
        </p:spPr>
      </p:sp>
      <p:sp>
        <p:nvSpPr>
          <p:cNvPr id="17" name="Text 15"/>
          <p:cNvSpPr/>
          <p:nvPr/>
        </p:nvSpPr>
        <p:spPr>
          <a:xfrm>
            <a:off x="795528" y="2633472"/>
            <a:ext cx="2926080" cy="420624"/>
          </a:xfrm>
          <a:prstGeom prst="rect">
            <a:avLst/>
          </a:prstGeom>
          <a:noFill/>
          <a:ln/>
        </p:spPr>
        <p:txBody>
          <a:bodyPr wrap="square" lIns="0" tIns="0" rIns="0" bIns="0" rtlCol="0" anchor="ctr"/>
          <a:lstStyle/>
          <a:p>
            <a:pPr algn="l" indent="0" marL="0">
              <a:buNone/>
            </a:pPr>
            <a:r>
              <a:rPr lang="en-US" sz="1300" dirty="0">
                <a:solidFill>
                  <a:srgbClr val="24303A"/>
                </a:solidFill>
                <a:latin typeface="Calibri" pitchFamily="34" charset="0"/>
                <a:ea typeface="Calibri" pitchFamily="34" charset="-122"/>
                <a:cs typeface="Calibri" pitchFamily="34" charset="-120"/>
              </a:rPr>
              <a:t>5,000 to 9,999</a:t>
            </a:r>
            <a:endParaRPr lang="en-US" sz="1300" dirty="0"/>
          </a:p>
        </p:txBody>
      </p:sp>
      <p:sp>
        <p:nvSpPr>
          <p:cNvPr id="18" name="Text 16"/>
          <p:cNvSpPr/>
          <p:nvPr/>
        </p:nvSpPr>
        <p:spPr>
          <a:xfrm>
            <a:off x="3767328" y="2633472"/>
            <a:ext cx="1737360" cy="420624"/>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878</a:t>
            </a:r>
            <a:endParaRPr lang="en-US" sz="1300" dirty="0"/>
          </a:p>
        </p:txBody>
      </p:sp>
      <p:sp>
        <p:nvSpPr>
          <p:cNvPr id="19" name="Text 17"/>
          <p:cNvSpPr/>
          <p:nvPr/>
        </p:nvSpPr>
        <p:spPr>
          <a:xfrm>
            <a:off x="5596128" y="2633472"/>
            <a:ext cx="1463040" cy="420624"/>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84.3%</a:t>
            </a:r>
            <a:endParaRPr lang="en-US" sz="1300" dirty="0"/>
          </a:p>
        </p:txBody>
      </p:sp>
      <p:sp>
        <p:nvSpPr>
          <p:cNvPr id="20" name="Shape 18"/>
          <p:cNvSpPr/>
          <p:nvPr/>
        </p:nvSpPr>
        <p:spPr>
          <a:xfrm>
            <a:off x="566928" y="3054096"/>
            <a:ext cx="6675120" cy="420624"/>
          </a:xfrm>
          <a:prstGeom prst="rect">
            <a:avLst/>
          </a:prstGeom>
          <a:solidFill>
            <a:srgbClr val="F1F3F5"/>
          </a:solidFill>
          <a:ln w="6350">
            <a:solidFill>
              <a:srgbClr val="E8ECEF"/>
            </a:solidFill>
            <a:prstDash val="solid"/>
          </a:ln>
        </p:spPr>
      </p:sp>
      <p:sp>
        <p:nvSpPr>
          <p:cNvPr id="21" name="Text 19"/>
          <p:cNvSpPr/>
          <p:nvPr/>
        </p:nvSpPr>
        <p:spPr>
          <a:xfrm>
            <a:off x="795528" y="3054096"/>
            <a:ext cx="2926080" cy="420624"/>
          </a:xfrm>
          <a:prstGeom prst="rect">
            <a:avLst/>
          </a:prstGeom>
          <a:noFill/>
          <a:ln/>
        </p:spPr>
        <p:txBody>
          <a:bodyPr wrap="square" lIns="0" tIns="0" rIns="0" bIns="0" rtlCol="0" anchor="ctr"/>
          <a:lstStyle/>
          <a:p>
            <a:pPr algn="l" indent="0" marL="0">
              <a:buNone/>
            </a:pPr>
            <a:r>
              <a:rPr lang="en-US" sz="1300" dirty="0">
                <a:solidFill>
                  <a:srgbClr val="24303A"/>
                </a:solidFill>
                <a:latin typeface="Calibri" pitchFamily="34" charset="0"/>
                <a:ea typeface="Calibri" pitchFamily="34" charset="-122"/>
                <a:cs typeface="Calibri" pitchFamily="34" charset="-120"/>
              </a:rPr>
              <a:t>10,000 and over</a:t>
            </a:r>
            <a:endParaRPr lang="en-US" sz="1300" dirty="0"/>
          </a:p>
        </p:txBody>
      </p:sp>
      <p:sp>
        <p:nvSpPr>
          <p:cNvPr id="22" name="Text 20"/>
          <p:cNvSpPr/>
          <p:nvPr/>
        </p:nvSpPr>
        <p:spPr>
          <a:xfrm>
            <a:off x="3767328" y="3054096"/>
            <a:ext cx="1737360" cy="420624"/>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611</a:t>
            </a:r>
            <a:endParaRPr lang="en-US" sz="1300" dirty="0"/>
          </a:p>
        </p:txBody>
      </p:sp>
      <p:sp>
        <p:nvSpPr>
          <p:cNvPr id="23" name="Text 21"/>
          <p:cNvSpPr/>
          <p:nvPr/>
        </p:nvSpPr>
        <p:spPr>
          <a:xfrm>
            <a:off x="5596128" y="3054096"/>
            <a:ext cx="1463040" cy="420624"/>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97.7%</a:t>
            </a:r>
            <a:endParaRPr lang="en-US" sz="1300" dirty="0"/>
          </a:p>
        </p:txBody>
      </p:sp>
      <p:sp>
        <p:nvSpPr>
          <p:cNvPr id="24" name="Shape 22"/>
          <p:cNvSpPr/>
          <p:nvPr/>
        </p:nvSpPr>
        <p:spPr>
          <a:xfrm>
            <a:off x="566928" y="3474720"/>
            <a:ext cx="6675120" cy="420624"/>
          </a:xfrm>
          <a:prstGeom prst="rect">
            <a:avLst/>
          </a:prstGeom>
          <a:solidFill>
            <a:srgbClr val="FBEEEC"/>
          </a:solidFill>
          <a:ln w="6350">
            <a:solidFill>
              <a:srgbClr val="E8ECEF"/>
            </a:solidFill>
            <a:prstDash val="solid"/>
          </a:ln>
        </p:spPr>
      </p:sp>
      <p:sp>
        <p:nvSpPr>
          <p:cNvPr id="25" name="Text 23"/>
          <p:cNvSpPr/>
          <p:nvPr/>
        </p:nvSpPr>
        <p:spPr>
          <a:xfrm>
            <a:off x="795528" y="3474720"/>
            <a:ext cx="2926080" cy="420624"/>
          </a:xfrm>
          <a:prstGeom prst="rect">
            <a:avLst/>
          </a:prstGeom>
          <a:noFill/>
          <a:ln/>
        </p:spPr>
        <p:txBody>
          <a:bodyPr wrap="square" lIns="0" tIns="0" rIns="0" bIns="0" rtlCol="0" anchor="ctr"/>
          <a:lstStyle/>
          <a:p>
            <a:pPr algn="l" indent="0" marL="0">
              <a:buNone/>
            </a:pPr>
            <a:r>
              <a:rPr lang="en-US" sz="1300" b="1" dirty="0">
                <a:solidFill>
                  <a:srgbClr val="B3453A"/>
                </a:solidFill>
                <a:latin typeface="Calibri" pitchFamily="34" charset="0"/>
                <a:ea typeface="Calibri" pitchFamily="34" charset="-122"/>
                <a:cs typeface="Calibri" pitchFamily="34" charset="-120"/>
              </a:rPr>
              <a:t>top-coded at 99999</a:t>
            </a:r>
            <a:endParaRPr lang="en-US" sz="1300" dirty="0"/>
          </a:p>
        </p:txBody>
      </p:sp>
      <p:sp>
        <p:nvSpPr>
          <p:cNvPr id="26" name="Text 24"/>
          <p:cNvSpPr/>
          <p:nvPr/>
        </p:nvSpPr>
        <p:spPr>
          <a:xfrm>
            <a:off x="3767328" y="3474720"/>
            <a:ext cx="1737360" cy="420624"/>
          </a:xfrm>
          <a:prstGeom prst="rect">
            <a:avLst/>
          </a:prstGeom>
          <a:noFill/>
          <a:ln/>
        </p:spPr>
        <p:txBody>
          <a:bodyPr wrap="square" lIns="0" tIns="0" rIns="0" bIns="0" rtlCol="0" anchor="ctr"/>
          <a:lstStyle/>
          <a:p>
            <a:pPr algn="r" indent="0" marL="0">
              <a:buNone/>
            </a:pPr>
            <a:r>
              <a:rPr lang="en-US" sz="1300" b="1" dirty="0">
                <a:solidFill>
                  <a:srgbClr val="B3453A"/>
                </a:solidFill>
                <a:latin typeface="Consolas" pitchFamily="34" charset="0"/>
                <a:ea typeface="Consolas" pitchFamily="34" charset="-122"/>
                <a:cs typeface="Consolas" pitchFamily="34" charset="-120"/>
              </a:rPr>
              <a:t>159</a:t>
            </a:r>
            <a:endParaRPr lang="en-US" sz="1300" dirty="0"/>
          </a:p>
        </p:txBody>
      </p:sp>
      <p:sp>
        <p:nvSpPr>
          <p:cNvPr id="27" name="Text 25"/>
          <p:cNvSpPr/>
          <p:nvPr/>
        </p:nvSpPr>
        <p:spPr>
          <a:xfrm>
            <a:off x="5596128" y="3474720"/>
            <a:ext cx="1463040" cy="420624"/>
          </a:xfrm>
          <a:prstGeom prst="rect">
            <a:avLst/>
          </a:prstGeom>
          <a:noFill/>
          <a:ln/>
        </p:spPr>
        <p:txBody>
          <a:bodyPr wrap="square" lIns="0" tIns="0" rIns="0" bIns="0" rtlCol="0" anchor="ctr"/>
          <a:lstStyle/>
          <a:p>
            <a:pPr algn="r" indent="0" marL="0">
              <a:buNone/>
            </a:pPr>
            <a:r>
              <a:rPr lang="en-US" sz="1300" b="1" dirty="0">
                <a:solidFill>
                  <a:srgbClr val="B3453A"/>
                </a:solidFill>
                <a:latin typeface="Consolas" pitchFamily="34" charset="0"/>
                <a:ea typeface="Consolas" pitchFamily="34" charset="-122"/>
                <a:cs typeface="Consolas" pitchFamily="34" charset="-120"/>
              </a:rPr>
              <a:t>100.0%</a:t>
            </a:r>
            <a:endParaRPr lang="en-US" sz="1300" dirty="0"/>
          </a:p>
        </p:txBody>
      </p:sp>
      <p:sp>
        <p:nvSpPr>
          <p:cNvPr id="28" name="Text 26"/>
          <p:cNvSpPr/>
          <p:nvPr/>
        </p:nvSpPr>
        <p:spPr>
          <a:xfrm>
            <a:off x="566928" y="4005072"/>
            <a:ext cx="6675120" cy="320040"/>
          </a:xfrm>
          <a:prstGeom prst="rect">
            <a:avLst/>
          </a:prstGeom>
          <a:noFill/>
          <a:ln/>
        </p:spPr>
        <p:txBody>
          <a:bodyPr wrap="square" lIns="0" tIns="0" rIns="0" bIns="0" rtlCol="0" anchor="ctr"/>
          <a:lstStyle/>
          <a:p>
            <a:pPr algn="r" indent="0" marL="0">
              <a:buNone/>
            </a:pPr>
            <a:r>
              <a:rPr lang="en-US" sz="1200" i="1" dirty="0">
                <a:solidFill>
                  <a:srgbClr val="5E6B77"/>
                </a:solidFill>
                <a:latin typeface="Calibri" pitchFamily="34" charset="0"/>
                <a:ea typeface="Calibri" pitchFamily="34" charset="-122"/>
                <a:cs typeface="Calibri" pitchFamily="34" charset="-120"/>
              </a:rPr>
              <a:t>base rate 24.1%</a:t>
            </a:r>
            <a:endParaRPr lang="en-US" sz="1200" dirty="0"/>
          </a:p>
        </p:txBody>
      </p:sp>
      <p:sp>
        <p:nvSpPr>
          <p:cNvPr id="29" name="Shape 27"/>
          <p:cNvSpPr/>
          <p:nvPr/>
        </p:nvSpPr>
        <p:spPr>
          <a:xfrm>
            <a:off x="7653528" y="1371600"/>
            <a:ext cx="4023360" cy="2523744"/>
          </a:xfrm>
          <a:prstGeom prst="roundRect">
            <a:avLst>
              <a:gd name="adj" fmla="val 2174"/>
            </a:avLst>
          </a:prstGeom>
          <a:solidFill>
            <a:srgbClr val="FBEEEC"/>
          </a:solidFill>
          <a:ln w="12700">
            <a:solidFill>
              <a:srgbClr val="FBEEEC"/>
            </a:solidFill>
            <a:prstDash val="solid"/>
          </a:ln>
        </p:spPr>
      </p:sp>
      <p:sp>
        <p:nvSpPr>
          <p:cNvPr id="30" name="Text 28"/>
          <p:cNvSpPr/>
          <p:nvPr/>
        </p:nvSpPr>
        <p:spPr>
          <a:xfrm>
            <a:off x="7973568" y="1572768"/>
            <a:ext cx="3474720" cy="365760"/>
          </a:xfrm>
          <a:prstGeom prst="rect">
            <a:avLst/>
          </a:prstGeom>
          <a:noFill/>
          <a:ln/>
        </p:spPr>
        <p:txBody>
          <a:bodyPr wrap="square" lIns="0" tIns="0" rIns="0" bIns="0" rtlCol="0" anchor="ctr"/>
          <a:lstStyle/>
          <a:p>
            <a:pPr indent="0" marL="0">
              <a:buNone/>
            </a:pPr>
            <a:r>
              <a:rPr lang="en-US" sz="1900" b="1" dirty="0">
                <a:solidFill>
                  <a:srgbClr val="B3453A"/>
                </a:solidFill>
                <a:latin typeface="Cambria" pitchFamily="34" charset="0"/>
                <a:ea typeface="Cambria" pitchFamily="34" charset="-122"/>
                <a:cs typeface="Cambria" pitchFamily="34" charset="-120"/>
              </a:rPr>
              <a:t>Target leakage</a:t>
            </a:r>
            <a:endParaRPr lang="en-US" sz="1900" dirty="0"/>
          </a:p>
        </p:txBody>
      </p:sp>
      <p:sp>
        <p:nvSpPr>
          <p:cNvPr id="31" name="Text 29"/>
          <p:cNvSpPr/>
          <p:nvPr/>
        </p:nvSpPr>
        <p:spPr>
          <a:xfrm>
            <a:off x="7973568" y="2011680"/>
            <a:ext cx="3474720" cy="1737360"/>
          </a:xfrm>
          <a:prstGeom prst="rect">
            <a:avLst/>
          </a:prstGeom>
          <a:noFill/>
          <a:ln/>
        </p:spPr>
        <p:txBody>
          <a:bodyPr wrap="square" lIns="0" tIns="0" rIns="0" bIns="0" rtlCol="0" anchor="ctr"/>
          <a:lstStyle/>
          <a:p>
            <a:pPr indent="0" marL="0">
              <a:lnSpc>
                <a:spcPct val="120000"/>
              </a:lnSpc>
              <a:buNone/>
            </a:pPr>
            <a:r>
              <a:rPr lang="en-US" sz="1250" dirty="0">
                <a:solidFill>
                  <a:srgbClr val="24303A"/>
                </a:solidFill>
                <a:latin typeface="Calibri" pitchFamily="34" charset="0"/>
                <a:ea typeface="Calibri" pitchFamily="34" charset="-122"/>
                <a:cs typeface="Calibri" pitchFamily="34" charset="-120"/>
              </a:rPr>
              <a:t>Capital gains are income. The column is not predicting the threshold, it is part of what defines it. At the censored value it is a perfect predictor of 159 records.</a:t>
            </a:r>
            <a:endParaRPr lang="en-US" sz="1250" dirty="0"/>
          </a:p>
          <a:p>
            <a:pPr indent="0" marL="0">
              <a:lnSpc>
                <a:spcPct val="120000"/>
              </a:lnSpc>
              <a:buNone/>
            </a:pPr>
            <a:endParaRPr lang="en-US" sz="1250" dirty="0"/>
          </a:p>
          <a:p>
            <a:pPr indent="0" marL="0">
              <a:lnSpc>
                <a:spcPct val="120000"/>
              </a:lnSpc>
              <a:buNone/>
            </a:pPr>
            <a:r>
              <a:rPr lang="en-US" sz="1250" dirty="0">
                <a:solidFill>
                  <a:srgbClr val="24303A"/>
                </a:solidFill>
                <a:latin typeface="Calibri" pitchFamily="34" charset="0"/>
                <a:ea typeface="Calibri" pitchFamily="34" charset="-122"/>
                <a:cs typeface="Calibri" pitchFamily="34" charset="-120"/>
              </a:rPr>
              <a:t>Cut, along with fnlwgt, which is a survey weight rather than a property of the person.</a:t>
            </a:r>
            <a:endParaRPr lang="en-US" sz="1250" dirty="0"/>
          </a:p>
        </p:txBody>
      </p:sp>
      <p:sp>
        <p:nvSpPr>
          <p:cNvPr id="32" name="Text 30"/>
          <p:cNvSpPr/>
          <p:nvPr/>
        </p:nvSpPr>
        <p:spPr>
          <a:xfrm>
            <a:off x="566928" y="4434840"/>
            <a:ext cx="10881360" cy="457200"/>
          </a:xfrm>
          <a:prstGeom prst="rect">
            <a:avLst/>
          </a:prstGeom>
          <a:noFill/>
          <a:ln/>
        </p:spPr>
        <p:txBody>
          <a:bodyPr wrap="square" lIns="0" tIns="0" rIns="0" bIns="0" rtlCol="0" anchor="ctr"/>
          <a:lstStyle/>
          <a:p>
            <a:pPr indent="0" marL="0">
              <a:buNone/>
            </a:pPr>
            <a:r>
              <a:rPr lang="en-US" sz="1400" dirty="0">
                <a:solidFill>
                  <a:srgbClr val="24303A"/>
                </a:solidFill>
                <a:latin typeface="Calibri" pitchFamily="34" charset="0"/>
                <a:ea typeface="Calibri" pitchFamily="34" charset="-122"/>
                <a:cs typeface="Calibri" pitchFamily="34" charset="-120"/>
              </a:rPr>
              <a:t>Unit 8's question is whether a value would have been knowable at the moment the prediction had to be made. Four columns failed it. This one failed with evidence.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5E6B77"/>
                </a:solidFill>
                <a:latin typeface="Calibri" pitchFamily="34" charset="0"/>
                <a:ea typeface="Calibri" pitchFamily="34" charset="-122"/>
                <a:cs typeface="Calibri" pitchFamily="34" charset="-120"/>
              </a:rPr>
              <a:t>LAB 8  ·  WRITTEN BEFORE ANY MODELLING</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Group-aware, because time was never an option</a:t>
            </a:r>
            <a:endParaRPr lang="en-US" sz="3200" dirty="0"/>
          </a:p>
        </p:txBody>
      </p:sp>
      <p:sp>
        <p:nvSpPr>
          <p:cNvPr id="4" name="Shape 2"/>
          <p:cNvSpPr/>
          <p:nvPr/>
        </p:nvSpPr>
        <p:spPr>
          <a:xfrm>
            <a:off x="566928" y="1371600"/>
            <a:ext cx="5394960" cy="1828800"/>
          </a:xfrm>
          <a:prstGeom prst="roundRect">
            <a:avLst>
              <a:gd name="adj" fmla="val 3000"/>
            </a:avLst>
          </a:prstGeom>
          <a:solidFill>
            <a:srgbClr val="F1F3F5"/>
          </a:solidFill>
          <a:ln w="12700">
            <a:solidFill>
              <a:srgbClr val="F1F3F5"/>
            </a:solidFill>
            <a:prstDash val="solid"/>
          </a:ln>
        </p:spPr>
      </p:sp>
      <p:sp>
        <p:nvSpPr>
          <p:cNvPr id="5" name="Text 3"/>
          <p:cNvSpPr/>
          <p:nvPr/>
        </p:nvSpPr>
        <p:spPr>
          <a:xfrm>
            <a:off x="886968" y="1572768"/>
            <a:ext cx="4754880" cy="365760"/>
          </a:xfrm>
          <a:prstGeom prst="rect">
            <a:avLst/>
          </a:prstGeom>
          <a:noFill/>
          <a:ln/>
        </p:spPr>
        <p:txBody>
          <a:bodyPr wrap="square" lIns="0" tIns="0" rIns="0" bIns="0" rtlCol="0" anchor="ctr"/>
          <a:lstStyle/>
          <a:p>
            <a:pPr indent="0" marL="0">
              <a:buNone/>
            </a:pPr>
            <a:r>
              <a:rPr lang="en-US" sz="2000" b="1" dirty="0">
                <a:solidFill>
                  <a:srgbClr val="24303A"/>
                </a:solidFill>
                <a:latin typeface="Cambria" pitchFamily="34" charset="0"/>
                <a:ea typeface="Cambria" pitchFamily="34" charset="-122"/>
                <a:cs typeface="Cambria" pitchFamily="34" charset="-120"/>
              </a:rPr>
              <a:t>Not time-based</a:t>
            </a:r>
            <a:endParaRPr lang="en-US" sz="2000" dirty="0"/>
          </a:p>
        </p:txBody>
      </p:sp>
      <p:sp>
        <p:nvSpPr>
          <p:cNvPr id="6" name="Text 4"/>
          <p:cNvSpPr/>
          <p:nvPr/>
        </p:nvSpPr>
        <p:spPr>
          <a:xfrm>
            <a:off x="886968" y="2011680"/>
            <a:ext cx="4754880" cy="1005840"/>
          </a:xfrm>
          <a:prstGeom prst="rect">
            <a:avLst/>
          </a:prstGeom>
          <a:noFill/>
          <a:ln/>
        </p:spPr>
        <p:txBody>
          <a:bodyPr wrap="square" lIns="0" tIns="0" rIns="0" bIns="0" rtlCol="0" anchor="ctr"/>
          <a:lstStyle/>
          <a:p>
            <a:pPr indent="0" marL="0">
              <a:lnSpc>
                <a:spcPct val="120000"/>
              </a:lnSpc>
              <a:buNone/>
            </a:pPr>
            <a:r>
              <a:rPr lang="en-US" sz="1250" dirty="0">
                <a:solidFill>
                  <a:srgbClr val="24303A"/>
                </a:solidFill>
                <a:latin typeface="Calibri" pitchFamily="34" charset="0"/>
                <a:ea typeface="Calibri" pitchFamily="34" charset="-122"/>
                <a:cs typeface="Calibri" pitchFamily="34" charset="-120"/>
              </a:rPr>
              <a:t>A single 1994 snapshot with no date column. There is no past to train on and no future to be judged against, so saying so beats inventing an ordering.</a:t>
            </a:r>
            <a:endParaRPr lang="en-US" sz="1250" dirty="0"/>
          </a:p>
        </p:txBody>
      </p:sp>
      <p:sp>
        <p:nvSpPr>
          <p:cNvPr id="7" name="Shape 5"/>
          <p:cNvSpPr/>
          <p:nvPr/>
        </p:nvSpPr>
        <p:spPr>
          <a:xfrm>
            <a:off x="6281928" y="1371600"/>
            <a:ext cx="5394960" cy="1828800"/>
          </a:xfrm>
          <a:prstGeom prst="roundRect">
            <a:avLst>
              <a:gd name="adj" fmla="val 3000"/>
            </a:avLst>
          </a:prstGeom>
          <a:solidFill>
            <a:srgbClr val="EAF0ED"/>
          </a:solidFill>
          <a:ln w="12700">
            <a:solidFill>
              <a:srgbClr val="EAF0ED"/>
            </a:solidFill>
            <a:prstDash val="solid"/>
          </a:ln>
        </p:spPr>
      </p:sp>
      <p:sp>
        <p:nvSpPr>
          <p:cNvPr id="8" name="Text 6"/>
          <p:cNvSpPr/>
          <p:nvPr/>
        </p:nvSpPr>
        <p:spPr>
          <a:xfrm>
            <a:off x="6601968" y="1572768"/>
            <a:ext cx="4754880" cy="365760"/>
          </a:xfrm>
          <a:prstGeom prst="rect">
            <a:avLst/>
          </a:prstGeom>
          <a:noFill/>
          <a:ln/>
        </p:spPr>
        <p:txBody>
          <a:bodyPr wrap="square" lIns="0" tIns="0" rIns="0" bIns="0" rtlCol="0" anchor="ctr"/>
          <a:lstStyle/>
          <a:p>
            <a:pPr indent="0" marL="0">
              <a:buNone/>
            </a:pPr>
            <a:r>
              <a:rPr lang="en-US" sz="2000" b="1" dirty="0">
                <a:solidFill>
                  <a:srgbClr val="2E6F5E"/>
                </a:solidFill>
                <a:latin typeface="Cambria" pitchFamily="34" charset="0"/>
                <a:ea typeface="Cambria" pitchFamily="34" charset="-122"/>
                <a:cs typeface="Cambria" pitchFamily="34" charset="-120"/>
              </a:rPr>
              <a:t>Group-aware</a:t>
            </a:r>
            <a:endParaRPr lang="en-US" sz="2000" dirty="0"/>
          </a:p>
        </p:txBody>
      </p:sp>
      <p:sp>
        <p:nvSpPr>
          <p:cNvPr id="9" name="Text 7"/>
          <p:cNvSpPr/>
          <p:nvPr/>
        </p:nvSpPr>
        <p:spPr>
          <a:xfrm>
            <a:off x="6601968" y="2011680"/>
            <a:ext cx="4754880" cy="1005840"/>
          </a:xfrm>
          <a:prstGeom prst="rect">
            <a:avLst/>
          </a:prstGeom>
          <a:noFill/>
          <a:ln/>
        </p:spPr>
        <p:txBody>
          <a:bodyPr wrap="square" lIns="0" tIns="0" rIns="0" bIns="0" rtlCol="0" anchor="ctr"/>
          <a:lstStyle/>
          <a:p>
            <a:pPr indent="0" marL="0">
              <a:lnSpc>
                <a:spcPct val="120000"/>
              </a:lnSpc>
              <a:buNone/>
            </a:pPr>
            <a:r>
              <a:rPr lang="en-US" sz="1250" dirty="0">
                <a:solidFill>
                  <a:srgbClr val="24303A"/>
                </a:solidFill>
                <a:latin typeface="Calibri" pitchFamily="34" charset="0"/>
                <a:ea typeface="Calibri" pitchFamily="34" charset="-122"/>
                <a:cs typeface="Calibri" pitchFamily="34" charset="-120"/>
              </a:rPr>
              <a:t>47 byte-identical rows, kept since Lab 2. If a group straddles the boundary the model memorises a person and is tested on a copy of them.</a:t>
            </a:r>
            <a:endParaRPr lang="en-US" sz="1250" dirty="0"/>
          </a:p>
        </p:txBody>
      </p:sp>
      <p:sp>
        <p:nvSpPr>
          <p:cNvPr id="10" name="Text 8"/>
          <p:cNvSpPr/>
          <p:nvPr/>
        </p:nvSpPr>
        <p:spPr>
          <a:xfrm>
            <a:off x="566928" y="3429000"/>
            <a:ext cx="2011680" cy="274320"/>
          </a:xfrm>
          <a:prstGeom prst="rect">
            <a:avLst/>
          </a:prstGeom>
          <a:noFill/>
          <a:ln/>
        </p:spPr>
        <p:txBody>
          <a:bodyPr wrap="square" lIns="0" tIns="0" rIns="0" bIns="0" rtlCol="0" anchor="ctr"/>
          <a:lstStyle/>
          <a:p>
            <a:pPr indent="0" marL="0">
              <a:buNone/>
            </a:pPr>
            <a:r>
              <a:rPr lang="en-US" sz="1050" b="1" spc="150" kern="0" dirty="0">
                <a:solidFill>
                  <a:srgbClr val="5E6B77"/>
                </a:solidFill>
                <a:latin typeface="Calibri" pitchFamily="34" charset="0"/>
                <a:ea typeface="Calibri" pitchFamily="34" charset="-122"/>
                <a:cs typeface="Calibri" pitchFamily="34" charset="-120"/>
              </a:rPr>
              <a:t>split</a:t>
            </a:r>
            <a:endParaRPr lang="en-US" sz="1050" dirty="0"/>
          </a:p>
        </p:txBody>
      </p:sp>
      <p:sp>
        <p:nvSpPr>
          <p:cNvPr id="11" name="Text 9"/>
          <p:cNvSpPr/>
          <p:nvPr/>
        </p:nvSpPr>
        <p:spPr>
          <a:xfrm>
            <a:off x="2670048" y="3429000"/>
            <a:ext cx="1463040" cy="274320"/>
          </a:xfrm>
          <a:prstGeom prst="rect">
            <a:avLst/>
          </a:prstGeom>
          <a:noFill/>
          <a:ln/>
        </p:spPr>
        <p:txBody>
          <a:bodyPr wrap="square" lIns="0" tIns="0" rIns="0" bIns="0" rtlCol="0" anchor="ctr"/>
          <a:lstStyle/>
          <a:p>
            <a:pPr algn="r" indent="0" marL="0">
              <a:buNone/>
            </a:pPr>
            <a:r>
              <a:rPr lang="en-US" sz="1050" b="1" spc="150" kern="0" dirty="0">
                <a:solidFill>
                  <a:srgbClr val="5E6B77"/>
                </a:solidFill>
                <a:latin typeface="Calibri" pitchFamily="34" charset="0"/>
                <a:ea typeface="Calibri" pitchFamily="34" charset="-122"/>
                <a:cs typeface="Calibri" pitchFamily="34" charset="-120"/>
              </a:rPr>
              <a:t>rows</a:t>
            </a:r>
            <a:endParaRPr lang="en-US" sz="1050" dirty="0"/>
          </a:p>
        </p:txBody>
      </p:sp>
      <p:sp>
        <p:nvSpPr>
          <p:cNvPr id="12" name="Text 10"/>
          <p:cNvSpPr/>
          <p:nvPr/>
        </p:nvSpPr>
        <p:spPr>
          <a:xfrm>
            <a:off x="4315968" y="3429000"/>
            <a:ext cx="1371600" cy="274320"/>
          </a:xfrm>
          <a:prstGeom prst="rect">
            <a:avLst/>
          </a:prstGeom>
          <a:noFill/>
          <a:ln/>
        </p:spPr>
        <p:txBody>
          <a:bodyPr wrap="square" lIns="0" tIns="0" rIns="0" bIns="0" rtlCol="0" anchor="ctr"/>
          <a:lstStyle/>
          <a:p>
            <a:pPr algn="r" indent="0" marL="0">
              <a:buNone/>
            </a:pPr>
            <a:r>
              <a:rPr lang="en-US" sz="1050" b="1" spc="150" kern="0" dirty="0">
                <a:solidFill>
                  <a:srgbClr val="5E6B77"/>
                </a:solidFill>
                <a:latin typeface="Calibri" pitchFamily="34" charset="0"/>
                <a:ea typeface="Calibri" pitchFamily="34" charset="-122"/>
                <a:cs typeface="Calibri" pitchFamily="34" charset="-120"/>
              </a:rPr>
              <a:t>share</a:t>
            </a:r>
            <a:endParaRPr lang="en-US" sz="1050" dirty="0"/>
          </a:p>
        </p:txBody>
      </p:sp>
      <p:sp>
        <p:nvSpPr>
          <p:cNvPr id="13" name="Text 11"/>
          <p:cNvSpPr/>
          <p:nvPr/>
        </p:nvSpPr>
        <p:spPr>
          <a:xfrm>
            <a:off x="5870448" y="3429000"/>
            <a:ext cx="1645920" cy="274320"/>
          </a:xfrm>
          <a:prstGeom prst="rect">
            <a:avLst/>
          </a:prstGeom>
          <a:noFill/>
          <a:ln/>
        </p:spPr>
        <p:txBody>
          <a:bodyPr wrap="square" lIns="0" tIns="0" rIns="0" bIns="0" rtlCol="0" anchor="ctr"/>
          <a:lstStyle/>
          <a:p>
            <a:pPr algn="r" indent="0" marL="0">
              <a:buNone/>
            </a:pPr>
            <a:r>
              <a:rPr lang="en-US" sz="1050" b="1" spc="150" kern="0" dirty="0">
                <a:solidFill>
                  <a:srgbClr val="5E6B77"/>
                </a:solidFill>
                <a:latin typeface="Calibri" pitchFamily="34" charset="0"/>
                <a:ea typeface="Calibri" pitchFamily="34" charset="-122"/>
                <a:cs typeface="Calibri" pitchFamily="34" charset="-120"/>
              </a:rPr>
              <a:t>above 50K</a:t>
            </a:r>
            <a:endParaRPr lang="en-US" sz="1050" dirty="0"/>
          </a:p>
        </p:txBody>
      </p:sp>
      <p:sp>
        <p:nvSpPr>
          <p:cNvPr id="14" name="Text 12"/>
          <p:cNvSpPr/>
          <p:nvPr/>
        </p:nvSpPr>
        <p:spPr>
          <a:xfrm>
            <a:off x="566928" y="3730752"/>
            <a:ext cx="2011680" cy="365760"/>
          </a:xfrm>
          <a:prstGeom prst="rect">
            <a:avLst/>
          </a:prstGeom>
          <a:noFill/>
          <a:ln/>
        </p:spPr>
        <p:txBody>
          <a:bodyPr wrap="square" lIns="0" tIns="0" rIns="0" bIns="0" rtlCol="0" anchor="ctr"/>
          <a:lstStyle/>
          <a:p>
            <a:pPr indent="0" marL="0">
              <a:buNone/>
            </a:pPr>
            <a:r>
              <a:rPr lang="en-US" sz="1300" dirty="0">
                <a:solidFill>
                  <a:srgbClr val="24303A"/>
                </a:solidFill>
                <a:latin typeface="Calibri" pitchFamily="34" charset="0"/>
                <a:ea typeface="Calibri" pitchFamily="34" charset="-122"/>
                <a:cs typeface="Calibri" pitchFamily="34" charset="-120"/>
              </a:rPr>
              <a:t>train</a:t>
            </a:r>
            <a:endParaRPr lang="en-US" sz="1300" dirty="0"/>
          </a:p>
        </p:txBody>
      </p:sp>
      <p:sp>
        <p:nvSpPr>
          <p:cNvPr id="15" name="Text 13"/>
          <p:cNvSpPr/>
          <p:nvPr/>
        </p:nvSpPr>
        <p:spPr>
          <a:xfrm>
            <a:off x="2670048" y="3730752"/>
            <a:ext cx="1463040" cy="365760"/>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19,636</a:t>
            </a:r>
            <a:endParaRPr lang="en-US" sz="1300" dirty="0"/>
          </a:p>
        </p:txBody>
      </p:sp>
      <p:sp>
        <p:nvSpPr>
          <p:cNvPr id="16" name="Text 14"/>
          <p:cNvSpPr/>
          <p:nvPr/>
        </p:nvSpPr>
        <p:spPr>
          <a:xfrm>
            <a:off x="4315968" y="3730752"/>
            <a:ext cx="1371600" cy="365760"/>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60.3%</a:t>
            </a:r>
            <a:endParaRPr lang="en-US" sz="1300" dirty="0"/>
          </a:p>
        </p:txBody>
      </p:sp>
      <p:sp>
        <p:nvSpPr>
          <p:cNvPr id="17" name="Text 15"/>
          <p:cNvSpPr/>
          <p:nvPr/>
        </p:nvSpPr>
        <p:spPr>
          <a:xfrm>
            <a:off x="5870448" y="3730752"/>
            <a:ext cx="1645920" cy="365760"/>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23.91%</a:t>
            </a:r>
            <a:endParaRPr lang="en-US" sz="1300" dirty="0"/>
          </a:p>
        </p:txBody>
      </p:sp>
      <p:sp>
        <p:nvSpPr>
          <p:cNvPr id="18" name="Text 16"/>
          <p:cNvSpPr/>
          <p:nvPr/>
        </p:nvSpPr>
        <p:spPr>
          <a:xfrm>
            <a:off x="566928" y="4114800"/>
            <a:ext cx="2011680" cy="365760"/>
          </a:xfrm>
          <a:prstGeom prst="rect">
            <a:avLst/>
          </a:prstGeom>
          <a:noFill/>
          <a:ln/>
        </p:spPr>
        <p:txBody>
          <a:bodyPr wrap="square" lIns="0" tIns="0" rIns="0" bIns="0" rtlCol="0" anchor="ctr"/>
          <a:lstStyle/>
          <a:p>
            <a:pPr indent="0" marL="0">
              <a:buNone/>
            </a:pPr>
            <a:r>
              <a:rPr lang="en-US" sz="1300" dirty="0">
                <a:solidFill>
                  <a:srgbClr val="24303A"/>
                </a:solidFill>
                <a:latin typeface="Calibri" pitchFamily="34" charset="0"/>
                <a:ea typeface="Calibri" pitchFamily="34" charset="-122"/>
                <a:cs typeface="Calibri" pitchFamily="34" charset="-120"/>
              </a:rPr>
              <a:t>validate</a:t>
            </a:r>
            <a:endParaRPr lang="en-US" sz="1300" dirty="0"/>
          </a:p>
        </p:txBody>
      </p:sp>
      <p:sp>
        <p:nvSpPr>
          <p:cNvPr id="19" name="Text 17"/>
          <p:cNvSpPr/>
          <p:nvPr/>
        </p:nvSpPr>
        <p:spPr>
          <a:xfrm>
            <a:off x="2670048" y="4114800"/>
            <a:ext cx="1463040" cy="365760"/>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6,483</a:t>
            </a:r>
            <a:endParaRPr lang="en-US" sz="1300" dirty="0"/>
          </a:p>
        </p:txBody>
      </p:sp>
      <p:sp>
        <p:nvSpPr>
          <p:cNvPr id="20" name="Text 18"/>
          <p:cNvSpPr/>
          <p:nvPr/>
        </p:nvSpPr>
        <p:spPr>
          <a:xfrm>
            <a:off x="4315968" y="4114800"/>
            <a:ext cx="1371600" cy="365760"/>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19.9%</a:t>
            </a:r>
            <a:endParaRPr lang="en-US" sz="1300" dirty="0"/>
          </a:p>
        </p:txBody>
      </p:sp>
      <p:sp>
        <p:nvSpPr>
          <p:cNvPr id="21" name="Text 19"/>
          <p:cNvSpPr/>
          <p:nvPr/>
        </p:nvSpPr>
        <p:spPr>
          <a:xfrm>
            <a:off x="5870448" y="4114800"/>
            <a:ext cx="1645920" cy="365760"/>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24.36%</a:t>
            </a:r>
            <a:endParaRPr lang="en-US" sz="1300" dirty="0"/>
          </a:p>
        </p:txBody>
      </p:sp>
      <p:sp>
        <p:nvSpPr>
          <p:cNvPr id="22" name="Text 20"/>
          <p:cNvSpPr/>
          <p:nvPr/>
        </p:nvSpPr>
        <p:spPr>
          <a:xfrm>
            <a:off x="566928" y="4498848"/>
            <a:ext cx="2011680" cy="365760"/>
          </a:xfrm>
          <a:prstGeom prst="rect">
            <a:avLst/>
          </a:prstGeom>
          <a:noFill/>
          <a:ln/>
        </p:spPr>
        <p:txBody>
          <a:bodyPr wrap="square" lIns="0" tIns="0" rIns="0" bIns="0" rtlCol="0" anchor="ctr"/>
          <a:lstStyle/>
          <a:p>
            <a:pPr indent="0" marL="0">
              <a:buNone/>
            </a:pPr>
            <a:r>
              <a:rPr lang="en-US" sz="1300" dirty="0">
                <a:solidFill>
                  <a:srgbClr val="24303A"/>
                </a:solidFill>
                <a:latin typeface="Calibri" pitchFamily="34" charset="0"/>
                <a:ea typeface="Calibri" pitchFamily="34" charset="-122"/>
                <a:cs typeface="Calibri" pitchFamily="34" charset="-120"/>
              </a:rPr>
              <a:t>test</a:t>
            </a:r>
            <a:endParaRPr lang="en-US" sz="1300" dirty="0"/>
          </a:p>
        </p:txBody>
      </p:sp>
      <p:sp>
        <p:nvSpPr>
          <p:cNvPr id="23" name="Text 21"/>
          <p:cNvSpPr/>
          <p:nvPr/>
        </p:nvSpPr>
        <p:spPr>
          <a:xfrm>
            <a:off x="2670048" y="4498848"/>
            <a:ext cx="1463040" cy="365760"/>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6,442</a:t>
            </a:r>
            <a:endParaRPr lang="en-US" sz="1300" dirty="0"/>
          </a:p>
        </p:txBody>
      </p:sp>
      <p:sp>
        <p:nvSpPr>
          <p:cNvPr id="24" name="Text 22"/>
          <p:cNvSpPr/>
          <p:nvPr/>
        </p:nvSpPr>
        <p:spPr>
          <a:xfrm>
            <a:off x="4315968" y="4498848"/>
            <a:ext cx="1371600" cy="365760"/>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19.8%</a:t>
            </a:r>
            <a:endParaRPr lang="en-US" sz="1300" dirty="0"/>
          </a:p>
        </p:txBody>
      </p:sp>
      <p:sp>
        <p:nvSpPr>
          <p:cNvPr id="25" name="Text 23"/>
          <p:cNvSpPr/>
          <p:nvPr/>
        </p:nvSpPr>
        <p:spPr>
          <a:xfrm>
            <a:off x="5870448" y="4498848"/>
            <a:ext cx="1645920" cy="365760"/>
          </a:xfrm>
          <a:prstGeom prst="rect">
            <a:avLst/>
          </a:prstGeom>
          <a:noFill/>
          <a:ln/>
        </p:spPr>
        <p:txBody>
          <a:bodyPr wrap="square" lIns="0" tIns="0" rIns="0" bIns="0" rtlCol="0" anchor="ctr"/>
          <a:lstStyle/>
          <a:p>
            <a:pPr algn="r" indent="0" marL="0">
              <a:buNone/>
            </a:pPr>
            <a:r>
              <a:rPr lang="en-US" sz="1300" dirty="0">
                <a:solidFill>
                  <a:srgbClr val="24303A"/>
                </a:solidFill>
                <a:latin typeface="Consolas" pitchFamily="34" charset="0"/>
                <a:ea typeface="Consolas" pitchFamily="34" charset="-122"/>
                <a:cs typeface="Consolas" pitchFamily="34" charset="-120"/>
              </a:rPr>
              <a:t>24.34%</a:t>
            </a:r>
            <a:endParaRPr lang="en-US" sz="1300" dirty="0"/>
          </a:p>
        </p:txBody>
      </p:sp>
      <p:sp>
        <p:nvSpPr>
          <p:cNvPr id="26" name="Shape 24"/>
          <p:cNvSpPr/>
          <p:nvPr/>
        </p:nvSpPr>
        <p:spPr>
          <a:xfrm>
            <a:off x="7882128" y="3611880"/>
            <a:ext cx="3794760" cy="1234440"/>
          </a:xfrm>
          <a:prstGeom prst="roundRect">
            <a:avLst>
              <a:gd name="adj" fmla="val 4444"/>
            </a:avLst>
          </a:prstGeom>
          <a:solidFill>
            <a:srgbClr val="EAF0ED"/>
          </a:solidFill>
          <a:ln w="12700">
            <a:solidFill>
              <a:srgbClr val="EAF0ED"/>
            </a:solidFill>
            <a:prstDash val="solid"/>
          </a:ln>
        </p:spPr>
      </p:sp>
      <p:sp>
        <p:nvSpPr>
          <p:cNvPr id="27" name="Text 25"/>
          <p:cNvSpPr/>
          <p:nvPr/>
        </p:nvSpPr>
        <p:spPr>
          <a:xfrm>
            <a:off x="8202168" y="3730752"/>
            <a:ext cx="3200400" cy="548640"/>
          </a:xfrm>
          <a:prstGeom prst="rect">
            <a:avLst/>
          </a:prstGeom>
          <a:noFill/>
          <a:ln/>
        </p:spPr>
        <p:txBody>
          <a:bodyPr wrap="square" lIns="0" tIns="0" rIns="0" bIns="0" rtlCol="0" anchor="ctr"/>
          <a:lstStyle/>
          <a:p>
            <a:pPr indent="0" marL="0">
              <a:buNone/>
            </a:pPr>
            <a:r>
              <a:rPr lang="en-US" sz="3200" b="1" dirty="0">
                <a:solidFill>
                  <a:srgbClr val="2E6F5E"/>
                </a:solidFill>
                <a:latin typeface="Cambria" pitchFamily="34" charset="0"/>
                <a:ea typeface="Cambria" pitchFamily="34" charset="-122"/>
                <a:cs typeface="Cambria" pitchFamily="34" charset="-120"/>
              </a:rPr>
              <a:t>0</a:t>
            </a:r>
            <a:endParaRPr lang="en-US" sz="3200" dirty="0"/>
          </a:p>
        </p:txBody>
      </p:sp>
      <p:sp>
        <p:nvSpPr>
          <p:cNvPr id="28" name="Text 26"/>
          <p:cNvSpPr/>
          <p:nvPr/>
        </p:nvSpPr>
        <p:spPr>
          <a:xfrm>
            <a:off x="8202168" y="4279392"/>
            <a:ext cx="3200400" cy="502920"/>
          </a:xfrm>
          <a:prstGeom prst="rect">
            <a:avLst/>
          </a:prstGeom>
          <a:noFill/>
          <a:ln/>
        </p:spPr>
        <p:txBody>
          <a:bodyPr wrap="square" lIns="0" tIns="0" rIns="0" bIns="0" rtlCol="0" anchor="ctr"/>
          <a:lstStyle/>
          <a:p>
            <a:pPr indent="0" marL="0">
              <a:lnSpc>
                <a:spcPct val="110000"/>
              </a:lnSpc>
              <a:buNone/>
            </a:pPr>
            <a:r>
              <a:rPr lang="en-US" sz="1150" dirty="0">
                <a:solidFill>
                  <a:srgbClr val="24303A"/>
                </a:solidFill>
                <a:latin typeface="Calibri" pitchFamily="34" charset="0"/>
                <a:ea typeface="Calibri" pitchFamily="34" charset="-122"/>
                <a:cs typeface="Calibri" pitchFamily="34" charset="-120"/>
              </a:rPr>
              <a:t>duplicate groups straddling</a:t>
            </a:r>
            <a:endParaRPr lang="en-US" sz="1150" dirty="0"/>
          </a:p>
          <a:p>
            <a:pPr indent="0" marL="0">
              <a:lnSpc>
                <a:spcPct val="110000"/>
              </a:lnSpc>
              <a:buNone/>
            </a:pPr>
            <a:r>
              <a:rPr lang="en-US" sz="1150" dirty="0">
                <a:solidFill>
                  <a:srgbClr val="24303A"/>
                </a:solidFill>
                <a:latin typeface="Calibri" pitchFamily="34" charset="0"/>
                <a:ea typeface="Calibri" pitchFamily="34" charset="-122"/>
                <a:cs typeface="Calibri" pitchFamily="34" charset="-120"/>
              </a:rPr>
              <a:t>a split boundary</a:t>
            </a:r>
            <a:endParaRPr lang="en-US" sz="1150" dirty="0"/>
          </a:p>
        </p:txBody>
      </p:sp>
      <p:sp>
        <p:nvSpPr>
          <p:cNvPr id="29" name="Text 27"/>
          <p:cNvSpPr/>
          <p:nvPr/>
        </p:nvSpPr>
        <p:spPr>
          <a:xfrm>
            <a:off x="566928" y="5120640"/>
            <a:ext cx="10881360" cy="548640"/>
          </a:xfrm>
          <a:prstGeom prst="rect">
            <a:avLst/>
          </a:prstGeom>
          <a:noFill/>
          <a:ln/>
        </p:spPr>
        <p:txBody>
          <a:bodyPr wrap="square" lIns="0" tIns="0" rIns="0" bIns="0" rtlCol="0" anchor="ctr"/>
          <a:lstStyle/>
          <a:p>
            <a:pPr indent="0" marL="0">
              <a:lnSpc>
                <a:spcPct val="115000"/>
              </a:lnSpc>
              <a:buNone/>
            </a:pPr>
            <a:r>
              <a:rPr lang="en-US" sz="1300" dirty="0">
                <a:solidFill>
                  <a:srgbClr val="5E6B77"/>
                </a:solidFill>
                <a:latin typeface="Calibri" pitchFamily="34" charset="0"/>
                <a:ea typeface="Calibri" pitchFamily="34" charset="-122"/>
                <a:cs typeface="Calibri" pitchFamily="34" charset="-120"/>
              </a:rPr>
              <a:t>Assignment is hash(group key, target) mod 100, not a shuffle, so there is no seed to lose. The validator re-derives every row from that formula and the fingerprint is identical across rebuilds.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2103120"/>
            <a:ext cx="5486400" cy="365760"/>
          </a:xfrm>
          <a:prstGeom prst="rect">
            <a:avLst/>
          </a:prstGeom>
          <a:noFill/>
          <a:ln/>
        </p:spPr>
        <p:txBody>
          <a:bodyPr wrap="square" lIns="0" tIns="0" rIns="0" bIns="0" rtlCol="0" anchor="ctr"/>
          <a:lstStyle/>
          <a:p>
            <a:pPr indent="0" marL="0">
              <a:buNone/>
            </a:pPr>
            <a:r>
              <a:rPr lang="en-US" sz="1300" b="1" spc="300" kern="0" dirty="0">
                <a:solidFill>
                  <a:srgbClr val="8FC3B2"/>
                </a:solidFill>
                <a:latin typeface="Calibri" pitchFamily="34" charset="0"/>
                <a:ea typeface="Calibri" pitchFamily="34" charset="-122"/>
                <a:cs typeface="Calibri" pitchFamily="34" charset="-120"/>
              </a:rPr>
              <a:t>LAB 9</a:t>
            </a:r>
            <a:endParaRPr lang="en-US" sz="1300" dirty="0"/>
          </a:p>
        </p:txBody>
      </p:sp>
      <p:sp>
        <p:nvSpPr>
          <p:cNvPr id="3" name="Text 1"/>
          <p:cNvSpPr/>
          <p:nvPr/>
        </p:nvSpPr>
        <p:spPr>
          <a:xfrm>
            <a:off x="566928" y="25146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Find it. Fix it. Prove it.</a:t>
            </a:r>
            <a:endParaRPr lang="en-US" sz="4000" dirty="0"/>
          </a:p>
        </p:txBody>
      </p:sp>
      <p:sp>
        <p:nvSpPr>
          <p:cNvPr id="4" name="Text 2"/>
          <p:cNvSpPr/>
          <p:nvPr/>
        </p:nvSpPr>
        <p:spPr>
          <a:xfrm>
            <a:off x="566928" y="3520440"/>
            <a:ext cx="10332720" cy="457200"/>
          </a:xfrm>
          <a:prstGeom prst="rect">
            <a:avLst/>
          </a:prstGeom>
          <a:noFill/>
          <a:ln/>
        </p:spPr>
        <p:txBody>
          <a:bodyPr wrap="square" lIns="0" tIns="0" rIns="0" bIns="0" rtlCol="0" anchor="ctr"/>
          <a:lstStyle/>
          <a:p>
            <a:pPr indent="0" marL="0">
              <a:buNone/>
            </a:pPr>
            <a:r>
              <a:rPr lang="en-US" sz="1600" dirty="0">
                <a:solidFill>
                  <a:srgbClr val="A8B4BE"/>
                </a:solidFill>
                <a:latin typeface="Calibri" pitchFamily="34" charset="0"/>
                <a:ea typeface="Calibri" pitchFamily="34" charset="-122"/>
                <a:cs typeface="Calibri" pitchFamily="34" charset="-120"/>
              </a:rPr>
              <a:t>Profile every step, fix the one that dominates, and report the attempts that failed alongside the one that worked.</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5E6B77"/>
                </a:solidFill>
                <a:latin typeface="Calibri" pitchFamily="34" charset="0"/>
                <a:ea typeface="Calibri" pitchFamily="34" charset="-122"/>
                <a:cs typeface="Calibri" pitchFamily="34" charset="-120"/>
              </a:rPr>
              <a:t>LAB 9  ·  MEASURE FIRST</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One step is 61 per cent of the pipeline</a:t>
            </a:r>
            <a:endParaRPr lang="en-US" sz="3200" dirty="0"/>
          </a:p>
        </p:txBody>
      </p:sp>
      <p:sp>
        <p:nvSpPr>
          <p:cNvPr id="4" name="Text 2"/>
          <p:cNvSpPr/>
          <p:nvPr/>
        </p:nvSpPr>
        <p:spPr>
          <a:xfrm>
            <a:off x="566928" y="1417320"/>
            <a:ext cx="2651760" cy="475488"/>
          </a:xfrm>
          <a:prstGeom prst="rect">
            <a:avLst/>
          </a:prstGeom>
          <a:noFill/>
          <a:ln/>
        </p:spPr>
        <p:txBody>
          <a:bodyPr wrap="square" lIns="0" tIns="0" rIns="0" bIns="0" rtlCol="0" anchor="ctr"/>
          <a:lstStyle/>
          <a:p>
            <a:pPr indent="0" marL="0">
              <a:buNone/>
            </a:pPr>
            <a:r>
              <a:rPr lang="en-US" sz="1250" dirty="0">
                <a:solidFill>
                  <a:srgbClr val="5E6B77"/>
                </a:solidFill>
                <a:latin typeface="Calibri" pitchFamily="34" charset="0"/>
                <a:ea typeface="Calibri" pitchFamily="34" charset="-122"/>
                <a:cs typeface="Calibri" pitchFamily="34" charset="-120"/>
              </a:rPr>
              <a:t>read CSV and hash</a:t>
            </a:r>
            <a:endParaRPr lang="en-US" sz="1250" dirty="0"/>
          </a:p>
        </p:txBody>
      </p:sp>
      <p:sp>
        <p:nvSpPr>
          <p:cNvPr id="5" name="Shape 3"/>
          <p:cNvSpPr/>
          <p:nvPr/>
        </p:nvSpPr>
        <p:spPr>
          <a:xfrm>
            <a:off x="3310128" y="1517904"/>
            <a:ext cx="1080224" cy="274320"/>
          </a:xfrm>
          <a:prstGeom prst="rect">
            <a:avLst/>
          </a:prstGeom>
          <a:solidFill>
            <a:srgbClr val="C3CCD4"/>
          </a:solidFill>
          <a:ln w="12700">
            <a:solidFill>
              <a:srgbClr val="333333"/>
            </a:solidFill>
            <a:prstDash val="solid"/>
          </a:ln>
        </p:spPr>
      </p:sp>
      <p:sp>
        <p:nvSpPr>
          <p:cNvPr id="6" name="Text 4"/>
          <p:cNvSpPr/>
          <p:nvPr/>
        </p:nvSpPr>
        <p:spPr>
          <a:xfrm>
            <a:off x="9299448" y="1417320"/>
            <a:ext cx="1005840" cy="475488"/>
          </a:xfrm>
          <a:prstGeom prst="rect">
            <a:avLst/>
          </a:prstGeom>
          <a:noFill/>
          <a:ln/>
        </p:spPr>
        <p:txBody>
          <a:bodyPr wrap="square" lIns="0" tIns="0" rIns="0" bIns="0" rtlCol="0" anchor="ctr"/>
          <a:lstStyle/>
          <a:p>
            <a:pPr indent="0" marL="0">
              <a:buNone/>
            </a:pPr>
            <a:r>
              <a:rPr lang="en-US" sz="1200" dirty="0">
                <a:solidFill>
                  <a:srgbClr val="5E6B77"/>
                </a:solidFill>
                <a:latin typeface="Consolas" pitchFamily="34" charset="0"/>
                <a:ea typeface="Consolas" pitchFamily="34" charset="-122"/>
                <a:cs typeface="Consolas" pitchFamily="34" charset="-120"/>
              </a:rPr>
              <a:t>0.285 s</a:t>
            </a:r>
            <a:endParaRPr lang="en-US" sz="1200" dirty="0"/>
          </a:p>
        </p:txBody>
      </p:sp>
      <p:sp>
        <p:nvSpPr>
          <p:cNvPr id="7" name="Text 5"/>
          <p:cNvSpPr/>
          <p:nvPr/>
        </p:nvSpPr>
        <p:spPr>
          <a:xfrm>
            <a:off x="10351008" y="1417320"/>
            <a:ext cx="822960" cy="475488"/>
          </a:xfrm>
          <a:prstGeom prst="rect">
            <a:avLst/>
          </a:prstGeom>
          <a:noFill/>
          <a:ln/>
        </p:spPr>
        <p:txBody>
          <a:bodyPr wrap="square" lIns="0" tIns="0" rIns="0" bIns="0" rtlCol="0" anchor="ctr"/>
          <a:lstStyle/>
          <a:p>
            <a:pPr algn="r" indent="0" marL="0">
              <a:buNone/>
            </a:pPr>
            <a:r>
              <a:rPr lang="en-US" sz="1200" dirty="0">
                <a:solidFill>
                  <a:srgbClr val="5E6B77"/>
                </a:solidFill>
                <a:latin typeface="Consolas" pitchFamily="34" charset="0"/>
                <a:ea typeface="Consolas" pitchFamily="34" charset="-122"/>
                <a:cs typeface="Consolas" pitchFamily="34" charset="-120"/>
              </a:rPr>
              <a:t>11.2%</a:t>
            </a:r>
            <a:endParaRPr lang="en-US" sz="1200" dirty="0"/>
          </a:p>
        </p:txBody>
      </p:sp>
      <p:sp>
        <p:nvSpPr>
          <p:cNvPr id="8" name="Text 6"/>
          <p:cNvSpPr/>
          <p:nvPr/>
        </p:nvSpPr>
        <p:spPr>
          <a:xfrm>
            <a:off x="566928" y="1892808"/>
            <a:ext cx="2651760" cy="475488"/>
          </a:xfrm>
          <a:prstGeom prst="rect">
            <a:avLst/>
          </a:prstGeom>
          <a:noFill/>
          <a:ln/>
        </p:spPr>
        <p:txBody>
          <a:bodyPr wrap="square" lIns="0" tIns="0" rIns="0" bIns="0" rtlCol="0" anchor="ctr"/>
          <a:lstStyle/>
          <a:p>
            <a:pPr indent="0" marL="0">
              <a:buNone/>
            </a:pPr>
            <a:r>
              <a:rPr lang="en-US" sz="1250" dirty="0">
                <a:solidFill>
                  <a:srgbClr val="5E6B77"/>
                </a:solidFill>
                <a:latin typeface="Calibri" pitchFamily="34" charset="0"/>
                <a:ea typeface="Calibri" pitchFamily="34" charset="-122"/>
                <a:cs typeface="Calibri" pitchFamily="34" charset="-120"/>
              </a:rPr>
              <a:t>stage (anti-join)</a:t>
            </a:r>
            <a:endParaRPr lang="en-US" sz="1250" dirty="0"/>
          </a:p>
        </p:txBody>
      </p:sp>
      <p:sp>
        <p:nvSpPr>
          <p:cNvPr id="9" name="Shape 7"/>
          <p:cNvSpPr/>
          <p:nvPr/>
        </p:nvSpPr>
        <p:spPr>
          <a:xfrm>
            <a:off x="3310128" y="1993392"/>
            <a:ext cx="1262156" cy="274320"/>
          </a:xfrm>
          <a:prstGeom prst="rect">
            <a:avLst/>
          </a:prstGeom>
          <a:solidFill>
            <a:srgbClr val="C3CCD4"/>
          </a:solidFill>
          <a:ln w="12700">
            <a:solidFill>
              <a:srgbClr val="333333"/>
            </a:solidFill>
            <a:prstDash val="solid"/>
          </a:ln>
        </p:spPr>
      </p:sp>
      <p:sp>
        <p:nvSpPr>
          <p:cNvPr id="10" name="Text 8"/>
          <p:cNvSpPr/>
          <p:nvPr/>
        </p:nvSpPr>
        <p:spPr>
          <a:xfrm>
            <a:off x="9299448" y="1892808"/>
            <a:ext cx="1005840" cy="475488"/>
          </a:xfrm>
          <a:prstGeom prst="rect">
            <a:avLst/>
          </a:prstGeom>
          <a:noFill/>
          <a:ln/>
        </p:spPr>
        <p:txBody>
          <a:bodyPr wrap="square" lIns="0" tIns="0" rIns="0" bIns="0" rtlCol="0" anchor="ctr"/>
          <a:lstStyle/>
          <a:p>
            <a:pPr indent="0" marL="0">
              <a:buNone/>
            </a:pPr>
            <a:r>
              <a:rPr lang="en-US" sz="1200" dirty="0">
                <a:solidFill>
                  <a:srgbClr val="5E6B77"/>
                </a:solidFill>
                <a:latin typeface="Consolas" pitchFamily="34" charset="0"/>
                <a:ea typeface="Consolas" pitchFamily="34" charset="-122"/>
                <a:cs typeface="Consolas" pitchFamily="34" charset="-120"/>
              </a:rPr>
              <a:t>0.333 s</a:t>
            </a:r>
            <a:endParaRPr lang="en-US" sz="1200" dirty="0"/>
          </a:p>
        </p:txBody>
      </p:sp>
      <p:sp>
        <p:nvSpPr>
          <p:cNvPr id="11" name="Text 9"/>
          <p:cNvSpPr/>
          <p:nvPr/>
        </p:nvSpPr>
        <p:spPr>
          <a:xfrm>
            <a:off x="10351008" y="1892808"/>
            <a:ext cx="822960" cy="475488"/>
          </a:xfrm>
          <a:prstGeom prst="rect">
            <a:avLst/>
          </a:prstGeom>
          <a:noFill/>
          <a:ln/>
        </p:spPr>
        <p:txBody>
          <a:bodyPr wrap="square" lIns="0" tIns="0" rIns="0" bIns="0" rtlCol="0" anchor="ctr"/>
          <a:lstStyle/>
          <a:p>
            <a:pPr algn="r" indent="0" marL="0">
              <a:buNone/>
            </a:pPr>
            <a:r>
              <a:rPr lang="en-US" sz="1200" dirty="0">
                <a:solidFill>
                  <a:srgbClr val="5E6B77"/>
                </a:solidFill>
                <a:latin typeface="Consolas" pitchFamily="34" charset="0"/>
                <a:ea typeface="Consolas" pitchFamily="34" charset="-122"/>
                <a:cs typeface="Consolas" pitchFamily="34" charset="-120"/>
              </a:rPr>
              <a:t>13.1%</a:t>
            </a:r>
            <a:endParaRPr lang="en-US" sz="1200" dirty="0"/>
          </a:p>
        </p:txBody>
      </p:sp>
      <p:sp>
        <p:nvSpPr>
          <p:cNvPr id="12" name="Text 10"/>
          <p:cNvSpPr/>
          <p:nvPr/>
        </p:nvSpPr>
        <p:spPr>
          <a:xfrm>
            <a:off x="566928" y="2368296"/>
            <a:ext cx="2651760" cy="475488"/>
          </a:xfrm>
          <a:prstGeom prst="rect">
            <a:avLst/>
          </a:prstGeom>
          <a:noFill/>
          <a:ln/>
        </p:spPr>
        <p:txBody>
          <a:bodyPr wrap="square" lIns="0" tIns="0" rIns="0" bIns="0" rtlCol="0" anchor="ctr"/>
          <a:lstStyle/>
          <a:p>
            <a:pPr indent="0" marL="0">
              <a:buNone/>
            </a:pPr>
            <a:r>
              <a:rPr lang="en-US" sz="1250" dirty="0">
                <a:solidFill>
                  <a:srgbClr val="5E6B77"/>
                </a:solidFill>
                <a:latin typeface="Calibri" pitchFamily="34" charset="0"/>
                <a:ea typeface="Calibri" pitchFamily="34" charset="-122"/>
                <a:cs typeface="Calibri" pitchFamily="34" charset="-120"/>
              </a:rPr>
              <a:t>validate (10 rules)</a:t>
            </a:r>
            <a:endParaRPr lang="en-US" sz="1250" dirty="0"/>
          </a:p>
        </p:txBody>
      </p:sp>
      <p:sp>
        <p:nvSpPr>
          <p:cNvPr id="13" name="Shape 11"/>
          <p:cNvSpPr/>
          <p:nvPr/>
        </p:nvSpPr>
        <p:spPr>
          <a:xfrm>
            <a:off x="3310128" y="2468880"/>
            <a:ext cx="200884" cy="274320"/>
          </a:xfrm>
          <a:prstGeom prst="rect">
            <a:avLst/>
          </a:prstGeom>
          <a:solidFill>
            <a:srgbClr val="C3CCD4"/>
          </a:solidFill>
          <a:ln w="12700">
            <a:solidFill>
              <a:srgbClr val="333333"/>
            </a:solidFill>
            <a:prstDash val="solid"/>
          </a:ln>
        </p:spPr>
      </p:sp>
      <p:sp>
        <p:nvSpPr>
          <p:cNvPr id="14" name="Text 12"/>
          <p:cNvSpPr/>
          <p:nvPr/>
        </p:nvSpPr>
        <p:spPr>
          <a:xfrm>
            <a:off x="9299448" y="2368296"/>
            <a:ext cx="1005840" cy="475488"/>
          </a:xfrm>
          <a:prstGeom prst="rect">
            <a:avLst/>
          </a:prstGeom>
          <a:noFill/>
          <a:ln/>
        </p:spPr>
        <p:txBody>
          <a:bodyPr wrap="square" lIns="0" tIns="0" rIns="0" bIns="0" rtlCol="0" anchor="ctr"/>
          <a:lstStyle/>
          <a:p>
            <a:pPr indent="0" marL="0">
              <a:buNone/>
            </a:pPr>
            <a:r>
              <a:rPr lang="en-US" sz="1200" dirty="0">
                <a:solidFill>
                  <a:srgbClr val="5E6B77"/>
                </a:solidFill>
                <a:latin typeface="Consolas" pitchFamily="34" charset="0"/>
                <a:ea typeface="Consolas" pitchFamily="34" charset="-122"/>
                <a:cs typeface="Consolas" pitchFamily="34" charset="-120"/>
              </a:rPr>
              <a:t>0.053 s</a:t>
            </a:r>
            <a:endParaRPr lang="en-US" sz="1200" dirty="0"/>
          </a:p>
        </p:txBody>
      </p:sp>
      <p:sp>
        <p:nvSpPr>
          <p:cNvPr id="15" name="Text 13"/>
          <p:cNvSpPr/>
          <p:nvPr/>
        </p:nvSpPr>
        <p:spPr>
          <a:xfrm>
            <a:off x="10351008" y="2368296"/>
            <a:ext cx="822960" cy="475488"/>
          </a:xfrm>
          <a:prstGeom prst="rect">
            <a:avLst/>
          </a:prstGeom>
          <a:noFill/>
          <a:ln/>
        </p:spPr>
        <p:txBody>
          <a:bodyPr wrap="square" lIns="0" tIns="0" rIns="0" bIns="0" rtlCol="0" anchor="ctr"/>
          <a:lstStyle/>
          <a:p>
            <a:pPr algn="r" indent="0" marL="0">
              <a:buNone/>
            </a:pPr>
            <a:r>
              <a:rPr lang="en-US" sz="1200" dirty="0">
                <a:solidFill>
                  <a:srgbClr val="5E6B77"/>
                </a:solidFill>
                <a:latin typeface="Consolas" pitchFamily="34" charset="0"/>
                <a:ea typeface="Consolas" pitchFamily="34" charset="-122"/>
                <a:cs typeface="Consolas" pitchFamily="34" charset="-120"/>
              </a:rPr>
              <a:t>2.1%</a:t>
            </a:r>
            <a:endParaRPr lang="en-US" sz="1200" dirty="0"/>
          </a:p>
        </p:txBody>
      </p:sp>
      <p:sp>
        <p:nvSpPr>
          <p:cNvPr id="16" name="Text 14"/>
          <p:cNvSpPr/>
          <p:nvPr/>
        </p:nvSpPr>
        <p:spPr>
          <a:xfrm>
            <a:off x="566928" y="2843784"/>
            <a:ext cx="2651760" cy="475488"/>
          </a:xfrm>
          <a:prstGeom prst="rect">
            <a:avLst/>
          </a:prstGeom>
          <a:noFill/>
          <a:ln/>
        </p:spPr>
        <p:txBody>
          <a:bodyPr wrap="square" lIns="0" tIns="0" rIns="0" bIns="0" rtlCol="0" anchor="ctr"/>
          <a:lstStyle/>
          <a:p>
            <a:pPr indent="0" marL="0">
              <a:buNone/>
            </a:pPr>
            <a:r>
              <a:rPr lang="en-US" sz="1250" dirty="0">
                <a:solidFill>
                  <a:srgbClr val="5E6B77"/>
                </a:solidFill>
                <a:latin typeface="Calibri" pitchFamily="34" charset="0"/>
                <a:ea typeface="Calibri" pitchFamily="34" charset="-122"/>
                <a:cs typeface="Calibri" pitchFamily="34" charset="-120"/>
              </a:rPr>
              <a:t>dimension upserts</a:t>
            </a:r>
            <a:endParaRPr lang="en-US" sz="1250" dirty="0"/>
          </a:p>
        </p:txBody>
      </p:sp>
      <p:sp>
        <p:nvSpPr>
          <p:cNvPr id="17" name="Shape 15"/>
          <p:cNvSpPr/>
          <p:nvPr/>
        </p:nvSpPr>
        <p:spPr>
          <a:xfrm>
            <a:off x="3310128" y="2944368"/>
            <a:ext cx="291850" cy="274320"/>
          </a:xfrm>
          <a:prstGeom prst="rect">
            <a:avLst/>
          </a:prstGeom>
          <a:solidFill>
            <a:srgbClr val="C3CCD4"/>
          </a:solidFill>
          <a:ln w="12700">
            <a:solidFill>
              <a:srgbClr val="333333"/>
            </a:solidFill>
            <a:prstDash val="solid"/>
          </a:ln>
        </p:spPr>
      </p:sp>
      <p:sp>
        <p:nvSpPr>
          <p:cNvPr id="18" name="Text 16"/>
          <p:cNvSpPr/>
          <p:nvPr/>
        </p:nvSpPr>
        <p:spPr>
          <a:xfrm>
            <a:off x="9299448" y="2843784"/>
            <a:ext cx="1005840" cy="475488"/>
          </a:xfrm>
          <a:prstGeom prst="rect">
            <a:avLst/>
          </a:prstGeom>
          <a:noFill/>
          <a:ln/>
        </p:spPr>
        <p:txBody>
          <a:bodyPr wrap="square" lIns="0" tIns="0" rIns="0" bIns="0" rtlCol="0" anchor="ctr"/>
          <a:lstStyle/>
          <a:p>
            <a:pPr indent="0" marL="0">
              <a:buNone/>
            </a:pPr>
            <a:r>
              <a:rPr lang="en-US" sz="1200" dirty="0">
                <a:solidFill>
                  <a:srgbClr val="5E6B77"/>
                </a:solidFill>
                <a:latin typeface="Consolas" pitchFamily="34" charset="0"/>
                <a:ea typeface="Consolas" pitchFamily="34" charset="-122"/>
                <a:cs typeface="Consolas" pitchFamily="34" charset="-120"/>
              </a:rPr>
              <a:t>0.077 s</a:t>
            </a:r>
            <a:endParaRPr lang="en-US" sz="1200" dirty="0"/>
          </a:p>
        </p:txBody>
      </p:sp>
      <p:sp>
        <p:nvSpPr>
          <p:cNvPr id="19" name="Text 17"/>
          <p:cNvSpPr/>
          <p:nvPr/>
        </p:nvSpPr>
        <p:spPr>
          <a:xfrm>
            <a:off x="10351008" y="2843784"/>
            <a:ext cx="822960" cy="475488"/>
          </a:xfrm>
          <a:prstGeom prst="rect">
            <a:avLst/>
          </a:prstGeom>
          <a:noFill/>
          <a:ln/>
        </p:spPr>
        <p:txBody>
          <a:bodyPr wrap="square" lIns="0" tIns="0" rIns="0" bIns="0" rtlCol="0" anchor="ctr"/>
          <a:lstStyle/>
          <a:p>
            <a:pPr algn="r" indent="0" marL="0">
              <a:buNone/>
            </a:pPr>
            <a:r>
              <a:rPr lang="en-US" sz="1200" dirty="0">
                <a:solidFill>
                  <a:srgbClr val="5E6B77"/>
                </a:solidFill>
                <a:latin typeface="Consolas" pitchFamily="34" charset="0"/>
                <a:ea typeface="Consolas" pitchFamily="34" charset="-122"/>
                <a:cs typeface="Consolas" pitchFamily="34" charset="-120"/>
              </a:rPr>
              <a:t>3.0%</a:t>
            </a:r>
            <a:endParaRPr lang="en-US" sz="1200" dirty="0"/>
          </a:p>
        </p:txBody>
      </p:sp>
      <p:sp>
        <p:nvSpPr>
          <p:cNvPr id="20" name="Text 18"/>
          <p:cNvSpPr/>
          <p:nvPr/>
        </p:nvSpPr>
        <p:spPr>
          <a:xfrm>
            <a:off x="566928" y="3319272"/>
            <a:ext cx="2651760" cy="475488"/>
          </a:xfrm>
          <a:prstGeom prst="rect">
            <a:avLst/>
          </a:prstGeom>
          <a:noFill/>
          <a:ln/>
        </p:spPr>
        <p:txBody>
          <a:bodyPr wrap="square" lIns="0" tIns="0" rIns="0" bIns="0" rtlCol="0" anchor="ctr"/>
          <a:lstStyle/>
          <a:p>
            <a:pPr indent="0" marL="0">
              <a:buNone/>
            </a:pPr>
            <a:r>
              <a:rPr lang="en-US" sz="1250" b="1" dirty="0">
                <a:solidFill>
                  <a:srgbClr val="24303A"/>
                </a:solidFill>
                <a:latin typeface="Calibri" pitchFamily="34" charset="0"/>
                <a:ea typeface="Calibri" pitchFamily="34" charset="-122"/>
                <a:cs typeface="Calibri" pitchFamily="34" charset="-120"/>
              </a:rPr>
              <a:t>fact load</a:t>
            </a:r>
            <a:endParaRPr lang="en-US" sz="1250" dirty="0"/>
          </a:p>
        </p:txBody>
      </p:sp>
      <p:sp>
        <p:nvSpPr>
          <p:cNvPr id="21" name="Shape 19"/>
          <p:cNvSpPr/>
          <p:nvPr/>
        </p:nvSpPr>
        <p:spPr>
          <a:xfrm>
            <a:off x="3310128" y="3419856"/>
            <a:ext cx="5852160" cy="274320"/>
          </a:xfrm>
          <a:prstGeom prst="rect">
            <a:avLst/>
          </a:prstGeom>
          <a:solidFill>
            <a:srgbClr val="B3453A"/>
          </a:solidFill>
          <a:ln w="12700">
            <a:solidFill>
              <a:srgbClr val="333333"/>
            </a:solidFill>
            <a:prstDash val="solid"/>
          </a:ln>
        </p:spPr>
      </p:sp>
      <p:sp>
        <p:nvSpPr>
          <p:cNvPr id="22" name="Text 20"/>
          <p:cNvSpPr/>
          <p:nvPr/>
        </p:nvSpPr>
        <p:spPr>
          <a:xfrm>
            <a:off x="9299448" y="3319272"/>
            <a:ext cx="1005840" cy="475488"/>
          </a:xfrm>
          <a:prstGeom prst="rect">
            <a:avLst/>
          </a:prstGeom>
          <a:noFill/>
          <a:ln/>
        </p:spPr>
        <p:txBody>
          <a:bodyPr wrap="square" lIns="0" tIns="0" rIns="0" bIns="0" rtlCol="0" anchor="ctr"/>
          <a:lstStyle/>
          <a:p>
            <a:pPr indent="0" marL="0">
              <a:buNone/>
            </a:pPr>
            <a:r>
              <a:rPr lang="en-US" sz="1200" b="1" dirty="0">
                <a:solidFill>
                  <a:srgbClr val="B3453A"/>
                </a:solidFill>
                <a:latin typeface="Consolas" pitchFamily="34" charset="0"/>
                <a:ea typeface="Consolas" pitchFamily="34" charset="-122"/>
                <a:cs typeface="Consolas" pitchFamily="34" charset="-120"/>
              </a:rPr>
              <a:t>1.544 s</a:t>
            </a:r>
            <a:endParaRPr lang="en-US" sz="1200" dirty="0"/>
          </a:p>
        </p:txBody>
      </p:sp>
      <p:sp>
        <p:nvSpPr>
          <p:cNvPr id="23" name="Text 21"/>
          <p:cNvSpPr/>
          <p:nvPr/>
        </p:nvSpPr>
        <p:spPr>
          <a:xfrm>
            <a:off x="10351008" y="3319272"/>
            <a:ext cx="822960" cy="475488"/>
          </a:xfrm>
          <a:prstGeom prst="rect">
            <a:avLst/>
          </a:prstGeom>
          <a:noFill/>
          <a:ln/>
        </p:spPr>
        <p:txBody>
          <a:bodyPr wrap="square" lIns="0" tIns="0" rIns="0" bIns="0" rtlCol="0" anchor="ctr"/>
          <a:lstStyle/>
          <a:p>
            <a:pPr algn="r" indent="0" marL="0">
              <a:buNone/>
            </a:pPr>
            <a:r>
              <a:rPr lang="en-US" sz="1200" b="1" dirty="0">
                <a:solidFill>
                  <a:srgbClr val="B3453A"/>
                </a:solidFill>
                <a:latin typeface="Consolas" pitchFamily="34" charset="0"/>
                <a:ea typeface="Consolas" pitchFamily="34" charset="-122"/>
                <a:cs typeface="Consolas" pitchFamily="34" charset="-120"/>
              </a:rPr>
              <a:t>60.5%</a:t>
            </a:r>
            <a:endParaRPr lang="en-US" sz="1200" dirty="0"/>
          </a:p>
        </p:txBody>
      </p:sp>
      <p:sp>
        <p:nvSpPr>
          <p:cNvPr id="24" name="Text 22"/>
          <p:cNvSpPr/>
          <p:nvPr/>
        </p:nvSpPr>
        <p:spPr>
          <a:xfrm>
            <a:off x="566928" y="3794760"/>
            <a:ext cx="2651760" cy="475488"/>
          </a:xfrm>
          <a:prstGeom prst="rect">
            <a:avLst/>
          </a:prstGeom>
          <a:noFill/>
          <a:ln/>
        </p:spPr>
        <p:txBody>
          <a:bodyPr wrap="square" lIns="0" tIns="0" rIns="0" bIns="0" rtlCol="0" anchor="ctr"/>
          <a:lstStyle/>
          <a:p>
            <a:pPr indent="0" marL="0">
              <a:buNone/>
            </a:pPr>
            <a:r>
              <a:rPr lang="en-US" sz="1250" dirty="0">
                <a:solidFill>
                  <a:srgbClr val="5E6B77"/>
                </a:solidFill>
                <a:latin typeface="Calibri" pitchFamily="34" charset="0"/>
                <a:ea typeface="Calibri" pitchFamily="34" charset="-122"/>
                <a:cs typeface="Calibri" pitchFamily="34" charset="-120"/>
              </a:rPr>
              <a:t>refresh mart</a:t>
            </a:r>
            <a:endParaRPr lang="en-US" sz="1250" dirty="0"/>
          </a:p>
        </p:txBody>
      </p:sp>
      <p:sp>
        <p:nvSpPr>
          <p:cNvPr id="25" name="Shape 23"/>
          <p:cNvSpPr/>
          <p:nvPr/>
        </p:nvSpPr>
        <p:spPr>
          <a:xfrm>
            <a:off x="3310128" y="3895344"/>
            <a:ext cx="181932" cy="274320"/>
          </a:xfrm>
          <a:prstGeom prst="rect">
            <a:avLst/>
          </a:prstGeom>
          <a:solidFill>
            <a:srgbClr val="C3CCD4"/>
          </a:solidFill>
          <a:ln w="12700">
            <a:solidFill>
              <a:srgbClr val="333333"/>
            </a:solidFill>
            <a:prstDash val="solid"/>
          </a:ln>
        </p:spPr>
      </p:sp>
      <p:sp>
        <p:nvSpPr>
          <p:cNvPr id="26" name="Text 24"/>
          <p:cNvSpPr/>
          <p:nvPr/>
        </p:nvSpPr>
        <p:spPr>
          <a:xfrm>
            <a:off x="9299448" y="3794760"/>
            <a:ext cx="1005840" cy="475488"/>
          </a:xfrm>
          <a:prstGeom prst="rect">
            <a:avLst/>
          </a:prstGeom>
          <a:noFill/>
          <a:ln/>
        </p:spPr>
        <p:txBody>
          <a:bodyPr wrap="square" lIns="0" tIns="0" rIns="0" bIns="0" rtlCol="0" anchor="ctr"/>
          <a:lstStyle/>
          <a:p>
            <a:pPr indent="0" marL="0">
              <a:buNone/>
            </a:pPr>
            <a:r>
              <a:rPr lang="en-US" sz="1200" dirty="0">
                <a:solidFill>
                  <a:srgbClr val="5E6B77"/>
                </a:solidFill>
                <a:latin typeface="Consolas" pitchFamily="34" charset="0"/>
                <a:ea typeface="Consolas" pitchFamily="34" charset="-122"/>
                <a:cs typeface="Consolas" pitchFamily="34" charset="-120"/>
              </a:rPr>
              <a:t>0.048 s</a:t>
            </a:r>
            <a:endParaRPr lang="en-US" sz="1200" dirty="0"/>
          </a:p>
        </p:txBody>
      </p:sp>
      <p:sp>
        <p:nvSpPr>
          <p:cNvPr id="27" name="Text 25"/>
          <p:cNvSpPr/>
          <p:nvPr/>
        </p:nvSpPr>
        <p:spPr>
          <a:xfrm>
            <a:off x="10351008" y="3794760"/>
            <a:ext cx="822960" cy="475488"/>
          </a:xfrm>
          <a:prstGeom prst="rect">
            <a:avLst/>
          </a:prstGeom>
          <a:noFill/>
          <a:ln/>
        </p:spPr>
        <p:txBody>
          <a:bodyPr wrap="square" lIns="0" tIns="0" rIns="0" bIns="0" rtlCol="0" anchor="ctr"/>
          <a:lstStyle/>
          <a:p>
            <a:pPr algn="r" indent="0" marL="0">
              <a:buNone/>
            </a:pPr>
            <a:r>
              <a:rPr lang="en-US" sz="1200" dirty="0">
                <a:solidFill>
                  <a:srgbClr val="5E6B77"/>
                </a:solidFill>
                <a:latin typeface="Consolas" pitchFamily="34" charset="0"/>
                <a:ea typeface="Consolas" pitchFamily="34" charset="-122"/>
                <a:cs typeface="Consolas" pitchFamily="34" charset="-120"/>
              </a:rPr>
              <a:t>1.9%</a:t>
            </a:r>
            <a:endParaRPr lang="en-US" sz="1200" dirty="0"/>
          </a:p>
        </p:txBody>
      </p:sp>
      <p:sp>
        <p:nvSpPr>
          <p:cNvPr id="28" name="Text 26"/>
          <p:cNvSpPr/>
          <p:nvPr/>
        </p:nvSpPr>
        <p:spPr>
          <a:xfrm>
            <a:off x="566928" y="4270248"/>
            <a:ext cx="2651760" cy="475488"/>
          </a:xfrm>
          <a:prstGeom prst="rect">
            <a:avLst/>
          </a:prstGeom>
          <a:noFill/>
          <a:ln/>
        </p:spPr>
        <p:txBody>
          <a:bodyPr wrap="square" lIns="0" tIns="0" rIns="0" bIns="0" rtlCol="0" anchor="ctr"/>
          <a:lstStyle/>
          <a:p>
            <a:pPr indent="0" marL="0">
              <a:buNone/>
            </a:pPr>
            <a:r>
              <a:rPr lang="en-US" sz="1250" dirty="0">
                <a:solidFill>
                  <a:srgbClr val="5E6B77"/>
                </a:solidFill>
                <a:latin typeface="Calibri" pitchFamily="34" charset="0"/>
                <a:ea typeface="Calibri" pitchFamily="34" charset="-122"/>
                <a:cs typeface="Calibri" pitchFamily="34" charset="-120"/>
              </a:rPr>
              <a:t>build features</a:t>
            </a:r>
            <a:endParaRPr lang="en-US" sz="1250" dirty="0"/>
          </a:p>
        </p:txBody>
      </p:sp>
      <p:sp>
        <p:nvSpPr>
          <p:cNvPr id="29" name="Shape 27"/>
          <p:cNvSpPr/>
          <p:nvPr/>
        </p:nvSpPr>
        <p:spPr>
          <a:xfrm>
            <a:off x="3310128" y="4370832"/>
            <a:ext cx="610232" cy="274320"/>
          </a:xfrm>
          <a:prstGeom prst="rect">
            <a:avLst/>
          </a:prstGeom>
          <a:solidFill>
            <a:srgbClr val="C3CCD4"/>
          </a:solidFill>
          <a:ln w="12700">
            <a:solidFill>
              <a:srgbClr val="333333"/>
            </a:solidFill>
            <a:prstDash val="solid"/>
          </a:ln>
        </p:spPr>
      </p:sp>
      <p:sp>
        <p:nvSpPr>
          <p:cNvPr id="30" name="Text 28"/>
          <p:cNvSpPr/>
          <p:nvPr/>
        </p:nvSpPr>
        <p:spPr>
          <a:xfrm>
            <a:off x="9299448" y="4270248"/>
            <a:ext cx="1005840" cy="475488"/>
          </a:xfrm>
          <a:prstGeom prst="rect">
            <a:avLst/>
          </a:prstGeom>
          <a:noFill/>
          <a:ln/>
        </p:spPr>
        <p:txBody>
          <a:bodyPr wrap="square" lIns="0" tIns="0" rIns="0" bIns="0" rtlCol="0" anchor="ctr"/>
          <a:lstStyle/>
          <a:p>
            <a:pPr indent="0" marL="0">
              <a:buNone/>
            </a:pPr>
            <a:r>
              <a:rPr lang="en-US" sz="1200" dirty="0">
                <a:solidFill>
                  <a:srgbClr val="5E6B77"/>
                </a:solidFill>
                <a:latin typeface="Consolas" pitchFamily="34" charset="0"/>
                <a:ea typeface="Consolas" pitchFamily="34" charset="-122"/>
                <a:cs typeface="Consolas" pitchFamily="34" charset="-120"/>
              </a:rPr>
              <a:t>0.161 s</a:t>
            </a:r>
            <a:endParaRPr lang="en-US" sz="1200" dirty="0"/>
          </a:p>
        </p:txBody>
      </p:sp>
      <p:sp>
        <p:nvSpPr>
          <p:cNvPr id="31" name="Text 29"/>
          <p:cNvSpPr/>
          <p:nvPr/>
        </p:nvSpPr>
        <p:spPr>
          <a:xfrm>
            <a:off x="10351008" y="4270248"/>
            <a:ext cx="822960" cy="475488"/>
          </a:xfrm>
          <a:prstGeom prst="rect">
            <a:avLst/>
          </a:prstGeom>
          <a:noFill/>
          <a:ln/>
        </p:spPr>
        <p:txBody>
          <a:bodyPr wrap="square" lIns="0" tIns="0" rIns="0" bIns="0" rtlCol="0" anchor="ctr"/>
          <a:lstStyle/>
          <a:p>
            <a:pPr algn="r" indent="0" marL="0">
              <a:buNone/>
            </a:pPr>
            <a:r>
              <a:rPr lang="en-US" sz="1200" dirty="0">
                <a:solidFill>
                  <a:srgbClr val="5E6B77"/>
                </a:solidFill>
                <a:latin typeface="Consolas" pitchFamily="34" charset="0"/>
                <a:ea typeface="Consolas" pitchFamily="34" charset="-122"/>
                <a:cs typeface="Consolas" pitchFamily="34" charset="-120"/>
              </a:rPr>
              <a:t>6.3%</a:t>
            </a:r>
            <a:endParaRPr lang="en-US" sz="1200" dirty="0"/>
          </a:p>
        </p:txBody>
      </p:sp>
      <p:sp>
        <p:nvSpPr>
          <p:cNvPr id="32" name="Text 30"/>
          <p:cNvSpPr/>
          <p:nvPr/>
        </p:nvSpPr>
        <p:spPr>
          <a:xfrm>
            <a:off x="566928" y="4983480"/>
            <a:ext cx="10881360" cy="731520"/>
          </a:xfrm>
          <a:prstGeom prst="rect">
            <a:avLst/>
          </a:prstGeom>
          <a:noFill/>
          <a:ln/>
        </p:spPr>
        <p:txBody>
          <a:bodyPr wrap="square" lIns="0" tIns="0" rIns="0" bIns="0" rtlCol="0" anchor="ctr"/>
          <a:lstStyle/>
          <a:p>
            <a:pPr indent="0" marL="0">
              <a:lnSpc>
                <a:spcPct val="120000"/>
              </a:lnSpc>
              <a:buNone/>
            </a:pPr>
            <a:r>
              <a:rPr lang="en-US" sz="1400" dirty="0">
                <a:solidFill>
                  <a:srgbClr val="24303A"/>
                </a:solidFill>
                <a:latin typeface="Calibri" pitchFamily="34" charset="0"/>
                <a:ea typeface="Calibri" pitchFamily="34" charset="-122"/>
                <a:cs typeface="Calibri" pitchFamily="34" charset="-120"/>
              </a:rPr>
              <a:t>Two thirds of the fact load is foreign key enforcement, about 18 microseconds per row across eight keys. That cost stays: Lab 6 showed those same constraints refusing three corruptions before any quality check saw them.</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B3453A"/>
                </a:solidFill>
                <a:latin typeface="Calibri" pitchFamily="34" charset="0"/>
                <a:ea typeface="Calibri" pitchFamily="34" charset="-122"/>
                <a:cs typeface="Calibri" pitchFamily="34" charset="-120"/>
              </a:rPr>
              <a:t>LAB 9  ·  THE INSTRUMENT WAS WRONG</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A profiler that reorders the work is not profiling it</a:t>
            </a:r>
            <a:endParaRPr lang="en-US" sz="3200" dirty="0"/>
          </a:p>
        </p:txBody>
      </p:sp>
      <p:sp>
        <p:nvSpPr>
          <p:cNvPr id="4" name="Text 2"/>
          <p:cNvSpPr/>
          <p:nvPr/>
        </p:nvSpPr>
        <p:spPr>
          <a:xfrm>
            <a:off x="566928" y="1298448"/>
            <a:ext cx="10881360" cy="640080"/>
          </a:xfrm>
          <a:prstGeom prst="rect">
            <a:avLst/>
          </a:prstGeom>
          <a:noFill/>
          <a:ln/>
        </p:spPr>
        <p:txBody>
          <a:bodyPr wrap="square" lIns="0" tIns="0" rIns="0" bIns="0" rtlCol="0" anchor="t"/>
          <a:lstStyle/>
          <a:p>
            <a:pPr algn="l" indent="0" marL="0">
              <a:lnSpc>
                <a:spcPct val="115000"/>
              </a:lnSpc>
              <a:buNone/>
            </a:pPr>
            <a:r>
              <a:rPr lang="en-US" sz="1450" dirty="0">
                <a:solidFill>
                  <a:srgbClr val="24303A"/>
                </a:solidFill>
                <a:latin typeface="Calibri" pitchFamily="34" charset="0"/>
                <a:ea typeface="Calibri" pitchFamily="34" charset="-122"/>
                <a:cs typeface="Calibri" pitchFamily="34" charset="-120"/>
              </a:rPr>
              <a:t>The first version grouped statements by label before timing them. The fact insert mentions load_reject in its CTE, so it was grouped with validation and ran before the dimensions it depends on. It inserted nothing.</a:t>
            </a:r>
            <a:endParaRPr lang="en-US" sz="1450" dirty="0"/>
          </a:p>
        </p:txBody>
      </p:sp>
      <p:sp>
        <p:nvSpPr>
          <p:cNvPr id="5" name="Shape 3"/>
          <p:cNvSpPr/>
          <p:nvPr/>
        </p:nvSpPr>
        <p:spPr>
          <a:xfrm>
            <a:off x="566928" y="2148840"/>
            <a:ext cx="5394960" cy="1920240"/>
          </a:xfrm>
          <a:prstGeom prst="roundRect">
            <a:avLst>
              <a:gd name="adj" fmla="val 2857"/>
            </a:avLst>
          </a:prstGeom>
          <a:solidFill>
            <a:srgbClr val="FBEEEC"/>
          </a:solidFill>
          <a:ln w="12700">
            <a:solidFill>
              <a:srgbClr val="FBEEEC"/>
            </a:solidFill>
            <a:prstDash val="solid"/>
          </a:ln>
        </p:spPr>
      </p:sp>
      <p:sp>
        <p:nvSpPr>
          <p:cNvPr id="6" name="Text 4"/>
          <p:cNvSpPr/>
          <p:nvPr/>
        </p:nvSpPr>
        <p:spPr>
          <a:xfrm>
            <a:off x="886968" y="2331720"/>
            <a:ext cx="4754880" cy="274320"/>
          </a:xfrm>
          <a:prstGeom prst="rect">
            <a:avLst/>
          </a:prstGeom>
          <a:noFill/>
          <a:ln/>
        </p:spPr>
        <p:txBody>
          <a:bodyPr wrap="square" lIns="0" tIns="0" rIns="0" bIns="0" rtlCol="0" anchor="ctr"/>
          <a:lstStyle/>
          <a:p>
            <a:pPr indent="0" marL="0">
              <a:buNone/>
            </a:pPr>
            <a:r>
              <a:rPr lang="en-US" sz="1050" b="1" spc="150" kern="0" dirty="0">
                <a:solidFill>
                  <a:srgbClr val="B3453A"/>
                </a:solidFill>
                <a:latin typeface="Calibri" pitchFamily="34" charset="0"/>
                <a:ea typeface="Calibri" pitchFamily="34" charset="-122"/>
                <a:cs typeface="Calibri" pitchFamily="34" charset="-120"/>
              </a:rPr>
              <a:t>FIRST, BUGGY PROFILE</a:t>
            </a:r>
            <a:endParaRPr lang="en-US" sz="1050" dirty="0"/>
          </a:p>
        </p:txBody>
      </p:sp>
      <p:sp>
        <p:nvSpPr>
          <p:cNvPr id="7" name="Text 5"/>
          <p:cNvSpPr/>
          <p:nvPr/>
        </p:nvSpPr>
        <p:spPr>
          <a:xfrm>
            <a:off x="886968" y="2651760"/>
            <a:ext cx="4754880" cy="411480"/>
          </a:xfrm>
          <a:prstGeom prst="rect">
            <a:avLst/>
          </a:prstGeom>
          <a:noFill/>
          <a:ln/>
        </p:spPr>
        <p:txBody>
          <a:bodyPr wrap="square" lIns="0" tIns="0" rIns="0" bIns="0" rtlCol="0" anchor="ctr"/>
          <a:lstStyle/>
          <a:p>
            <a:pPr indent="0" marL="0">
              <a:buNone/>
            </a:pPr>
            <a:r>
              <a:rPr lang="en-US" sz="1900" b="1" dirty="0">
                <a:solidFill>
                  <a:srgbClr val="24303A"/>
                </a:solidFill>
                <a:latin typeface="Cambria" pitchFamily="34" charset="0"/>
                <a:ea typeface="Cambria" pitchFamily="34" charset="-122"/>
                <a:cs typeface="Cambria" pitchFamily="34" charset="-120"/>
              </a:rPr>
              <a:t>stage (anti-join), 30%</a:t>
            </a:r>
            <a:endParaRPr lang="en-US" sz="1900" dirty="0"/>
          </a:p>
        </p:txBody>
      </p:sp>
      <p:sp>
        <p:nvSpPr>
          <p:cNvPr id="8" name="Text 6"/>
          <p:cNvSpPr/>
          <p:nvPr/>
        </p:nvSpPr>
        <p:spPr>
          <a:xfrm>
            <a:off x="886968" y="3127248"/>
            <a:ext cx="4754880" cy="822960"/>
          </a:xfrm>
          <a:prstGeom prst="rect">
            <a:avLst/>
          </a:prstGeom>
          <a:noFill/>
          <a:ln/>
        </p:spPr>
        <p:txBody>
          <a:bodyPr wrap="square" lIns="0" tIns="0" rIns="0" bIns="0" rtlCol="0" anchor="ctr"/>
          <a:lstStyle/>
          <a:p>
            <a:pPr indent="0" marL="0">
              <a:lnSpc>
                <a:spcPct val="120000"/>
              </a:lnSpc>
              <a:buNone/>
            </a:pPr>
            <a:r>
              <a:rPr lang="en-US" sz="1250" dirty="0">
                <a:solidFill>
                  <a:srgbClr val="24303A"/>
                </a:solidFill>
                <a:latin typeface="Calibri" pitchFamily="34" charset="0"/>
                <a:ea typeface="Calibri" pitchFamily="34" charset="-122"/>
                <a:cs typeface="Calibri" pitchFamily="34" charset="-120"/>
              </a:rPr>
              <a:t>total 1.140 s</a:t>
            </a:r>
            <a:endParaRPr lang="en-US" sz="1250" dirty="0"/>
          </a:p>
          <a:p>
            <a:pPr indent="0" marL="0">
              <a:lnSpc>
                <a:spcPct val="120000"/>
              </a:lnSpc>
              <a:buNone/>
            </a:pPr>
            <a:endParaRPr lang="en-US" sz="1250" dirty="0"/>
          </a:p>
          <a:p>
            <a:pPr indent="0" marL="0">
              <a:lnSpc>
                <a:spcPct val="120000"/>
              </a:lnSpc>
              <a:buNone/>
            </a:pPr>
            <a:r>
              <a:rPr lang="en-US" sz="1250" dirty="0">
                <a:solidFill>
                  <a:srgbClr val="24303A"/>
                </a:solidFill>
                <a:latin typeface="Calibri" pitchFamily="34" charset="0"/>
                <a:ea typeface="Calibri" pitchFamily="34" charset="-122"/>
                <a:cs typeface="Calibri" pitchFamily="34" charset="-120"/>
              </a:rPr>
              <a:t>A real step, a believable share, and entirely wrong.</a:t>
            </a:r>
            <a:endParaRPr lang="en-US" sz="1250" dirty="0"/>
          </a:p>
        </p:txBody>
      </p:sp>
      <p:sp>
        <p:nvSpPr>
          <p:cNvPr id="9" name="Shape 7"/>
          <p:cNvSpPr/>
          <p:nvPr/>
        </p:nvSpPr>
        <p:spPr>
          <a:xfrm>
            <a:off x="6281928" y="2148840"/>
            <a:ext cx="5394960" cy="1920240"/>
          </a:xfrm>
          <a:prstGeom prst="roundRect">
            <a:avLst>
              <a:gd name="adj" fmla="val 2857"/>
            </a:avLst>
          </a:prstGeom>
          <a:solidFill>
            <a:srgbClr val="EAF0ED"/>
          </a:solidFill>
          <a:ln w="12700">
            <a:solidFill>
              <a:srgbClr val="EAF0ED"/>
            </a:solidFill>
            <a:prstDash val="solid"/>
          </a:ln>
        </p:spPr>
      </p:sp>
      <p:sp>
        <p:nvSpPr>
          <p:cNvPr id="10" name="Text 8"/>
          <p:cNvSpPr/>
          <p:nvPr/>
        </p:nvSpPr>
        <p:spPr>
          <a:xfrm>
            <a:off x="6601968" y="2331720"/>
            <a:ext cx="4754880" cy="274320"/>
          </a:xfrm>
          <a:prstGeom prst="rect">
            <a:avLst/>
          </a:prstGeom>
          <a:noFill/>
          <a:ln/>
        </p:spPr>
        <p:txBody>
          <a:bodyPr wrap="square" lIns="0" tIns="0" rIns="0" bIns="0" rtlCol="0" anchor="ctr"/>
          <a:lstStyle/>
          <a:p>
            <a:pPr indent="0" marL="0">
              <a:buNone/>
            </a:pPr>
            <a:r>
              <a:rPr lang="en-US" sz="1050" b="1" spc="150" kern="0" dirty="0">
                <a:solidFill>
                  <a:srgbClr val="2E6F5E"/>
                </a:solidFill>
                <a:latin typeface="Calibri" pitchFamily="34" charset="0"/>
                <a:ea typeface="Calibri" pitchFamily="34" charset="-122"/>
                <a:cs typeface="Calibri" pitchFamily="34" charset="-120"/>
              </a:rPr>
              <a:t>CORRECTED PROFILE</a:t>
            </a:r>
            <a:endParaRPr lang="en-US" sz="1050" dirty="0"/>
          </a:p>
        </p:txBody>
      </p:sp>
      <p:sp>
        <p:nvSpPr>
          <p:cNvPr id="11" name="Text 9"/>
          <p:cNvSpPr/>
          <p:nvPr/>
        </p:nvSpPr>
        <p:spPr>
          <a:xfrm>
            <a:off x="6601968" y="2651760"/>
            <a:ext cx="4754880" cy="411480"/>
          </a:xfrm>
          <a:prstGeom prst="rect">
            <a:avLst/>
          </a:prstGeom>
          <a:noFill/>
          <a:ln/>
        </p:spPr>
        <p:txBody>
          <a:bodyPr wrap="square" lIns="0" tIns="0" rIns="0" bIns="0" rtlCol="0" anchor="ctr"/>
          <a:lstStyle/>
          <a:p>
            <a:pPr indent="0" marL="0">
              <a:buNone/>
            </a:pPr>
            <a:r>
              <a:rPr lang="en-US" sz="1900" b="1" dirty="0">
                <a:solidFill>
                  <a:srgbClr val="24303A"/>
                </a:solidFill>
                <a:latin typeface="Cambria" pitchFamily="34" charset="0"/>
                <a:ea typeface="Cambria" pitchFamily="34" charset="-122"/>
                <a:cs typeface="Cambria" pitchFamily="34" charset="-120"/>
              </a:rPr>
              <a:t>fact load, 61%</a:t>
            </a:r>
            <a:endParaRPr lang="en-US" sz="1900" dirty="0"/>
          </a:p>
        </p:txBody>
      </p:sp>
      <p:sp>
        <p:nvSpPr>
          <p:cNvPr id="12" name="Text 10"/>
          <p:cNvSpPr/>
          <p:nvPr/>
        </p:nvSpPr>
        <p:spPr>
          <a:xfrm>
            <a:off x="6601968" y="3127248"/>
            <a:ext cx="4754880" cy="822960"/>
          </a:xfrm>
          <a:prstGeom prst="rect">
            <a:avLst/>
          </a:prstGeom>
          <a:noFill/>
          <a:ln/>
        </p:spPr>
        <p:txBody>
          <a:bodyPr wrap="square" lIns="0" tIns="0" rIns="0" bIns="0" rtlCol="0" anchor="ctr"/>
          <a:lstStyle/>
          <a:p>
            <a:pPr indent="0" marL="0">
              <a:lnSpc>
                <a:spcPct val="120000"/>
              </a:lnSpc>
              <a:buNone/>
            </a:pPr>
            <a:r>
              <a:rPr lang="en-US" sz="1250" dirty="0">
                <a:solidFill>
                  <a:srgbClr val="24303A"/>
                </a:solidFill>
                <a:latin typeface="Calibri" pitchFamily="34" charset="0"/>
                <a:ea typeface="Calibri" pitchFamily="34" charset="-122"/>
                <a:cs typeface="Calibri" pitchFamily="34" charset="-120"/>
              </a:rPr>
              <a:t>total 2.552 s</a:t>
            </a:r>
            <a:endParaRPr lang="en-US" sz="1250" dirty="0"/>
          </a:p>
          <a:p>
            <a:pPr indent="0" marL="0">
              <a:lnSpc>
                <a:spcPct val="120000"/>
              </a:lnSpc>
              <a:buNone/>
            </a:pPr>
            <a:endParaRPr lang="en-US" sz="1250" dirty="0"/>
          </a:p>
          <a:p>
            <a:pPr indent="0" marL="0">
              <a:lnSpc>
                <a:spcPct val="120000"/>
              </a:lnSpc>
              <a:buNone/>
            </a:pPr>
            <a:r>
              <a:rPr lang="en-US" sz="1250" dirty="0">
                <a:solidFill>
                  <a:srgbClr val="24303A"/>
                </a:solidFill>
                <a:latin typeface="Calibri" pitchFamily="34" charset="0"/>
                <a:ea typeface="Calibri" pitchFamily="34" charset="-122"/>
                <a:cs typeface="Calibri" pitchFamily="34" charset="-120"/>
              </a:rPr>
              <a:t>Statements now timed in file order and never regrouped.</a:t>
            </a:r>
            <a:endParaRPr lang="en-US" sz="1250" dirty="0"/>
          </a:p>
        </p:txBody>
      </p:sp>
      <p:sp>
        <p:nvSpPr>
          <p:cNvPr id="13" name="Text 11"/>
          <p:cNvSpPr/>
          <p:nvPr/>
        </p:nvSpPr>
        <p:spPr>
          <a:xfrm>
            <a:off x="566928" y="4434840"/>
            <a:ext cx="10881360" cy="731520"/>
          </a:xfrm>
          <a:prstGeom prst="rect">
            <a:avLst/>
          </a:prstGeom>
          <a:noFill/>
          <a:ln/>
        </p:spPr>
        <p:txBody>
          <a:bodyPr wrap="square" lIns="0" tIns="0" rIns="0" bIns="0" rtlCol="0" anchor="ctr"/>
          <a:lstStyle/>
          <a:p>
            <a:pPr indent="0" marL="0">
              <a:lnSpc>
                <a:spcPct val="120000"/>
              </a:lnSpc>
              <a:buNone/>
            </a:pPr>
            <a:r>
              <a:rPr lang="en-US" sz="1400" b="1" dirty="0">
                <a:solidFill>
                  <a:srgbClr val="24303A"/>
                </a:solidFill>
                <a:latin typeface="Calibri" pitchFamily="34" charset="0"/>
                <a:ea typeface="Calibri" pitchFamily="34" charset="-122"/>
                <a:cs typeface="Calibri" pitchFamily="34" charset="-120"/>
              </a:rPr>
              <a:t>The wrong answer was not obviously wrong. It would have sent the whole lab off to optimise something that was never the problem. The validator now checks that the fact load still appears in the profiler's output.</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indent="0" marL="0">
              <a:buNone/>
            </a:pPr>
            <a:r>
              <a:rPr lang="en-US" sz="1150" b="1" spc="200" kern="0" dirty="0">
                <a:solidFill>
                  <a:srgbClr val="5E6B77"/>
                </a:solidFill>
                <a:latin typeface="Calibri" pitchFamily="34" charset="0"/>
                <a:ea typeface="Calibri" pitchFamily="34" charset="-122"/>
                <a:cs typeface="Calibri" pitchFamily="34" charset="-120"/>
              </a:rPr>
              <a:t>LAB 9  ·  PROVE IT</a:t>
            </a:r>
            <a:endParaRPr lang="en-US" sz="1150" dirty="0"/>
          </a:p>
        </p:txBody>
      </p:sp>
      <p:sp>
        <p:nvSpPr>
          <p:cNvPr id="3" name="Text 1"/>
          <p:cNvSpPr/>
          <p:nvPr/>
        </p:nvSpPr>
        <p:spPr>
          <a:xfrm>
            <a:off x="566928" y="411480"/>
            <a:ext cx="11027664" cy="685800"/>
          </a:xfrm>
          <a:prstGeom prst="rect">
            <a:avLst/>
          </a:prstGeom>
          <a:noFill/>
          <a:ln/>
        </p:spPr>
        <p:txBody>
          <a:bodyPr wrap="square" lIns="0" tIns="0" rIns="0" bIns="0" rtlCol="0" anchor="ctr"/>
          <a:lstStyle/>
          <a:p>
            <a:pPr algn="l" indent="0" marL="0">
              <a:buNone/>
            </a:pPr>
            <a:r>
              <a:rPr lang="en-US" sz="3200" b="1" dirty="0">
                <a:solidFill>
                  <a:srgbClr val="24303A"/>
                </a:solidFill>
                <a:latin typeface="Cambria" pitchFamily="34" charset="0"/>
                <a:ea typeface="Cambria" pitchFamily="34" charset="-122"/>
                <a:cs typeface="Cambria" pitchFamily="34" charset="-120"/>
              </a:rPr>
              <a:t>Six rewrites lost. One won. All seven are reported.</a:t>
            </a:r>
            <a:endParaRPr lang="en-US" sz="3200" dirty="0"/>
          </a:p>
        </p:txBody>
      </p:sp>
      <p:sp>
        <p:nvSpPr>
          <p:cNvPr id="4" name="Shape 2"/>
          <p:cNvSpPr/>
          <p:nvPr/>
        </p:nvSpPr>
        <p:spPr>
          <a:xfrm>
            <a:off x="566928" y="1417320"/>
            <a:ext cx="6675120" cy="420624"/>
          </a:xfrm>
          <a:prstGeom prst="rect">
            <a:avLst/>
          </a:prstGeom>
          <a:solidFill>
            <a:srgbClr val="F1F3F5"/>
          </a:solidFill>
          <a:ln w="6350">
            <a:solidFill>
              <a:srgbClr val="E8ECEF"/>
            </a:solidFill>
            <a:prstDash val="solid"/>
          </a:ln>
        </p:spPr>
      </p:sp>
      <p:sp>
        <p:nvSpPr>
          <p:cNvPr id="5" name="Text 3"/>
          <p:cNvSpPr/>
          <p:nvPr/>
        </p:nvSpPr>
        <p:spPr>
          <a:xfrm>
            <a:off x="795528" y="1417320"/>
            <a:ext cx="4663440" cy="420624"/>
          </a:xfrm>
          <a:prstGeom prst="rect">
            <a:avLst/>
          </a:prstGeom>
          <a:noFill/>
          <a:ln/>
        </p:spPr>
        <p:txBody>
          <a:bodyPr wrap="square" lIns="0" tIns="0" rIns="0" bIns="0" rtlCol="0" anchor="ctr"/>
          <a:lstStyle/>
          <a:p>
            <a:pPr indent="0" marL="0">
              <a:buNone/>
            </a:pPr>
            <a:r>
              <a:rPr lang="en-US" sz="1250" dirty="0">
                <a:solidFill>
                  <a:srgbClr val="24303A"/>
                </a:solidFill>
                <a:latin typeface="Calibri" pitchFamily="34" charset="0"/>
                <a:ea typeface="Calibri" pitchFamily="34" charset="-122"/>
                <a:cs typeface="Calibri" pitchFamily="34" charset="-120"/>
              </a:rPr>
              <a:t>Materialise the fact rows, then insert</a:t>
            </a:r>
            <a:endParaRPr lang="en-US" sz="1250" dirty="0"/>
          </a:p>
        </p:txBody>
      </p:sp>
      <p:sp>
        <p:nvSpPr>
          <p:cNvPr id="6" name="Text 4"/>
          <p:cNvSpPr/>
          <p:nvPr/>
        </p:nvSpPr>
        <p:spPr>
          <a:xfrm>
            <a:off x="5413248" y="1417320"/>
            <a:ext cx="1645920" cy="420624"/>
          </a:xfrm>
          <a:prstGeom prst="rect">
            <a:avLst/>
          </a:prstGeom>
          <a:noFill/>
          <a:ln/>
        </p:spPr>
        <p:txBody>
          <a:bodyPr wrap="square" lIns="0" tIns="0" rIns="0" bIns="0" rtlCol="0" anchor="ctr"/>
          <a:lstStyle/>
          <a:p>
            <a:pPr algn="r" indent="0" marL="0">
              <a:buNone/>
            </a:pPr>
            <a:r>
              <a:rPr lang="en-US" sz="1200" dirty="0">
                <a:solidFill>
                  <a:srgbClr val="B3453A"/>
                </a:solidFill>
                <a:latin typeface="Consolas" pitchFamily="34" charset="0"/>
                <a:ea typeface="Consolas" pitchFamily="34" charset="-122"/>
                <a:cs typeface="Consolas" pitchFamily="34" charset="-120"/>
              </a:rPr>
              <a:t>4% slower</a:t>
            </a:r>
            <a:endParaRPr lang="en-US" sz="1200" dirty="0"/>
          </a:p>
        </p:txBody>
      </p:sp>
      <p:sp>
        <p:nvSpPr>
          <p:cNvPr id="7" name="Shape 5"/>
          <p:cNvSpPr/>
          <p:nvPr/>
        </p:nvSpPr>
        <p:spPr>
          <a:xfrm>
            <a:off x="566928" y="1892808"/>
            <a:ext cx="6675120" cy="420624"/>
          </a:xfrm>
          <a:prstGeom prst="rect">
            <a:avLst/>
          </a:prstGeom>
          <a:solidFill>
            <a:srgbClr val="FFFFFF"/>
          </a:solidFill>
          <a:ln w="6350">
            <a:solidFill>
              <a:srgbClr val="E8ECEF"/>
            </a:solidFill>
            <a:prstDash val="solid"/>
          </a:ln>
        </p:spPr>
      </p:sp>
      <p:sp>
        <p:nvSpPr>
          <p:cNvPr id="8" name="Text 6"/>
          <p:cNvSpPr/>
          <p:nvPr/>
        </p:nvSpPr>
        <p:spPr>
          <a:xfrm>
            <a:off x="795528" y="1892808"/>
            <a:ext cx="4663440" cy="420624"/>
          </a:xfrm>
          <a:prstGeom prst="rect">
            <a:avLst/>
          </a:prstGeom>
          <a:noFill/>
          <a:ln/>
        </p:spPr>
        <p:txBody>
          <a:bodyPr wrap="square" lIns="0" tIns="0" rIns="0" bIns="0" rtlCol="0" anchor="ctr"/>
          <a:lstStyle/>
          <a:p>
            <a:pPr indent="0" marL="0">
              <a:buNone/>
            </a:pPr>
            <a:r>
              <a:rPr lang="en-US" sz="1250" dirty="0">
                <a:solidFill>
                  <a:srgbClr val="24303A"/>
                </a:solidFill>
                <a:latin typeface="Calibri" pitchFamily="34" charset="0"/>
                <a:ea typeface="Calibri" pitchFamily="34" charset="-122"/>
                <a:cs typeface="Calibri" pitchFamily="34" charset="-120"/>
              </a:rPr>
              <a:t>Drop the record_key UNIQUE index</a:t>
            </a:r>
            <a:endParaRPr lang="en-US" sz="1250" dirty="0"/>
          </a:p>
        </p:txBody>
      </p:sp>
      <p:sp>
        <p:nvSpPr>
          <p:cNvPr id="9" name="Text 7"/>
          <p:cNvSpPr/>
          <p:nvPr/>
        </p:nvSpPr>
        <p:spPr>
          <a:xfrm>
            <a:off x="5413248" y="1892808"/>
            <a:ext cx="1645920" cy="420624"/>
          </a:xfrm>
          <a:prstGeom prst="rect">
            <a:avLst/>
          </a:prstGeom>
          <a:noFill/>
          <a:ln/>
        </p:spPr>
        <p:txBody>
          <a:bodyPr wrap="square" lIns="0" tIns="0" rIns="0" bIns="0" rtlCol="0" anchor="ctr"/>
          <a:lstStyle/>
          <a:p>
            <a:pPr algn="r" indent="0" marL="0">
              <a:buNone/>
            </a:pPr>
            <a:r>
              <a:rPr lang="en-US" sz="1200" dirty="0">
                <a:solidFill>
                  <a:srgbClr val="B3453A"/>
                </a:solidFill>
                <a:latin typeface="Consolas" pitchFamily="34" charset="0"/>
                <a:ea typeface="Consolas" pitchFamily="34" charset="-122"/>
                <a:cs typeface="Consolas" pitchFamily="34" charset="-120"/>
              </a:rPr>
              <a:t>under 4%</a:t>
            </a:r>
            <a:endParaRPr lang="en-US" sz="1200" dirty="0"/>
          </a:p>
        </p:txBody>
      </p:sp>
      <p:sp>
        <p:nvSpPr>
          <p:cNvPr id="10" name="Shape 8"/>
          <p:cNvSpPr/>
          <p:nvPr/>
        </p:nvSpPr>
        <p:spPr>
          <a:xfrm>
            <a:off x="566928" y="2368296"/>
            <a:ext cx="6675120" cy="420624"/>
          </a:xfrm>
          <a:prstGeom prst="rect">
            <a:avLst/>
          </a:prstGeom>
          <a:solidFill>
            <a:srgbClr val="F1F3F5"/>
          </a:solidFill>
          <a:ln w="6350">
            <a:solidFill>
              <a:srgbClr val="E8ECEF"/>
            </a:solidFill>
            <a:prstDash val="solid"/>
          </a:ln>
        </p:spPr>
      </p:sp>
      <p:sp>
        <p:nvSpPr>
          <p:cNvPr id="11" name="Text 9"/>
          <p:cNvSpPr/>
          <p:nvPr/>
        </p:nvSpPr>
        <p:spPr>
          <a:xfrm>
            <a:off x="795528" y="2368296"/>
            <a:ext cx="4663440" cy="420624"/>
          </a:xfrm>
          <a:prstGeom prst="rect">
            <a:avLst/>
          </a:prstGeom>
          <a:noFill/>
          <a:ln/>
        </p:spPr>
        <p:txBody>
          <a:bodyPr wrap="square" lIns="0" tIns="0" rIns="0" bIns="0" rtlCol="0" anchor="ctr"/>
          <a:lstStyle/>
          <a:p>
            <a:pPr indent="0" marL="0">
              <a:buNone/>
            </a:pPr>
            <a:r>
              <a:rPr lang="en-US" sz="1250" dirty="0">
                <a:solidFill>
                  <a:srgbClr val="24303A"/>
                </a:solidFill>
                <a:latin typeface="Calibri" pitchFamily="34" charset="0"/>
                <a:ea typeface="Calibri" pitchFamily="34" charset="-122"/>
                <a:cs typeface="Calibri" pitchFamily="34" charset="-120"/>
              </a:rPr>
              <a:t>Materialise analytic_person</a:t>
            </a:r>
            <a:endParaRPr lang="en-US" sz="1250" dirty="0"/>
          </a:p>
        </p:txBody>
      </p:sp>
      <p:sp>
        <p:nvSpPr>
          <p:cNvPr id="12" name="Text 10"/>
          <p:cNvSpPr/>
          <p:nvPr/>
        </p:nvSpPr>
        <p:spPr>
          <a:xfrm>
            <a:off x="5413248" y="2368296"/>
            <a:ext cx="1645920" cy="420624"/>
          </a:xfrm>
          <a:prstGeom prst="rect">
            <a:avLst/>
          </a:prstGeom>
          <a:noFill/>
          <a:ln/>
        </p:spPr>
        <p:txBody>
          <a:bodyPr wrap="square" lIns="0" tIns="0" rIns="0" bIns="0" rtlCol="0" anchor="ctr"/>
          <a:lstStyle/>
          <a:p>
            <a:pPr algn="r" indent="0" marL="0">
              <a:buNone/>
            </a:pPr>
            <a:r>
              <a:rPr lang="en-US" sz="1200" dirty="0">
                <a:solidFill>
                  <a:srgbClr val="B3453A"/>
                </a:solidFill>
                <a:latin typeface="Consolas" pitchFamily="34" charset="0"/>
                <a:ea typeface="Consolas" pitchFamily="34" charset="-122"/>
                <a:cs typeface="Consolas" pitchFamily="34" charset="-120"/>
              </a:rPr>
              <a:t>35% slower</a:t>
            </a:r>
            <a:endParaRPr lang="en-US" sz="1200" dirty="0"/>
          </a:p>
        </p:txBody>
      </p:sp>
      <p:sp>
        <p:nvSpPr>
          <p:cNvPr id="13" name="Shape 11"/>
          <p:cNvSpPr/>
          <p:nvPr/>
        </p:nvSpPr>
        <p:spPr>
          <a:xfrm>
            <a:off x="566928" y="2843784"/>
            <a:ext cx="6675120" cy="420624"/>
          </a:xfrm>
          <a:prstGeom prst="rect">
            <a:avLst/>
          </a:prstGeom>
          <a:solidFill>
            <a:srgbClr val="FFFFFF"/>
          </a:solidFill>
          <a:ln w="6350">
            <a:solidFill>
              <a:srgbClr val="E8ECEF"/>
            </a:solidFill>
            <a:prstDash val="solid"/>
          </a:ln>
        </p:spPr>
      </p:sp>
      <p:sp>
        <p:nvSpPr>
          <p:cNvPr id="14" name="Text 12"/>
          <p:cNvSpPr/>
          <p:nvPr/>
        </p:nvSpPr>
        <p:spPr>
          <a:xfrm>
            <a:off x="795528" y="2843784"/>
            <a:ext cx="4663440" cy="420624"/>
          </a:xfrm>
          <a:prstGeom prst="rect">
            <a:avLst/>
          </a:prstGeom>
          <a:noFill/>
          <a:ln/>
        </p:spPr>
        <p:txBody>
          <a:bodyPr wrap="square" lIns="0" tIns="0" rIns="0" bIns="0" rtlCol="0" anchor="ctr"/>
          <a:lstStyle/>
          <a:p>
            <a:pPr indent="0" marL="0">
              <a:buNone/>
            </a:pPr>
            <a:r>
              <a:rPr lang="en-US" sz="1250" dirty="0">
                <a:solidFill>
                  <a:srgbClr val="24303A"/>
                </a:solidFill>
                <a:latin typeface="Calibri" pitchFamily="34" charset="0"/>
                <a:ea typeface="Calibri" pitchFamily="34" charset="-122"/>
                <a:cs typeface="Calibri" pitchFamily="34" charset="-120"/>
              </a:rPr>
              <a:t>Swap md5 for a 64-bit hash</a:t>
            </a:r>
            <a:endParaRPr lang="en-US" sz="1250" dirty="0"/>
          </a:p>
        </p:txBody>
      </p:sp>
      <p:sp>
        <p:nvSpPr>
          <p:cNvPr id="15" name="Text 13"/>
          <p:cNvSpPr/>
          <p:nvPr/>
        </p:nvSpPr>
        <p:spPr>
          <a:xfrm>
            <a:off x="5413248" y="2843784"/>
            <a:ext cx="1645920" cy="420624"/>
          </a:xfrm>
          <a:prstGeom prst="rect">
            <a:avLst/>
          </a:prstGeom>
          <a:noFill/>
          <a:ln/>
        </p:spPr>
        <p:txBody>
          <a:bodyPr wrap="square" lIns="0" tIns="0" rIns="0" bIns="0" rtlCol="0" anchor="ctr"/>
          <a:lstStyle/>
          <a:p>
            <a:pPr algn="r" indent="0" marL="0">
              <a:buNone/>
            </a:pPr>
            <a:r>
              <a:rPr lang="en-US" sz="1200" dirty="0">
                <a:solidFill>
                  <a:srgbClr val="B3453A"/>
                </a:solidFill>
                <a:latin typeface="Consolas" pitchFamily="34" charset="0"/>
                <a:ea typeface="Consolas" pitchFamily="34" charset="-122"/>
                <a:cs typeface="Consolas" pitchFamily="34" charset="-120"/>
              </a:rPr>
              <a:t>0.7%</a:t>
            </a:r>
            <a:endParaRPr lang="en-US" sz="1200" dirty="0"/>
          </a:p>
        </p:txBody>
      </p:sp>
      <p:sp>
        <p:nvSpPr>
          <p:cNvPr id="16" name="Shape 14"/>
          <p:cNvSpPr/>
          <p:nvPr/>
        </p:nvSpPr>
        <p:spPr>
          <a:xfrm>
            <a:off x="566928" y="3319272"/>
            <a:ext cx="6675120" cy="420624"/>
          </a:xfrm>
          <a:prstGeom prst="rect">
            <a:avLst/>
          </a:prstGeom>
          <a:solidFill>
            <a:srgbClr val="F1F3F5"/>
          </a:solidFill>
          <a:ln w="6350">
            <a:solidFill>
              <a:srgbClr val="E8ECEF"/>
            </a:solidFill>
            <a:prstDash val="solid"/>
          </a:ln>
        </p:spPr>
      </p:sp>
      <p:sp>
        <p:nvSpPr>
          <p:cNvPr id="17" name="Text 15"/>
          <p:cNvSpPr/>
          <p:nvPr/>
        </p:nvSpPr>
        <p:spPr>
          <a:xfrm>
            <a:off x="795528" y="3319272"/>
            <a:ext cx="4663440" cy="420624"/>
          </a:xfrm>
          <a:prstGeom prst="rect">
            <a:avLst/>
          </a:prstGeom>
          <a:noFill/>
          <a:ln/>
        </p:spPr>
        <p:txBody>
          <a:bodyPr wrap="square" lIns="0" tIns="0" rIns="0" bIns="0" rtlCol="0" anchor="ctr"/>
          <a:lstStyle/>
          <a:p>
            <a:pPr indent="0" marL="0">
              <a:buNone/>
            </a:pPr>
            <a:r>
              <a:rPr lang="en-US" sz="1250" dirty="0">
                <a:solidFill>
                  <a:srgbClr val="24303A"/>
                </a:solidFill>
                <a:latin typeface="Calibri" pitchFamily="34" charset="0"/>
                <a:ea typeface="Calibri" pitchFamily="34" charset="-122"/>
                <a:cs typeface="Calibri" pitchFamily="34" charset="-120"/>
              </a:rPr>
              <a:t>Restrict the duplicate-group scan</a:t>
            </a:r>
            <a:endParaRPr lang="en-US" sz="1250" dirty="0"/>
          </a:p>
        </p:txBody>
      </p:sp>
      <p:sp>
        <p:nvSpPr>
          <p:cNvPr id="18" name="Text 16"/>
          <p:cNvSpPr/>
          <p:nvPr/>
        </p:nvSpPr>
        <p:spPr>
          <a:xfrm>
            <a:off x="5413248" y="3319272"/>
            <a:ext cx="1645920" cy="420624"/>
          </a:xfrm>
          <a:prstGeom prst="rect">
            <a:avLst/>
          </a:prstGeom>
          <a:noFill/>
          <a:ln/>
        </p:spPr>
        <p:txBody>
          <a:bodyPr wrap="square" lIns="0" tIns="0" rIns="0" bIns="0" rtlCol="0" anchor="ctr"/>
          <a:lstStyle/>
          <a:p>
            <a:pPr algn="r" indent="0" marL="0">
              <a:buNone/>
            </a:pPr>
            <a:r>
              <a:rPr lang="en-US" sz="1200" dirty="0">
                <a:solidFill>
                  <a:srgbClr val="B3453A"/>
                </a:solidFill>
                <a:latin typeface="Consolas" pitchFamily="34" charset="0"/>
                <a:ea typeface="Consolas" pitchFamily="34" charset="-122"/>
                <a:cs typeface="Consolas" pitchFamily="34" charset="-120"/>
              </a:rPr>
              <a:t>2% slower</a:t>
            </a:r>
            <a:endParaRPr lang="en-US" sz="1200" dirty="0"/>
          </a:p>
        </p:txBody>
      </p:sp>
      <p:sp>
        <p:nvSpPr>
          <p:cNvPr id="19" name="Shape 17"/>
          <p:cNvSpPr/>
          <p:nvPr/>
        </p:nvSpPr>
        <p:spPr>
          <a:xfrm>
            <a:off x="566928" y="3794760"/>
            <a:ext cx="6675120" cy="420624"/>
          </a:xfrm>
          <a:prstGeom prst="rect">
            <a:avLst/>
          </a:prstGeom>
          <a:solidFill>
            <a:srgbClr val="FFFFFF"/>
          </a:solidFill>
          <a:ln w="6350">
            <a:solidFill>
              <a:srgbClr val="E8ECEF"/>
            </a:solidFill>
            <a:prstDash val="solid"/>
          </a:ln>
        </p:spPr>
      </p:sp>
      <p:sp>
        <p:nvSpPr>
          <p:cNvPr id="20" name="Text 18"/>
          <p:cNvSpPr/>
          <p:nvPr/>
        </p:nvSpPr>
        <p:spPr>
          <a:xfrm>
            <a:off x="795528" y="3794760"/>
            <a:ext cx="4663440" cy="420624"/>
          </a:xfrm>
          <a:prstGeom prst="rect">
            <a:avLst/>
          </a:prstGeom>
          <a:noFill/>
          <a:ln/>
        </p:spPr>
        <p:txBody>
          <a:bodyPr wrap="square" lIns="0" tIns="0" rIns="0" bIns="0" rtlCol="0" anchor="ctr"/>
          <a:lstStyle/>
          <a:p>
            <a:pPr indent="0" marL="0">
              <a:buNone/>
            </a:pPr>
            <a:r>
              <a:rPr lang="en-US" sz="1250" dirty="0">
                <a:solidFill>
                  <a:srgbClr val="24303A"/>
                </a:solidFill>
                <a:latin typeface="Calibri" pitchFamily="34" charset="0"/>
                <a:ea typeface="Calibri" pitchFamily="34" charset="-122"/>
                <a:cs typeface="Calibri" pitchFamily="34" charset="-120"/>
              </a:rPr>
              <a:t>Restrict admissible to the run</a:t>
            </a:r>
            <a:endParaRPr lang="en-US" sz="1250" dirty="0"/>
          </a:p>
        </p:txBody>
      </p:sp>
      <p:sp>
        <p:nvSpPr>
          <p:cNvPr id="21" name="Text 19"/>
          <p:cNvSpPr/>
          <p:nvPr/>
        </p:nvSpPr>
        <p:spPr>
          <a:xfrm>
            <a:off x="5413248" y="3794760"/>
            <a:ext cx="1645920" cy="420624"/>
          </a:xfrm>
          <a:prstGeom prst="rect">
            <a:avLst/>
          </a:prstGeom>
          <a:noFill/>
          <a:ln/>
        </p:spPr>
        <p:txBody>
          <a:bodyPr wrap="square" lIns="0" tIns="0" rIns="0" bIns="0" rtlCol="0" anchor="ctr"/>
          <a:lstStyle/>
          <a:p>
            <a:pPr algn="r" indent="0" marL="0">
              <a:buNone/>
            </a:pPr>
            <a:r>
              <a:rPr lang="en-US" sz="1200" dirty="0">
                <a:solidFill>
                  <a:srgbClr val="B3453A"/>
                </a:solidFill>
                <a:latin typeface="Consolas" pitchFamily="34" charset="0"/>
                <a:ea typeface="Consolas" pitchFamily="34" charset="-122"/>
                <a:cs typeface="Consolas" pitchFamily="34" charset="-120"/>
              </a:rPr>
              <a:t>7% slower</a:t>
            </a:r>
            <a:endParaRPr lang="en-US" sz="1200" dirty="0"/>
          </a:p>
        </p:txBody>
      </p:sp>
      <p:sp>
        <p:nvSpPr>
          <p:cNvPr id="22" name="Shape 20"/>
          <p:cNvSpPr/>
          <p:nvPr/>
        </p:nvSpPr>
        <p:spPr>
          <a:xfrm>
            <a:off x="7653528" y="1417320"/>
            <a:ext cx="4023360" cy="2834640"/>
          </a:xfrm>
          <a:prstGeom prst="roundRect">
            <a:avLst>
              <a:gd name="adj" fmla="val 1935"/>
            </a:avLst>
          </a:prstGeom>
          <a:solidFill>
            <a:srgbClr val="EAF0ED"/>
          </a:solidFill>
          <a:ln w="12700">
            <a:solidFill>
              <a:srgbClr val="EAF0ED"/>
            </a:solidFill>
            <a:prstDash val="solid"/>
          </a:ln>
        </p:spPr>
      </p:sp>
      <p:sp>
        <p:nvSpPr>
          <p:cNvPr id="23" name="Text 21"/>
          <p:cNvSpPr/>
          <p:nvPr/>
        </p:nvSpPr>
        <p:spPr>
          <a:xfrm>
            <a:off x="7973568" y="1627632"/>
            <a:ext cx="3474720" cy="274320"/>
          </a:xfrm>
          <a:prstGeom prst="rect">
            <a:avLst/>
          </a:prstGeom>
          <a:noFill/>
          <a:ln/>
        </p:spPr>
        <p:txBody>
          <a:bodyPr wrap="square" lIns="0" tIns="0" rIns="0" bIns="0" rtlCol="0" anchor="ctr"/>
          <a:lstStyle/>
          <a:p>
            <a:pPr indent="0" marL="0">
              <a:buNone/>
            </a:pPr>
            <a:r>
              <a:rPr lang="en-US" sz="1050" b="1" spc="150" kern="0" dirty="0">
                <a:solidFill>
                  <a:srgbClr val="2E6F5E"/>
                </a:solidFill>
                <a:latin typeface="Calibri" pitchFamily="34" charset="0"/>
                <a:ea typeface="Calibri" pitchFamily="34" charset="-122"/>
                <a:cs typeface="Calibri" pitchFamily="34" charset="-120"/>
              </a:rPr>
              <a:t>THE ONE THAT WORKED</a:t>
            </a:r>
            <a:endParaRPr lang="en-US" sz="1050" dirty="0"/>
          </a:p>
        </p:txBody>
      </p:sp>
      <p:sp>
        <p:nvSpPr>
          <p:cNvPr id="24" name="Text 22"/>
          <p:cNvSpPr/>
          <p:nvPr/>
        </p:nvSpPr>
        <p:spPr>
          <a:xfrm>
            <a:off x="7973568" y="1965960"/>
            <a:ext cx="3474720" cy="411480"/>
          </a:xfrm>
          <a:prstGeom prst="rect">
            <a:avLst/>
          </a:prstGeom>
          <a:noFill/>
          <a:ln/>
        </p:spPr>
        <p:txBody>
          <a:bodyPr wrap="square" lIns="0" tIns="0" rIns="0" bIns="0" rtlCol="0" anchor="ctr"/>
          <a:lstStyle/>
          <a:p>
            <a:pPr indent="0" marL="0">
              <a:buNone/>
            </a:pPr>
            <a:r>
              <a:rPr lang="en-US" sz="1700" strike="sngStrike" dirty="0">
                <a:solidFill>
                  <a:srgbClr val="5E6B77"/>
                </a:solidFill>
                <a:latin typeface="Consolas" pitchFamily="34" charset="0"/>
                <a:ea typeface="Consolas" pitchFamily="34" charset="-122"/>
                <a:cs typeface="Consolas" pitchFamily="34" charset="-120"/>
              </a:rPr>
              <a:t>184.1 ms</a:t>
            </a:r>
            <a:endParaRPr lang="en-US" sz="1700" dirty="0"/>
          </a:p>
        </p:txBody>
      </p:sp>
      <p:sp>
        <p:nvSpPr>
          <p:cNvPr id="25" name="Text 23"/>
          <p:cNvSpPr/>
          <p:nvPr/>
        </p:nvSpPr>
        <p:spPr>
          <a:xfrm>
            <a:off x="7973568" y="2395728"/>
            <a:ext cx="3474720" cy="457200"/>
          </a:xfrm>
          <a:prstGeom prst="rect">
            <a:avLst/>
          </a:prstGeom>
          <a:noFill/>
          <a:ln/>
        </p:spPr>
        <p:txBody>
          <a:bodyPr wrap="square" lIns="0" tIns="0" rIns="0" bIns="0" rtlCol="0" anchor="ctr"/>
          <a:lstStyle/>
          <a:p>
            <a:pPr indent="0" marL="0">
              <a:buNone/>
            </a:pPr>
            <a:r>
              <a:rPr lang="en-US" sz="2700" b="1" dirty="0">
                <a:solidFill>
                  <a:srgbClr val="2E6F5E"/>
                </a:solidFill>
                <a:latin typeface="Cambria" pitchFamily="34" charset="0"/>
                <a:ea typeface="Cambria" pitchFamily="34" charset="-122"/>
                <a:cs typeface="Cambria" pitchFamily="34" charset="-120"/>
              </a:rPr>
              <a:t>161.0 ms</a:t>
            </a:r>
            <a:endParaRPr lang="en-US" sz="2700" dirty="0"/>
          </a:p>
        </p:txBody>
      </p:sp>
      <p:sp>
        <p:nvSpPr>
          <p:cNvPr id="26" name="Text 24"/>
          <p:cNvSpPr/>
          <p:nvPr/>
        </p:nvSpPr>
        <p:spPr>
          <a:xfrm>
            <a:off x="7973568" y="2926080"/>
            <a:ext cx="3474720" cy="1188720"/>
          </a:xfrm>
          <a:prstGeom prst="rect">
            <a:avLst/>
          </a:prstGeom>
          <a:noFill/>
          <a:ln/>
        </p:spPr>
        <p:txBody>
          <a:bodyPr wrap="square" lIns="0" tIns="0" rIns="0" bIns="0" rtlCol="0" anchor="ctr"/>
          <a:lstStyle/>
          <a:p>
            <a:pPr indent="0" marL="0">
              <a:lnSpc>
                <a:spcPct val="120000"/>
              </a:lnSpc>
              <a:buNone/>
            </a:pPr>
            <a:r>
              <a:rPr lang="en-US" sz="1150" dirty="0">
                <a:solidFill>
                  <a:srgbClr val="24303A"/>
                </a:solidFill>
                <a:latin typeface="Calibri" pitchFamily="34" charset="0"/>
                <a:ea typeface="Calibri" pitchFamily="34" charset="-122"/>
                <a:cs typeface="Calibri" pitchFamily="34" charset="-120"/>
              </a:rPr>
              <a:t>12.5% faster, identical output fingerprint.</a:t>
            </a:r>
            <a:endParaRPr lang="en-US" sz="1150" dirty="0"/>
          </a:p>
          <a:p>
            <a:pPr indent="0" marL="0">
              <a:lnSpc>
                <a:spcPct val="120000"/>
              </a:lnSpc>
              <a:buNone/>
            </a:pPr>
            <a:endParaRPr lang="en-US" sz="1150" dirty="0"/>
          </a:p>
          <a:p>
            <a:pPr indent="0" marL="0">
              <a:lnSpc>
                <a:spcPct val="120000"/>
              </a:lnSpc>
              <a:buNone/>
            </a:pPr>
            <a:r>
              <a:rPr lang="en-US" sz="1150" dirty="0">
                <a:solidFill>
                  <a:srgbClr val="24303A"/>
                </a:solidFill>
                <a:latin typeface="Calibri" pitchFamily="34" charset="0"/>
                <a:ea typeface="Calibri" pitchFamily="34" charset="-122"/>
                <a:cs typeface="Calibri" pitchFamily="34" charset="-120"/>
              </a:rPr>
              <a:t>The feature table's medians now read the star and two dimensions instead of a 24-column eight-way join view. Six joins removed from a pass over 32,561 rows.</a:t>
            </a:r>
            <a:endParaRPr lang="en-US" sz="1150" dirty="0"/>
          </a:p>
        </p:txBody>
      </p:sp>
      <p:sp>
        <p:nvSpPr>
          <p:cNvPr id="27" name="Text 25"/>
          <p:cNvSpPr/>
          <p:nvPr/>
        </p:nvSpPr>
        <p:spPr>
          <a:xfrm>
            <a:off x="566928" y="4480560"/>
            <a:ext cx="10881360" cy="822960"/>
          </a:xfrm>
          <a:prstGeom prst="rect">
            <a:avLst/>
          </a:prstGeom>
          <a:noFill/>
          <a:ln/>
        </p:spPr>
        <p:txBody>
          <a:bodyPr wrap="square" lIns="0" tIns="0" rIns="0" bIns="0" rtlCol="0" anchor="ctr"/>
          <a:lstStyle/>
          <a:p>
            <a:pPr indent="0" marL="0">
              <a:lnSpc>
                <a:spcPct val="120000"/>
              </a:lnSpc>
              <a:buNone/>
            </a:pPr>
            <a:r>
              <a:rPr lang="en-US" sz="1400" dirty="0">
                <a:solidFill>
                  <a:srgbClr val="24303A"/>
                </a:solidFill>
                <a:latin typeface="Calibri" pitchFamily="34" charset="0"/>
                <a:ea typeface="Calibri" pitchFamily="34" charset="-122"/>
                <a:cs typeface="Calibri" pitchFamily="34" charset="-120"/>
              </a:rPr>
              <a:t>It is 0.9 per cent of the pipeline, and that is the honest headline. The dominant step is dominated by a guarantee we chose to keep, six attempts to make it cheaper all failed, and the only honest report of that is the one showing the failures.</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24303A"/>
        </a:solidFill>
      </p:bgPr>
    </p:bg>
    <p:spTree>
      <p:nvGrpSpPr>
        <p:cNvPr id="1" name=""/>
        <p:cNvGrpSpPr/>
        <p:nvPr/>
      </p:nvGrpSpPr>
      <p:grpSpPr>
        <a:xfrm>
          <a:off x="0" y="0"/>
          <a:ext cx="0" cy="0"/>
          <a:chOff x="0" y="0"/>
          <a:chExt cx="0" cy="0"/>
        </a:xfrm>
      </p:grpSpPr>
      <p:sp>
        <p:nvSpPr>
          <p:cNvPr id="2" name="Text 0"/>
          <p:cNvSpPr/>
          <p:nvPr/>
        </p:nvSpPr>
        <p:spPr>
          <a:xfrm>
            <a:off x="566928" y="105156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repository</a:t>
            </a:r>
            <a:endParaRPr lang="en-US" sz="3000" dirty="0"/>
          </a:p>
        </p:txBody>
      </p:sp>
      <p:sp>
        <p:nvSpPr>
          <p:cNvPr id="3" name="Text 1"/>
          <p:cNvSpPr/>
          <p:nvPr/>
        </p:nvSpPr>
        <p:spPr>
          <a:xfrm>
            <a:off x="566928" y="1645920"/>
            <a:ext cx="10058400" cy="411480"/>
          </a:xfrm>
          <a:prstGeom prst="rect">
            <a:avLst/>
          </a:prstGeom>
          <a:noFill/>
          <a:ln/>
        </p:spPr>
        <p:txBody>
          <a:bodyPr wrap="square" lIns="0" tIns="0" rIns="0" bIns="0" rtlCol="0" anchor="ctr"/>
          <a:lstStyle/>
          <a:p>
            <a:pPr indent="0" marL="0">
              <a:buNone/>
            </a:pPr>
            <a:r>
              <a:rPr lang="en-US" sz="1600" dirty="0">
                <a:solidFill>
                  <a:srgbClr val="8FC3B2"/>
                </a:solidFill>
                <a:latin typeface="Consolas" pitchFamily="34" charset="0"/>
                <a:ea typeface="Consolas" pitchFamily="34" charset="-122"/>
                <a:cs typeface="Consolas" pitchFamily="34" charset="-120"/>
              </a:rPr>
              <a:t>github.com/zukazudo/dsai6226-data-engineering</a:t>
            </a:r>
            <a:endParaRPr lang="en-US" sz="1600" dirty="0"/>
          </a:p>
        </p:txBody>
      </p:sp>
      <p:sp>
        <p:nvSpPr>
          <p:cNvPr id="4" name="Shape 2"/>
          <p:cNvSpPr/>
          <p:nvPr/>
        </p:nvSpPr>
        <p:spPr>
          <a:xfrm>
            <a:off x="566928" y="2468880"/>
            <a:ext cx="1143000" cy="2212848"/>
          </a:xfrm>
          <a:prstGeom prst="roundRect">
            <a:avLst>
              <a:gd name="adj" fmla="val 4800"/>
            </a:avLst>
          </a:prstGeom>
          <a:solidFill>
            <a:srgbClr val="313E4A"/>
          </a:solidFill>
          <a:ln w="12700">
            <a:solidFill>
              <a:srgbClr val="313E4A"/>
            </a:solidFill>
            <a:prstDash val="solid"/>
          </a:ln>
        </p:spPr>
      </p:sp>
      <p:sp>
        <p:nvSpPr>
          <p:cNvPr id="5" name="Text 3"/>
          <p:cNvSpPr/>
          <p:nvPr/>
        </p:nvSpPr>
        <p:spPr>
          <a:xfrm>
            <a:off x="676656" y="2633472"/>
            <a:ext cx="1005840" cy="256032"/>
          </a:xfrm>
          <a:prstGeom prst="rect">
            <a:avLst/>
          </a:prstGeom>
          <a:noFill/>
          <a:ln/>
        </p:spPr>
        <p:txBody>
          <a:bodyPr wrap="square" lIns="0" tIns="0" rIns="0" bIns="0" rtlCol="0" anchor="ctr"/>
          <a:lstStyle/>
          <a:p>
            <a:pPr indent="0" marL="0">
              <a:buNone/>
            </a:pPr>
            <a:r>
              <a:rPr lang="en-US" sz="950" b="1" spc="100" kern="0" dirty="0">
                <a:solidFill>
                  <a:srgbClr val="8FC3B2"/>
                </a:solidFill>
                <a:latin typeface="Calibri" pitchFamily="34" charset="0"/>
                <a:ea typeface="Calibri" pitchFamily="34" charset="-122"/>
                <a:cs typeface="Calibri" pitchFamily="34" charset="-120"/>
              </a:rPr>
              <a:t>Lab 1</a:t>
            </a:r>
            <a:endParaRPr lang="en-US" sz="950" dirty="0"/>
          </a:p>
        </p:txBody>
      </p:sp>
      <p:sp>
        <p:nvSpPr>
          <p:cNvPr id="6" name="Text 4"/>
          <p:cNvSpPr/>
          <p:nvPr/>
        </p:nvSpPr>
        <p:spPr>
          <a:xfrm>
            <a:off x="658368" y="2926080"/>
            <a:ext cx="1188720" cy="502920"/>
          </a:xfrm>
          <a:prstGeom prst="rect">
            <a:avLst/>
          </a:prstGeom>
          <a:noFill/>
          <a:ln/>
        </p:spPr>
        <p:txBody>
          <a:bodyPr wrap="square" lIns="0" tIns="0" rIns="0" bIns="0" rtlCol="0" anchor="ctr"/>
          <a:lstStyle/>
          <a:p>
            <a:pPr indent="0" marL="0">
              <a:buNone/>
            </a:pPr>
            <a:r>
              <a:rPr lang="en-US" sz="680" b="1" dirty="0">
                <a:solidFill>
                  <a:srgbClr val="FFFFFF"/>
                </a:solidFill>
                <a:latin typeface="Consolas" pitchFamily="34" charset="0"/>
                <a:ea typeface="Consolas" pitchFamily="34" charset="-122"/>
                <a:cs typeface="Consolas" pitchFamily="34" charset="-120"/>
              </a:rPr>
              <a:t>docs/</a:t>
            </a:r>
            <a:endParaRPr lang="en-US" sz="680" dirty="0"/>
          </a:p>
        </p:txBody>
      </p:sp>
      <p:sp>
        <p:nvSpPr>
          <p:cNvPr id="7" name="Text 5"/>
          <p:cNvSpPr/>
          <p:nvPr/>
        </p:nvSpPr>
        <p:spPr>
          <a:xfrm>
            <a:off x="676656" y="3474720"/>
            <a:ext cx="950976" cy="1143000"/>
          </a:xfrm>
          <a:prstGeom prst="rect">
            <a:avLst/>
          </a:prstGeom>
          <a:noFill/>
          <a:ln/>
        </p:spPr>
        <p:txBody>
          <a:bodyPr wrap="square" lIns="0" tIns="0" rIns="0" bIns="0" rtlCol="0" anchor="ctr"/>
          <a:lstStyle/>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The problem statement,</a:t>
            </a:r>
            <a:endParaRPr lang="en-US" sz="750" dirty="0"/>
          </a:p>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with four appendices</a:t>
            </a:r>
            <a:endParaRPr lang="en-US" sz="750" dirty="0"/>
          </a:p>
        </p:txBody>
      </p:sp>
      <p:sp>
        <p:nvSpPr>
          <p:cNvPr id="8" name="Shape 6"/>
          <p:cNvSpPr/>
          <p:nvPr/>
        </p:nvSpPr>
        <p:spPr>
          <a:xfrm>
            <a:off x="1805940" y="2468880"/>
            <a:ext cx="1143000" cy="2212848"/>
          </a:xfrm>
          <a:prstGeom prst="roundRect">
            <a:avLst>
              <a:gd name="adj" fmla="val 4800"/>
            </a:avLst>
          </a:prstGeom>
          <a:solidFill>
            <a:srgbClr val="313E4A"/>
          </a:solidFill>
          <a:ln w="12700">
            <a:solidFill>
              <a:srgbClr val="313E4A"/>
            </a:solidFill>
            <a:prstDash val="solid"/>
          </a:ln>
        </p:spPr>
      </p:sp>
      <p:sp>
        <p:nvSpPr>
          <p:cNvPr id="9" name="Text 7"/>
          <p:cNvSpPr/>
          <p:nvPr/>
        </p:nvSpPr>
        <p:spPr>
          <a:xfrm>
            <a:off x="1915668" y="2633472"/>
            <a:ext cx="1005840" cy="256032"/>
          </a:xfrm>
          <a:prstGeom prst="rect">
            <a:avLst/>
          </a:prstGeom>
          <a:noFill/>
          <a:ln/>
        </p:spPr>
        <p:txBody>
          <a:bodyPr wrap="square" lIns="0" tIns="0" rIns="0" bIns="0" rtlCol="0" anchor="ctr"/>
          <a:lstStyle/>
          <a:p>
            <a:pPr indent="0" marL="0">
              <a:buNone/>
            </a:pPr>
            <a:r>
              <a:rPr lang="en-US" sz="950" b="1" spc="100" kern="0" dirty="0">
                <a:solidFill>
                  <a:srgbClr val="8FC3B2"/>
                </a:solidFill>
                <a:latin typeface="Calibri" pitchFamily="34" charset="0"/>
                <a:ea typeface="Calibri" pitchFamily="34" charset="-122"/>
                <a:cs typeface="Calibri" pitchFamily="34" charset="-120"/>
              </a:rPr>
              <a:t>Lab 2</a:t>
            </a:r>
            <a:endParaRPr lang="en-US" sz="950" dirty="0"/>
          </a:p>
        </p:txBody>
      </p:sp>
      <p:sp>
        <p:nvSpPr>
          <p:cNvPr id="10" name="Text 8"/>
          <p:cNvSpPr/>
          <p:nvPr/>
        </p:nvSpPr>
        <p:spPr>
          <a:xfrm>
            <a:off x="1897380" y="2926080"/>
            <a:ext cx="1188720" cy="502920"/>
          </a:xfrm>
          <a:prstGeom prst="rect">
            <a:avLst/>
          </a:prstGeom>
          <a:noFill/>
          <a:ln/>
        </p:spPr>
        <p:txBody>
          <a:bodyPr wrap="square" lIns="0" tIns="0" rIns="0" bIns="0" rtlCol="0" anchor="ctr"/>
          <a:lstStyle/>
          <a:p>
            <a:pPr indent="0" marL="0">
              <a:buNone/>
            </a:pPr>
            <a:r>
              <a:rPr lang="en-US" sz="680" b="1" dirty="0">
                <a:solidFill>
                  <a:srgbClr val="FFFFFF"/>
                </a:solidFill>
                <a:latin typeface="Consolas" pitchFamily="34" charset="0"/>
                <a:ea typeface="Consolas" pitchFamily="34" charset="-122"/>
                <a:cs typeface="Consolas" pitchFamily="34" charset="-120"/>
              </a:rPr>
              <a:t>sql/</a:t>
            </a:r>
            <a:endParaRPr lang="en-US" sz="680" dirty="0"/>
          </a:p>
        </p:txBody>
      </p:sp>
      <p:sp>
        <p:nvSpPr>
          <p:cNvPr id="11" name="Text 9"/>
          <p:cNvSpPr/>
          <p:nvPr/>
        </p:nvSpPr>
        <p:spPr>
          <a:xfrm>
            <a:off x="1915668" y="3474720"/>
            <a:ext cx="950976" cy="1143000"/>
          </a:xfrm>
          <a:prstGeom prst="rect">
            <a:avLst/>
          </a:prstGeom>
          <a:noFill/>
          <a:ln/>
        </p:spPr>
        <p:txBody>
          <a:bodyPr wrap="square" lIns="0" tIns="0" rIns="0" bIns="0" rtlCol="0" anchor="ctr"/>
          <a:lstStyle/>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Staging, the star,</a:t>
            </a:r>
            <a:endParaRPr lang="en-US" sz="750" dirty="0"/>
          </a:p>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the load and the query</a:t>
            </a:r>
            <a:endParaRPr lang="en-US" sz="750" dirty="0"/>
          </a:p>
        </p:txBody>
      </p:sp>
      <p:sp>
        <p:nvSpPr>
          <p:cNvPr id="12" name="Shape 10"/>
          <p:cNvSpPr/>
          <p:nvPr/>
        </p:nvSpPr>
        <p:spPr>
          <a:xfrm>
            <a:off x="3044952" y="2468880"/>
            <a:ext cx="1143000" cy="2212848"/>
          </a:xfrm>
          <a:prstGeom prst="roundRect">
            <a:avLst>
              <a:gd name="adj" fmla="val 4800"/>
            </a:avLst>
          </a:prstGeom>
          <a:solidFill>
            <a:srgbClr val="313E4A"/>
          </a:solidFill>
          <a:ln w="12700">
            <a:solidFill>
              <a:srgbClr val="313E4A"/>
            </a:solidFill>
            <a:prstDash val="solid"/>
          </a:ln>
        </p:spPr>
      </p:sp>
      <p:sp>
        <p:nvSpPr>
          <p:cNvPr id="13" name="Text 11"/>
          <p:cNvSpPr/>
          <p:nvPr/>
        </p:nvSpPr>
        <p:spPr>
          <a:xfrm>
            <a:off x="3154680" y="2633472"/>
            <a:ext cx="1005840" cy="256032"/>
          </a:xfrm>
          <a:prstGeom prst="rect">
            <a:avLst/>
          </a:prstGeom>
          <a:noFill/>
          <a:ln/>
        </p:spPr>
        <p:txBody>
          <a:bodyPr wrap="square" lIns="0" tIns="0" rIns="0" bIns="0" rtlCol="0" anchor="ctr"/>
          <a:lstStyle/>
          <a:p>
            <a:pPr indent="0" marL="0">
              <a:buNone/>
            </a:pPr>
            <a:r>
              <a:rPr lang="en-US" sz="950" b="1" spc="100" kern="0" dirty="0">
                <a:solidFill>
                  <a:srgbClr val="8FC3B2"/>
                </a:solidFill>
                <a:latin typeface="Calibri" pitchFamily="34" charset="0"/>
                <a:ea typeface="Calibri" pitchFamily="34" charset="-122"/>
                <a:cs typeface="Calibri" pitchFamily="34" charset="-120"/>
              </a:rPr>
              <a:t>Lab 3</a:t>
            </a:r>
            <a:endParaRPr lang="en-US" sz="950" dirty="0"/>
          </a:p>
        </p:txBody>
      </p:sp>
      <p:sp>
        <p:nvSpPr>
          <p:cNvPr id="14" name="Text 12"/>
          <p:cNvSpPr/>
          <p:nvPr/>
        </p:nvSpPr>
        <p:spPr>
          <a:xfrm>
            <a:off x="3136392" y="2926080"/>
            <a:ext cx="1188720" cy="502920"/>
          </a:xfrm>
          <a:prstGeom prst="rect">
            <a:avLst/>
          </a:prstGeom>
          <a:noFill/>
          <a:ln/>
        </p:spPr>
        <p:txBody>
          <a:bodyPr wrap="square" lIns="0" tIns="0" rIns="0" bIns="0" rtlCol="0" anchor="ctr"/>
          <a:lstStyle/>
          <a:p>
            <a:pPr indent="0" marL="0">
              <a:buNone/>
            </a:pPr>
            <a:r>
              <a:rPr lang="en-US" sz="680" b="1" dirty="0">
                <a:solidFill>
                  <a:srgbClr val="FFFFFF"/>
                </a:solidFill>
                <a:latin typeface="Consolas" pitchFamily="34" charset="0"/>
                <a:ea typeface="Consolas" pitchFamily="34" charset="-122"/>
                <a:cs typeface="Consolas" pitchFamily="34" charset="-120"/>
              </a:rPr>
              <a:t>ingest.py</a:t>
            </a:r>
            <a:endParaRPr lang="en-US" sz="680" dirty="0"/>
          </a:p>
        </p:txBody>
      </p:sp>
      <p:sp>
        <p:nvSpPr>
          <p:cNvPr id="15" name="Text 13"/>
          <p:cNvSpPr/>
          <p:nvPr/>
        </p:nvSpPr>
        <p:spPr>
          <a:xfrm>
            <a:off x="3154680" y="3474720"/>
            <a:ext cx="950976" cy="1143000"/>
          </a:xfrm>
          <a:prstGeom prst="rect">
            <a:avLst/>
          </a:prstGeom>
          <a:noFill/>
          <a:ln/>
        </p:spPr>
        <p:txBody>
          <a:bodyPr wrap="square" lIns="0" tIns="0" rIns="0" bIns="0" rtlCol="0" anchor="ctr"/>
          <a:lstStyle/>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The ingester, and a</a:t>
            </a:r>
            <a:endParaRPr lang="en-US" sz="750" dirty="0"/>
          </a:p>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fixture per reject rule</a:t>
            </a:r>
            <a:endParaRPr lang="en-US" sz="750" dirty="0"/>
          </a:p>
        </p:txBody>
      </p:sp>
      <p:sp>
        <p:nvSpPr>
          <p:cNvPr id="16" name="Shape 14"/>
          <p:cNvSpPr/>
          <p:nvPr/>
        </p:nvSpPr>
        <p:spPr>
          <a:xfrm>
            <a:off x="4283964" y="2468880"/>
            <a:ext cx="1143000" cy="2212848"/>
          </a:xfrm>
          <a:prstGeom prst="roundRect">
            <a:avLst>
              <a:gd name="adj" fmla="val 4800"/>
            </a:avLst>
          </a:prstGeom>
          <a:solidFill>
            <a:srgbClr val="313E4A"/>
          </a:solidFill>
          <a:ln w="12700">
            <a:solidFill>
              <a:srgbClr val="313E4A"/>
            </a:solidFill>
            <a:prstDash val="solid"/>
          </a:ln>
        </p:spPr>
      </p:sp>
      <p:sp>
        <p:nvSpPr>
          <p:cNvPr id="17" name="Text 15"/>
          <p:cNvSpPr/>
          <p:nvPr/>
        </p:nvSpPr>
        <p:spPr>
          <a:xfrm>
            <a:off x="4393692" y="2633472"/>
            <a:ext cx="1005840" cy="256032"/>
          </a:xfrm>
          <a:prstGeom prst="rect">
            <a:avLst/>
          </a:prstGeom>
          <a:noFill/>
          <a:ln/>
        </p:spPr>
        <p:txBody>
          <a:bodyPr wrap="square" lIns="0" tIns="0" rIns="0" bIns="0" rtlCol="0" anchor="ctr"/>
          <a:lstStyle/>
          <a:p>
            <a:pPr indent="0" marL="0">
              <a:buNone/>
            </a:pPr>
            <a:r>
              <a:rPr lang="en-US" sz="950" b="1" spc="100" kern="0" dirty="0">
                <a:solidFill>
                  <a:srgbClr val="8FC3B2"/>
                </a:solidFill>
                <a:latin typeface="Calibri" pitchFamily="34" charset="0"/>
                <a:ea typeface="Calibri" pitchFamily="34" charset="-122"/>
                <a:cs typeface="Calibri" pitchFamily="34" charset="-120"/>
              </a:rPr>
              <a:t>Lab 4</a:t>
            </a:r>
            <a:endParaRPr lang="en-US" sz="950" dirty="0"/>
          </a:p>
        </p:txBody>
      </p:sp>
      <p:sp>
        <p:nvSpPr>
          <p:cNvPr id="18" name="Text 16"/>
          <p:cNvSpPr/>
          <p:nvPr/>
        </p:nvSpPr>
        <p:spPr>
          <a:xfrm>
            <a:off x="4375404" y="2926080"/>
            <a:ext cx="1188720" cy="502920"/>
          </a:xfrm>
          <a:prstGeom prst="rect">
            <a:avLst/>
          </a:prstGeom>
          <a:noFill/>
          <a:ln/>
        </p:spPr>
        <p:txBody>
          <a:bodyPr wrap="square" lIns="0" tIns="0" rIns="0" bIns="0" rtlCol="0" anchor="ctr"/>
          <a:lstStyle/>
          <a:p>
            <a:pPr indent="0" marL="0">
              <a:buNone/>
            </a:pPr>
            <a:r>
              <a:rPr lang="en-US" sz="680" b="1" dirty="0">
                <a:solidFill>
                  <a:srgbClr val="FFFFFF"/>
                </a:solidFill>
                <a:latin typeface="Consolas" pitchFamily="34" charset="0"/>
                <a:ea typeface="Consolas" pitchFamily="34" charset="-122"/>
                <a:cs typeface="Consolas" pitchFamily="34" charset="-120"/>
              </a:rPr>
              <a:t>benchmark.py</a:t>
            </a:r>
            <a:endParaRPr lang="en-US" sz="680" dirty="0"/>
          </a:p>
        </p:txBody>
      </p:sp>
      <p:sp>
        <p:nvSpPr>
          <p:cNvPr id="19" name="Text 17"/>
          <p:cNvSpPr/>
          <p:nvPr/>
        </p:nvSpPr>
        <p:spPr>
          <a:xfrm>
            <a:off x="4393692" y="3474720"/>
            <a:ext cx="950976" cy="1143000"/>
          </a:xfrm>
          <a:prstGeom prst="rect">
            <a:avLst/>
          </a:prstGeom>
          <a:noFill/>
          <a:ln/>
        </p:spPr>
        <p:txBody>
          <a:bodyPr wrap="square" lIns="0" tIns="0" rIns="0" bIns="0" rtlCol="0" anchor="ctr"/>
          <a:lstStyle/>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The benchmark, and the</a:t>
            </a:r>
            <a:endParaRPr lang="en-US" sz="750" dirty="0"/>
          </a:p>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check it runs first</a:t>
            </a:r>
            <a:endParaRPr lang="en-US" sz="750" dirty="0"/>
          </a:p>
        </p:txBody>
      </p:sp>
      <p:sp>
        <p:nvSpPr>
          <p:cNvPr id="20" name="Shape 18"/>
          <p:cNvSpPr/>
          <p:nvPr/>
        </p:nvSpPr>
        <p:spPr>
          <a:xfrm>
            <a:off x="5522976" y="2468880"/>
            <a:ext cx="1143000" cy="2212848"/>
          </a:xfrm>
          <a:prstGeom prst="roundRect">
            <a:avLst>
              <a:gd name="adj" fmla="val 4800"/>
            </a:avLst>
          </a:prstGeom>
          <a:solidFill>
            <a:srgbClr val="313E4A"/>
          </a:solidFill>
          <a:ln w="12700">
            <a:solidFill>
              <a:srgbClr val="313E4A"/>
            </a:solidFill>
            <a:prstDash val="solid"/>
          </a:ln>
        </p:spPr>
      </p:sp>
      <p:sp>
        <p:nvSpPr>
          <p:cNvPr id="21" name="Text 19"/>
          <p:cNvSpPr/>
          <p:nvPr/>
        </p:nvSpPr>
        <p:spPr>
          <a:xfrm>
            <a:off x="5632704" y="2633472"/>
            <a:ext cx="1005840" cy="256032"/>
          </a:xfrm>
          <a:prstGeom prst="rect">
            <a:avLst/>
          </a:prstGeom>
          <a:noFill/>
          <a:ln/>
        </p:spPr>
        <p:txBody>
          <a:bodyPr wrap="square" lIns="0" tIns="0" rIns="0" bIns="0" rtlCol="0" anchor="ctr"/>
          <a:lstStyle/>
          <a:p>
            <a:pPr indent="0" marL="0">
              <a:buNone/>
            </a:pPr>
            <a:r>
              <a:rPr lang="en-US" sz="950" b="1" spc="100" kern="0" dirty="0">
                <a:solidFill>
                  <a:srgbClr val="8FC3B2"/>
                </a:solidFill>
                <a:latin typeface="Calibri" pitchFamily="34" charset="0"/>
                <a:ea typeface="Calibri" pitchFamily="34" charset="-122"/>
                <a:cs typeface="Calibri" pitchFamily="34" charset="-120"/>
              </a:rPr>
              <a:t>Lab 5</a:t>
            </a:r>
            <a:endParaRPr lang="en-US" sz="950" dirty="0"/>
          </a:p>
        </p:txBody>
      </p:sp>
      <p:sp>
        <p:nvSpPr>
          <p:cNvPr id="22" name="Text 20"/>
          <p:cNvSpPr/>
          <p:nvPr/>
        </p:nvSpPr>
        <p:spPr>
          <a:xfrm>
            <a:off x="5614416" y="2926080"/>
            <a:ext cx="1188720" cy="502920"/>
          </a:xfrm>
          <a:prstGeom prst="rect">
            <a:avLst/>
          </a:prstGeom>
          <a:noFill/>
          <a:ln/>
        </p:spPr>
        <p:txBody>
          <a:bodyPr wrap="square" lIns="0" tIns="0" rIns="0" bIns="0" rtlCol="0" anchor="ctr"/>
          <a:lstStyle/>
          <a:p>
            <a:pPr indent="0" marL="0">
              <a:buNone/>
            </a:pPr>
            <a:r>
              <a:rPr lang="en-US" sz="680" b="1" dirty="0">
                <a:solidFill>
                  <a:srgbClr val="FFFFFF"/>
                </a:solidFill>
                <a:latin typeface="Consolas" pitchFamily="34" charset="0"/>
                <a:ea typeface="Consolas" pitchFamily="34" charset="-122"/>
                <a:cs typeface="Consolas" pitchFamily="34" charset="-120"/>
              </a:rPr>
              <a:t>bq_bytes.py</a:t>
            </a:r>
            <a:endParaRPr lang="en-US" sz="680" dirty="0"/>
          </a:p>
        </p:txBody>
      </p:sp>
      <p:sp>
        <p:nvSpPr>
          <p:cNvPr id="23" name="Text 21"/>
          <p:cNvSpPr/>
          <p:nvPr/>
        </p:nvSpPr>
        <p:spPr>
          <a:xfrm>
            <a:off x="5632704" y="3474720"/>
            <a:ext cx="950976" cy="1143000"/>
          </a:xfrm>
          <a:prstGeom prst="rect">
            <a:avLst/>
          </a:prstGeom>
          <a:noFill/>
          <a:ln/>
        </p:spPr>
        <p:txBody>
          <a:bodyPr wrap="square" lIns="0" tIns="0" rIns="0" bIns="0" rtlCol="0" anchor="ctr"/>
          <a:lstStyle/>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The cloud scan, read</a:t>
            </a:r>
            <a:endParaRPr lang="en-US" sz="750" dirty="0"/>
          </a:p>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before it was run</a:t>
            </a:r>
            <a:endParaRPr lang="en-US" sz="750" dirty="0"/>
          </a:p>
        </p:txBody>
      </p:sp>
      <p:sp>
        <p:nvSpPr>
          <p:cNvPr id="24" name="Shape 22"/>
          <p:cNvSpPr/>
          <p:nvPr/>
        </p:nvSpPr>
        <p:spPr>
          <a:xfrm>
            <a:off x="6761988" y="2468880"/>
            <a:ext cx="1143000" cy="2212848"/>
          </a:xfrm>
          <a:prstGeom prst="roundRect">
            <a:avLst>
              <a:gd name="adj" fmla="val 4800"/>
            </a:avLst>
          </a:prstGeom>
          <a:solidFill>
            <a:srgbClr val="313E4A"/>
          </a:solidFill>
          <a:ln w="12700">
            <a:solidFill>
              <a:srgbClr val="313E4A"/>
            </a:solidFill>
            <a:prstDash val="solid"/>
          </a:ln>
        </p:spPr>
      </p:sp>
      <p:sp>
        <p:nvSpPr>
          <p:cNvPr id="25" name="Text 23"/>
          <p:cNvSpPr/>
          <p:nvPr/>
        </p:nvSpPr>
        <p:spPr>
          <a:xfrm>
            <a:off x="6871716" y="2633472"/>
            <a:ext cx="1005840" cy="256032"/>
          </a:xfrm>
          <a:prstGeom prst="rect">
            <a:avLst/>
          </a:prstGeom>
          <a:noFill/>
          <a:ln/>
        </p:spPr>
        <p:txBody>
          <a:bodyPr wrap="square" lIns="0" tIns="0" rIns="0" bIns="0" rtlCol="0" anchor="ctr"/>
          <a:lstStyle/>
          <a:p>
            <a:pPr indent="0" marL="0">
              <a:buNone/>
            </a:pPr>
            <a:r>
              <a:rPr lang="en-US" sz="950" b="1" spc="100" kern="0" dirty="0">
                <a:solidFill>
                  <a:srgbClr val="8FC3B2"/>
                </a:solidFill>
                <a:latin typeface="Calibri" pitchFamily="34" charset="0"/>
                <a:ea typeface="Calibri" pitchFamily="34" charset="-122"/>
                <a:cs typeface="Calibri" pitchFamily="34" charset="-120"/>
              </a:rPr>
              <a:t>Lab 6</a:t>
            </a:r>
            <a:endParaRPr lang="en-US" sz="950" dirty="0"/>
          </a:p>
        </p:txBody>
      </p:sp>
      <p:sp>
        <p:nvSpPr>
          <p:cNvPr id="26" name="Text 24"/>
          <p:cNvSpPr/>
          <p:nvPr/>
        </p:nvSpPr>
        <p:spPr>
          <a:xfrm>
            <a:off x="6853428" y="2926080"/>
            <a:ext cx="1188720" cy="502920"/>
          </a:xfrm>
          <a:prstGeom prst="rect">
            <a:avLst/>
          </a:prstGeom>
          <a:noFill/>
          <a:ln/>
        </p:spPr>
        <p:txBody>
          <a:bodyPr wrap="square" lIns="0" tIns="0" rIns="0" bIns="0" rtlCol="0" anchor="ctr"/>
          <a:lstStyle/>
          <a:p>
            <a:pPr indent="0" marL="0">
              <a:buNone/>
            </a:pPr>
            <a:r>
              <a:rPr lang="en-US" sz="680" b="1" dirty="0">
                <a:solidFill>
                  <a:srgbClr val="FFFFFF"/>
                </a:solidFill>
                <a:latin typeface="Consolas" pitchFamily="34" charset="0"/>
                <a:ea typeface="Consolas" pitchFamily="34" charset="-122"/>
                <a:cs typeface="Consolas" pitchFamily="34" charset="-120"/>
              </a:rPr>
              <a:t>quality_checks.py</a:t>
            </a:r>
            <a:endParaRPr lang="en-US" sz="680" dirty="0"/>
          </a:p>
        </p:txBody>
      </p:sp>
      <p:sp>
        <p:nvSpPr>
          <p:cNvPr id="27" name="Text 25"/>
          <p:cNvSpPr/>
          <p:nvPr/>
        </p:nvSpPr>
        <p:spPr>
          <a:xfrm>
            <a:off x="6871716" y="3474720"/>
            <a:ext cx="950976" cy="1143000"/>
          </a:xfrm>
          <a:prstGeom prst="rect">
            <a:avLst/>
          </a:prstGeom>
          <a:noFill/>
          <a:ln/>
        </p:spPr>
        <p:txBody>
          <a:bodyPr wrap="square" lIns="0" tIns="0" rIns="0" bIns="0" rtlCol="0" anchor="ctr"/>
          <a:lstStyle/>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Ten rules, a quarantine,</a:t>
            </a:r>
            <a:endParaRPr lang="en-US" sz="750" dirty="0"/>
          </a:p>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and the PDPA answer</a:t>
            </a:r>
            <a:endParaRPr lang="en-US" sz="750" dirty="0"/>
          </a:p>
        </p:txBody>
      </p:sp>
      <p:sp>
        <p:nvSpPr>
          <p:cNvPr id="28" name="Shape 26"/>
          <p:cNvSpPr/>
          <p:nvPr/>
        </p:nvSpPr>
        <p:spPr>
          <a:xfrm>
            <a:off x="8001000" y="2468880"/>
            <a:ext cx="1143000" cy="2212848"/>
          </a:xfrm>
          <a:prstGeom prst="roundRect">
            <a:avLst>
              <a:gd name="adj" fmla="val 4800"/>
            </a:avLst>
          </a:prstGeom>
          <a:solidFill>
            <a:srgbClr val="313E4A"/>
          </a:solidFill>
          <a:ln w="12700">
            <a:solidFill>
              <a:srgbClr val="313E4A"/>
            </a:solidFill>
            <a:prstDash val="solid"/>
          </a:ln>
        </p:spPr>
      </p:sp>
      <p:sp>
        <p:nvSpPr>
          <p:cNvPr id="29" name="Text 27"/>
          <p:cNvSpPr/>
          <p:nvPr/>
        </p:nvSpPr>
        <p:spPr>
          <a:xfrm>
            <a:off x="8110728" y="2633472"/>
            <a:ext cx="1005840" cy="256032"/>
          </a:xfrm>
          <a:prstGeom prst="rect">
            <a:avLst/>
          </a:prstGeom>
          <a:noFill/>
          <a:ln/>
        </p:spPr>
        <p:txBody>
          <a:bodyPr wrap="square" lIns="0" tIns="0" rIns="0" bIns="0" rtlCol="0" anchor="ctr"/>
          <a:lstStyle/>
          <a:p>
            <a:pPr indent="0" marL="0">
              <a:buNone/>
            </a:pPr>
            <a:r>
              <a:rPr lang="en-US" sz="950" b="1" spc="100" kern="0" dirty="0">
                <a:solidFill>
                  <a:srgbClr val="8FC3B2"/>
                </a:solidFill>
                <a:latin typeface="Calibri" pitchFamily="34" charset="0"/>
                <a:ea typeface="Calibri" pitchFamily="34" charset="-122"/>
                <a:cs typeface="Calibri" pitchFamily="34" charset="-120"/>
              </a:rPr>
              <a:t>Lab 7</a:t>
            </a:r>
            <a:endParaRPr lang="en-US" sz="950" dirty="0"/>
          </a:p>
        </p:txBody>
      </p:sp>
      <p:sp>
        <p:nvSpPr>
          <p:cNvPr id="30" name="Text 28"/>
          <p:cNvSpPr/>
          <p:nvPr/>
        </p:nvSpPr>
        <p:spPr>
          <a:xfrm>
            <a:off x="8092440" y="2926080"/>
            <a:ext cx="1188720" cy="502920"/>
          </a:xfrm>
          <a:prstGeom prst="rect">
            <a:avLst/>
          </a:prstGeom>
          <a:noFill/>
          <a:ln/>
        </p:spPr>
        <p:txBody>
          <a:bodyPr wrap="square" lIns="0" tIns="0" rIns="0" bIns="0" rtlCol="0" anchor="ctr"/>
          <a:lstStyle/>
          <a:p>
            <a:pPr indent="0" marL="0">
              <a:buNone/>
            </a:pPr>
            <a:r>
              <a:rPr lang="en-US" sz="680" b="1" dirty="0">
                <a:solidFill>
                  <a:srgbClr val="FFFFFF"/>
                </a:solidFill>
                <a:latin typeface="Consolas" pitchFamily="34" charset="0"/>
                <a:ea typeface="Consolas" pitchFamily="34" charset="-122"/>
                <a:cs typeface="Consolas" pitchFamily="34" charset="-120"/>
              </a:rPr>
              <a:t>metrics.md</a:t>
            </a:r>
            <a:endParaRPr lang="en-US" sz="680" dirty="0"/>
          </a:p>
        </p:txBody>
      </p:sp>
      <p:sp>
        <p:nvSpPr>
          <p:cNvPr id="31" name="Text 29"/>
          <p:cNvSpPr/>
          <p:nvPr/>
        </p:nvSpPr>
        <p:spPr>
          <a:xfrm>
            <a:off x="8110728" y="3474720"/>
            <a:ext cx="950976" cy="1143000"/>
          </a:xfrm>
          <a:prstGeom prst="rect">
            <a:avLst/>
          </a:prstGeom>
          <a:noFill/>
          <a:ln/>
        </p:spPr>
        <p:txBody>
          <a:bodyPr wrap="square" lIns="0" tIns="0" rIns="0" bIns="0" rtlCol="0" anchor="ctr"/>
          <a:lstStyle/>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One tap, every metric</a:t>
            </a:r>
            <a:endParaRPr lang="en-US" sz="750" dirty="0"/>
          </a:p>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defined exactly once</a:t>
            </a:r>
            <a:endParaRPr lang="en-US" sz="750" dirty="0"/>
          </a:p>
        </p:txBody>
      </p:sp>
      <p:sp>
        <p:nvSpPr>
          <p:cNvPr id="32" name="Shape 30"/>
          <p:cNvSpPr/>
          <p:nvPr/>
        </p:nvSpPr>
        <p:spPr>
          <a:xfrm>
            <a:off x="9240012" y="2468880"/>
            <a:ext cx="1143000" cy="2212848"/>
          </a:xfrm>
          <a:prstGeom prst="roundRect">
            <a:avLst>
              <a:gd name="adj" fmla="val 4800"/>
            </a:avLst>
          </a:prstGeom>
          <a:solidFill>
            <a:srgbClr val="313E4A"/>
          </a:solidFill>
          <a:ln w="12700">
            <a:solidFill>
              <a:srgbClr val="313E4A"/>
            </a:solidFill>
            <a:prstDash val="solid"/>
          </a:ln>
        </p:spPr>
      </p:sp>
      <p:sp>
        <p:nvSpPr>
          <p:cNvPr id="33" name="Text 31"/>
          <p:cNvSpPr/>
          <p:nvPr/>
        </p:nvSpPr>
        <p:spPr>
          <a:xfrm>
            <a:off x="9349740" y="2633472"/>
            <a:ext cx="1005840" cy="256032"/>
          </a:xfrm>
          <a:prstGeom prst="rect">
            <a:avLst/>
          </a:prstGeom>
          <a:noFill/>
          <a:ln/>
        </p:spPr>
        <p:txBody>
          <a:bodyPr wrap="square" lIns="0" tIns="0" rIns="0" bIns="0" rtlCol="0" anchor="ctr"/>
          <a:lstStyle/>
          <a:p>
            <a:pPr indent="0" marL="0">
              <a:buNone/>
            </a:pPr>
            <a:r>
              <a:rPr lang="en-US" sz="950" b="1" spc="100" kern="0" dirty="0">
                <a:solidFill>
                  <a:srgbClr val="8FC3B2"/>
                </a:solidFill>
                <a:latin typeface="Calibri" pitchFamily="34" charset="0"/>
                <a:ea typeface="Calibri" pitchFamily="34" charset="-122"/>
                <a:cs typeface="Calibri" pitchFamily="34" charset="-120"/>
              </a:rPr>
              <a:t>Lab 8</a:t>
            </a:r>
            <a:endParaRPr lang="en-US" sz="950" dirty="0"/>
          </a:p>
        </p:txBody>
      </p:sp>
      <p:sp>
        <p:nvSpPr>
          <p:cNvPr id="34" name="Text 32"/>
          <p:cNvSpPr/>
          <p:nvPr/>
        </p:nvSpPr>
        <p:spPr>
          <a:xfrm>
            <a:off x="9331452" y="2926080"/>
            <a:ext cx="1188720" cy="502920"/>
          </a:xfrm>
          <a:prstGeom prst="rect">
            <a:avLst/>
          </a:prstGeom>
          <a:noFill/>
          <a:ln/>
        </p:spPr>
        <p:txBody>
          <a:bodyPr wrap="square" lIns="0" tIns="0" rIns="0" bIns="0" rtlCol="0" anchor="ctr"/>
          <a:lstStyle/>
          <a:p>
            <a:pPr indent="0" marL="0">
              <a:buNone/>
            </a:pPr>
            <a:r>
              <a:rPr lang="en-US" sz="680" b="1" dirty="0">
                <a:solidFill>
                  <a:srgbClr val="FFFFFF"/>
                </a:solidFill>
                <a:latin typeface="Consolas" pitchFamily="34" charset="0"/>
                <a:ea typeface="Consolas" pitchFamily="34" charset="-122"/>
                <a:cs typeface="Consolas" pitchFamily="34" charset="-120"/>
              </a:rPr>
              <a:t>08_features.sql</a:t>
            </a:r>
            <a:endParaRPr lang="en-US" sz="680" dirty="0"/>
          </a:p>
        </p:txBody>
      </p:sp>
      <p:sp>
        <p:nvSpPr>
          <p:cNvPr id="35" name="Text 33"/>
          <p:cNvSpPr/>
          <p:nvPr/>
        </p:nvSpPr>
        <p:spPr>
          <a:xfrm>
            <a:off x="9349740" y="3474720"/>
            <a:ext cx="950976" cy="1143000"/>
          </a:xfrm>
          <a:prstGeom prst="rect">
            <a:avLst/>
          </a:prstGeom>
          <a:noFill/>
          <a:ln/>
        </p:spPr>
        <p:txBody>
          <a:bodyPr wrap="square" lIns="0" tIns="0" rIns="0" bIns="0" rtlCol="0" anchor="ctr"/>
          <a:lstStyle/>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The leakage cut, the</a:t>
            </a:r>
            <a:endParaRPr lang="en-US" sz="750" dirty="0"/>
          </a:p>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split written down</a:t>
            </a:r>
            <a:endParaRPr lang="en-US" sz="750" dirty="0"/>
          </a:p>
        </p:txBody>
      </p:sp>
      <p:sp>
        <p:nvSpPr>
          <p:cNvPr id="36" name="Shape 34"/>
          <p:cNvSpPr/>
          <p:nvPr/>
        </p:nvSpPr>
        <p:spPr>
          <a:xfrm>
            <a:off x="10479024" y="2468880"/>
            <a:ext cx="1143000" cy="2212848"/>
          </a:xfrm>
          <a:prstGeom prst="roundRect">
            <a:avLst>
              <a:gd name="adj" fmla="val 4800"/>
            </a:avLst>
          </a:prstGeom>
          <a:solidFill>
            <a:srgbClr val="313E4A"/>
          </a:solidFill>
          <a:ln w="12700">
            <a:solidFill>
              <a:srgbClr val="313E4A"/>
            </a:solidFill>
            <a:prstDash val="solid"/>
          </a:ln>
        </p:spPr>
      </p:sp>
      <p:sp>
        <p:nvSpPr>
          <p:cNvPr id="37" name="Text 35"/>
          <p:cNvSpPr/>
          <p:nvPr/>
        </p:nvSpPr>
        <p:spPr>
          <a:xfrm>
            <a:off x="10588752" y="2633472"/>
            <a:ext cx="1005840" cy="256032"/>
          </a:xfrm>
          <a:prstGeom prst="rect">
            <a:avLst/>
          </a:prstGeom>
          <a:noFill/>
          <a:ln/>
        </p:spPr>
        <p:txBody>
          <a:bodyPr wrap="square" lIns="0" tIns="0" rIns="0" bIns="0" rtlCol="0" anchor="ctr"/>
          <a:lstStyle/>
          <a:p>
            <a:pPr indent="0" marL="0">
              <a:buNone/>
            </a:pPr>
            <a:r>
              <a:rPr lang="en-US" sz="950" b="1" spc="100" kern="0" dirty="0">
                <a:solidFill>
                  <a:srgbClr val="8FC3B2"/>
                </a:solidFill>
                <a:latin typeface="Calibri" pitchFamily="34" charset="0"/>
                <a:ea typeface="Calibri" pitchFamily="34" charset="-122"/>
                <a:cs typeface="Calibri" pitchFamily="34" charset="-120"/>
              </a:rPr>
              <a:t>Lab 9</a:t>
            </a:r>
            <a:endParaRPr lang="en-US" sz="950" dirty="0"/>
          </a:p>
        </p:txBody>
      </p:sp>
      <p:sp>
        <p:nvSpPr>
          <p:cNvPr id="38" name="Text 36"/>
          <p:cNvSpPr/>
          <p:nvPr/>
        </p:nvSpPr>
        <p:spPr>
          <a:xfrm>
            <a:off x="10570464" y="2926080"/>
            <a:ext cx="1188720" cy="502920"/>
          </a:xfrm>
          <a:prstGeom prst="rect">
            <a:avLst/>
          </a:prstGeom>
          <a:noFill/>
          <a:ln/>
        </p:spPr>
        <p:txBody>
          <a:bodyPr wrap="square" lIns="0" tIns="0" rIns="0" bIns="0" rtlCol="0" anchor="ctr"/>
          <a:lstStyle/>
          <a:p>
            <a:pPr indent="0" marL="0">
              <a:buNone/>
            </a:pPr>
            <a:r>
              <a:rPr lang="en-US" sz="680" b="1" dirty="0">
                <a:solidFill>
                  <a:srgbClr val="FFFFFF"/>
                </a:solidFill>
                <a:latin typeface="Consolas" pitchFamily="34" charset="0"/>
                <a:ea typeface="Consolas" pitchFamily="34" charset="-122"/>
                <a:cs typeface="Consolas" pitchFamily="34" charset="-120"/>
              </a:rPr>
              <a:t>profile_pipeline.py</a:t>
            </a:r>
            <a:endParaRPr lang="en-US" sz="680" dirty="0"/>
          </a:p>
        </p:txBody>
      </p:sp>
      <p:sp>
        <p:nvSpPr>
          <p:cNvPr id="39" name="Text 37"/>
          <p:cNvSpPr/>
          <p:nvPr/>
        </p:nvSpPr>
        <p:spPr>
          <a:xfrm>
            <a:off x="10588752" y="3474720"/>
            <a:ext cx="950976" cy="1143000"/>
          </a:xfrm>
          <a:prstGeom prst="rect">
            <a:avLst/>
          </a:prstGeom>
          <a:noFill/>
          <a:ln/>
        </p:spPr>
        <p:txBody>
          <a:bodyPr wrap="square" lIns="0" tIns="0" rIns="0" bIns="0" rtlCol="0" anchor="ctr"/>
          <a:lstStyle/>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The bottleneck, and</a:t>
            </a:r>
            <a:endParaRPr lang="en-US" sz="750" dirty="0"/>
          </a:p>
          <a:p>
            <a:pPr indent="0" marL="0">
              <a:lnSpc>
                <a:spcPct val="110000"/>
              </a:lnSpc>
              <a:buNone/>
            </a:pPr>
            <a:r>
              <a:rPr lang="en-US" sz="750" dirty="0">
                <a:solidFill>
                  <a:srgbClr val="A8B4BE"/>
                </a:solidFill>
                <a:latin typeface="Calibri" pitchFamily="34" charset="0"/>
                <a:ea typeface="Calibri" pitchFamily="34" charset="-122"/>
                <a:cs typeface="Calibri" pitchFamily="34" charset="-120"/>
              </a:rPr>
              <a:t>the fixes that lost</a:t>
            </a:r>
            <a:endParaRPr lang="en-US" sz="750" dirty="0"/>
          </a:p>
        </p:txBody>
      </p:sp>
      <p:sp>
        <p:nvSpPr>
          <p:cNvPr id="40" name="Text 38"/>
          <p:cNvSpPr/>
          <p:nvPr/>
        </p:nvSpPr>
        <p:spPr>
          <a:xfrm>
            <a:off x="566928" y="4709160"/>
            <a:ext cx="10058400" cy="320040"/>
          </a:xfrm>
          <a:prstGeom prst="rect">
            <a:avLst/>
          </a:prstGeom>
          <a:noFill/>
          <a:ln/>
        </p:spPr>
        <p:txBody>
          <a:bodyPr wrap="square" lIns="0" tIns="0" rIns="0" bIns="0" rtlCol="0" anchor="ctr"/>
          <a:lstStyle/>
          <a:p>
            <a:pPr indent="0" marL="0">
              <a:buNone/>
            </a:pPr>
            <a:r>
              <a:rPr lang="en-US" sz="1300" dirty="0">
                <a:solidFill>
                  <a:srgbClr val="8D9AA6"/>
                </a:solidFill>
                <a:latin typeface="Calibri" pitchFamily="34" charset="0"/>
                <a:ea typeface="Calibri" pitchFamily="34" charset="-122"/>
                <a:cs typeface="Calibri" pitchFamily="34" charset="-120"/>
              </a:rPr>
              <a:t>Build the warehouse from a clean clone in one command</a:t>
            </a:r>
            <a:endParaRPr lang="en-US" sz="1300" dirty="0"/>
          </a:p>
        </p:txBody>
      </p:sp>
      <p:sp>
        <p:nvSpPr>
          <p:cNvPr id="41" name="Shape 39"/>
          <p:cNvSpPr/>
          <p:nvPr/>
        </p:nvSpPr>
        <p:spPr>
          <a:xfrm>
            <a:off x="566928" y="5074920"/>
            <a:ext cx="4937760" cy="457200"/>
          </a:xfrm>
          <a:prstGeom prst="roundRect">
            <a:avLst>
              <a:gd name="adj" fmla="val 10000"/>
            </a:avLst>
          </a:prstGeom>
          <a:solidFill>
            <a:srgbClr val="313E4A"/>
          </a:solidFill>
          <a:ln w="12700">
            <a:solidFill>
              <a:srgbClr val="313E4A"/>
            </a:solidFill>
            <a:prstDash val="solid"/>
          </a:ln>
        </p:spPr>
      </p:sp>
      <p:sp>
        <p:nvSpPr>
          <p:cNvPr id="42" name="Text 40"/>
          <p:cNvSpPr/>
          <p:nvPr/>
        </p:nvSpPr>
        <p:spPr>
          <a:xfrm>
            <a:off x="795528" y="5074920"/>
            <a:ext cx="4572000" cy="457200"/>
          </a:xfrm>
          <a:prstGeom prst="rect">
            <a:avLst/>
          </a:prstGeom>
          <a:noFill/>
          <a:ln/>
        </p:spPr>
        <p:txBody>
          <a:bodyPr wrap="square" lIns="0" tIns="0" rIns="0" bIns="0" rtlCol="0" anchor="ctr"/>
          <a:lstStyle/>
          <a:p>
            <a:pPr indent="0" marL="0">
              <a:buNone/>
            </a:pPr>
            <a:r>
              <a:rPr lang="en-US" sz="1400" dirty="0">
                <a:solidFill>
                  <a:srgbClr val="FFFFFF"/>
                </a:solidFill>
                <a:latin typeface="Consolas" pitchFamily="34" charset="0"/>
                <a:ea typeface="Consolas" pitchFamily="34" charset="-122"/>
                <a:cs typeface="Consolas" pitchFamily="34" charset="-120"/>
              </a:rPr>
              <a:t>python scripts/ingest.py</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Adult census income: labs 1 to 9</dc:title>
  <dc:subject>PptxGenJS Presentation</dc:subject>
  <dc:creator>Team E</dc:creator>
  <cp:lastModifiedBy>Team E</cp:lastModifiedBy>
  <cp:revision>1</cp:revision>
  <dcterms:created xsi:type="dcterms:W3CDTF">2026-10-02T16:44:31Z</dcterms:created>
  <dcterms:modified xsi:type="dcterms:W3CDTF">2026-10-02T16:44:31Z</dcterms:modified>
</cp:coreProperties>
</file>