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labs, one continuous argument. Lab 1 finds three defects. Labs 2 and 3 each close one of them. The dataset is the UCI Adult census extract, 32,561 records from the March 1994 Current Population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a public teaching file, so the consumer and decision are our stated operating assumption. The decision is set in 1995, contemporaneous with the data. A 30 year old file cannot support a present day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was a one page data problem statement plus the team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categories map onto the brief exactly: gaps, strange values,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justifies a dimension table later. The string ? means two different things and the file cannot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budget allocated on the uncorrected ranking is allocated on an artifact of the encoding. The Farming-fishing detail is the one to say aloud: it does not move, everything else moves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Deduplication is not safe here. Dropping all 24 risks deleting real people; keeping them risks double counting. Lab 2 makes that decision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is DuckDB: no server, and the whole warehouse is one file a teammate can rebuild from a clone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cleaned before load. A staging table holds every column as raw text, and all cleaning happens on the way out, so the raw value behind any modelled row stays queryable.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result in the deck. No amount of cleaning a flat file produces this distinction; it needs a dimension with a row per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Concede the performance point immediately, then make the argument about representation,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python scripts/ingest.py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same file proves nothing on its own: a pipeline that silently discards all input passes that test perfectly. We caught exactly that bug by feeding it a file it had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education_mapping_mismatch is worth mentioning: dim_education is seeded with the canonical ladder and not inferred from the data, so a file claiming HS-grad at level 12 is rejected, and does not quietly widen the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on the limitation is deliberate. It is the honest position and it is also the strongest one: we know exactly what we cannot do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query is the allocation question from Lab 1, denormalised so that a flat file can answer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load column aloud. PostgreSQL has to be running and loaded before it answers anything, and at the larger size that is 85 seconds before the first query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thrown-away figure is worth admitting out loud. It is the clearest example in the project of a number that looked impressive and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point of the lab. We found a number of our own that did not reproduce, and kept it in the report instead of quietly dropping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as the brief asks. The first concedes that speed does not decide it, the second makes the choice, the third names what would change 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dsai6226-team-e, dataset adult, region africa-south1. All 32,561 records, uploaded from the same denormalised table the Lab 4 benchmark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say aloud is that the prediction came first. Anyone can run a query and read a number off the screen. Computing it beforehand and having it match is what shows the pricing model is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dwell on. We set out to confirm the lecture and instead found the rule was looser than stated. The failed query is kept in sql/06_bigquery.sql as a comment, because it teaches more than the one that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africa-south1, chosen rather than defaulted. Unit 5 says much GCP analytics still runs from Europe, which is now out of date for BigQuery. Proximity is still not compliance: Johannesburg is outside Tanzania, so moving personal data there would need PDPA safeguards anyway. This dataset is public US census microdata, so the PDPA does not bite on it, but it would on the outcome records the delivery providers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next: the same aggregate query three ways, on CSV with pandas, on PostgreSQL, and on DuckDB with Parquet.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371600"/>
            <a:ext cx="11027664" cy="274320"/>
          </a:xfrm>
          <a:prstGeom prst="rect">
            <a:avLst/>
          </a:prstGeom>
          <a:noFill/>
          <a:ln/>
        </p:spPr>
        <p:txBody>
          <a:bodyPr wrap="square" lIns="0" tIns="0" rIns="0" bIns="0" rtlCol="0" anchor="ctr"/>
          <a:lstStyle/>
          <a:p>
            <a:pPr indent="0" marL="0">
              <a:buNone/>
            </a:pPr>
            <a:r>
              <a:rPr lang="en-US" sz="1200" b="1" spc="300" kern="0" dirty="0">
                <a:solidFill>
                  <a:srgbClr val="8D9AA6"/>
                </a:solidFill>
                <a:latin typeface="Calibri" pitchFamily="34" charset="0"/>
                <a:ea typeface="Calibri" pitchFamily="34" charset="-122"/>
                <a:cs typeface="Calibri" pitchFamily="34" charset="-120"/>
              </a:rPr>
              <a:t>DSAI 6226 DATA ENGINEERING</a:t>
            </a:r>
            <a:endParaRPr lang="en-US" sz="1200" dirty="0"/>
          </a:p>
        </p:txBody>
      </p:sp>
      <p:sp>
        <p:nvSpPr>
          <p:cNvPr id="3" name="Text 1"/>
          <p:cNvSpPr/>
          <p:nvPr/>
        </p:nvSpPr>
        <p:spPr>
          <a:xfrm>
            <a:off x="566928" y="1828800"/>
            <a:ext cx="87782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From a broken census file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to a re-runnable pipeline</a:t>
            </a:r>
            <a:endParaRPr lang="en-US" sz="4000" dirty="0"/>
          </a:p>
        </p:txBody>
      </p:sp>
      <p:sp>
        <p:nvSpPr>
          <p:cNvPr id="4" name="Text 2"/>
          <p:cNvSpPr/>
          <p:nvPr/>
        </p:nvSpPr>
        <p:spPr>
          <a:xfrm>
            <a:off x="566928" y="3611880"/>
            <a:ext cx="8778240" cy="365760"/>
          </a:xfrm>
          <a:prstGeom prst="rect">
            <a:avLst/>
          </a:prstGeom>
          <a:noFill/>
          <a:ln/>
        </p:spPr>
        <p:txBody>
          <a:bodyPr wrap="square" lIns="0" tIns="0" rIns="0" bIns="0" rtlCol="0" anchor="ctr"/>
          <a:lstStyle/>
          <a:p>
            <a:pPr indent="0" marL="0">
              <a:buNone/>
            </a:pPr>
            <a:r>
              <a:rPr lang="en-US" sz="1700" dirty="0">
                <a:solidFill>
                  <a:srgbClr val="A8B4BE"/>
                </a:solidFill>
                <a:latin typeface="Calibri" pitchFamily="34" charset="0"/>
                <a:ea typeface="Calibri" pitchFamily="34" charset="-122"/>
                <a:cs typeface="Calibri" pitchFamily="34" charset="-120"/>
              </a:rPr>
              <a:t>Labs 1 to 5</a:t>
            </a:r>
            <a:endParaRPr lang="en-US" sz="1700" dirty="0"/>
          </a:p>
        </p:txBody>
      </p:sp>
      <p:sp>
        <p:nvSpPr>
          <p:cNvPr id="5" name="Text 3"/>
          <p:cNvSpPr/>
          <p:nvPr/>
        </p:nvSpPr>
        <p:spPr>
          <a:xfrm>
            <a:off x="566928" y="47091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E</a:t>
            </a:r>
            <a:endParaRPr lang="en-US" sz="1400" dirty="0"/>
          </a:p>
        </p:txBody>
      </p:sp>
      <p:sp>
        <p:nvSpPr>
          <p:cNvPr id="6" name="Text 4"/>
          <p:cNvSpPr/>
          <p:nvPr/>
        </p:nvSpPr>
        <p:spPr>
          <a:xfrm>
            <a:off x="566928" y="5029200"/>
            <a:ext cx="10515600" cy="320040"/>
          </a:xfrm>
          <a:prstGeom prst="rect">
            <a:avLst/>
          </a:prstGeom>
          <a:noFill/>
          <a:ln/>
        </p:spPr>
        <p:txBody>
          <a:bodyPr wrap="square" lIns="0" tIns="0" rIns="0" bIns="0" rtlCol="0" anchor="ctr"/>
          <a:lstStyle/>
          <a:p>
            <a:pPr indent="0" marL="0">
              <a:buNone/>
            </a:pPr>
            <a:r>
              <a:rPr lang="en-US" sz="1250" dirty="0">
                <a:solidFill>
                  <a:srgbClr val="A8B4BE"/>
                </a:solidFill>
                <a:latin typeface="Calibri" pitchFamily="34" charset="0"/>
                <a:ea typeface="Calibri" pitchFamily="34" charset="-122"/>
                <a:cs typeface="Calibri" pitchFamily="34" charset="-120"/>
              </a:rPr>
              <a:t>Mhina Lukurunge  ·  Samwel Mmari  ·  Asajile Mwakyalabwe  ·  Essa Mohamedali  ·  Paschal Bizulu</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5E6B77"/>
                </a:solidFill>
                <a:latin typeface="Calibri" pitchFamily="34" charset="0"/>
                <a:ea typeface="Calibri" pitchFamily="34" charset="-122"/>
                <a:cs typeface="Calibri" pitchFamily="34" charset="-120"/>
              </a:rPr>
              <a:t>THE DATASET AND THE DECISION</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data is for</a:t>
            </a:r>
            <a:endParaRPr lang="en-US" sz="3200" dirty="0"/>
          </a:p>
        </p:txBody>
      </p:sp>
      <p:sp>
        <p:nvSpPr>
          <p:cNvPr id="4" name="Shape 2"/>
          <p:cNvSpPr/>
          <p:nvPr/>
        </p:nvSpPr>
        <p:spPr>
          <a:xfrm>
            <a:off x="566928" y="1325880"/>
            <a:ext cx="5486400"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554480"/>
            <a:ext cx="493776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DATA</a:t>
            </a:r>
            <a:endParaRPr lang="en-US" sz="1100" dirty="0"/>
          </a:p>
        </p:txBody>
      </p:sp>
      <p:sp>
        <p:nvSpPr>
          <p:cNvPr id="6" name="Text 4"/>
          <p:cNvSpPr/>
          <p:nvPr/>
        </p:nvSpPr>
        <p:spPr>
          <a:xfrm>
            <a:off x="841248" y="1874520"/>
            <a:ext cx="493776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adult.csv, the Kaggle mirror of the UCI Adult dataset. An extract of the March 1994 US Current Population Survey.</a:t>
            </a:r>
            <a:endParaRPr lang="en-US" sz="1400" dirty="0"/>
          </a:p>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32,561 records, 15 columns.</a:t>
            </a:r>
            <a:endParaRPr lang="en-US" sz="1400" dirty="0"/>
          </a:p>
        </p:txBody>
      </p:sp>
      <p:sp>
        <p:nvSpPr>
          <p:cNvPr id="7" name="Shape 5"/>
          <p:cNvSpPr/>
          <p:nvPr/>
        </p:nvSpPr>
        <p:spPr>
          <a:xfrm>
            <a:off x="6309360" y="1325880"/>
            <a:ext cx="5285232" cy="1874520"/>
          </a:xfrm>
          <a:prstGeom prst="roundRect">
            <a:avLst>
              <a:gd name="adj" fmla="val 29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8" name="Text 6"/>
          <p:cNvSpPr/>
          <p:nvPr/>
        </p:nvSpPr>
        <p:spPr>
          <a:xfrm>
            <a:off x="6583680" y="1554480"/>
            <a:ext cx="4754880" cy="32004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THE CONSUMER</a:t>
            </a:r>
            <a:endParaRPr lang="en-US" sz="1100" dirty="0"/>
          </a:p>
        </p:txBody>
      </p:sp>
      <p:sp>
        <p:nvSpPr>
          <p:cNvPr id="9" name="Text 7"/>
          <p:cNvSpPr/>
          <p:nvPr/>
        </p:nvSpPr>
        <p:spPr>
          <a:xfrm>
            <a:off x="6583680" y="1874520"/>
            <a:ext cx="4754880" cy="11887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US Department of Labor, Employment and Training Administration, dividing a training budget across occupation and education segments in the 1995 funding cycle.</a:t>
            </a:r>
            <a:endParaRPr lang="en-US" sz="1400" dirty="0"/>
          </a:p>
        </p:txBody>
      </p:sp>
      <p:sp>
        <p:nvSpPr>
          <p:cNvPr id="10" name="Text 8"/>
          <p:cNvSpPr/>
          <p:nvPr/>
        </p:nvSpPr>
        <p:spPr>
          <a:xfrm>
            <a:off x="566928" y="35204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decision the data has to support</a:t>
            </a:r>
            <a:endParaRPr lang="en-US" sz="1900" dirty="0"/>
          </a:p>
        </p:txBody>
      </p:sp>
      <p:sp>
        <p:nvSpPr>
          <p:cNvPr id="11" name="Text 9"/>
          <p:cNvSpPr/>
          <p:nvPr/>
        </p:nvSpPr>
        <p:spPr>
          <a:xfrm>
            <a:off x="566928" y="3931920"/>
            <a:ext cx="11027664" cy="4572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Which occupation and education segments receive funded training places, and how many. Success is measured by participants moving from the low income bracket to the high one within 24 months.</a:t>
            </a:r>
            <a:endParaRPr lang="en-US" sz="1400" dirty="0"/>
          </a:p>
        </p:txBody>
      </p:sp>
      <p:sp>
        <p:nvSpPr>
          <p:cNvPr id="12" name="Text 10"/>
          <p:cNvSpPr/>
          <p:nvPr/>
        </p:nvSpPr>
        <p:spPr>
          <a:xfrm>
            <a:off x="566928" y="4709160"/>
            <a:ext cx="2743200" cy="777240"/>
          </a:xfrm>
          <a:prstGeom prst="rect">
            <a:avLst/>
          </a:prstGeom>
          <a:noFill/>
          <a:ln/>
        </p:spPr>
        <p:txBody>
          <a:bodyPr wrap="square" lIns="0" tIns="0" rIns="0" bIns="0" rtlCol="0" anchor="ctr"/>
          <a:lstStyle/>
          <a:p>
            <a:pPr algn="l" indent="0" marL="0">
              <a:buNone/>
            </a:pPr>
            <a:r>
              <a:rPr lang="en-US" sz="3400" b="1" dirty="0">
                <a:solidFill>
                  <a:srgbClr val="2E6F5E"/>
                </a:solidFill>
                <a:latin typeface="Cambria" pitchFamily="34" charset="0"/>
                <a:ea typeface="Cambria" pitchFamily="34" charset="-122"/>
                <a:cs typeface="Cambria" pitchFamily="34" charset="-120"/>
              </a:rPr>
              <a:t>16,005</a:t>
            </a:r>
            <a:endParaRPr lang="en-US" sz="3400" dirty="0"/>
          </a:p>
        </p:txBody>
      </p:sp>
      <p:sp>
        <p:nvSpPr>
          <p:cNvPr id="13" name="Text 11"/>
          <p:cNvSpPr/>
          <p:nvPr/>
        </p:nvSpPr>
        <p:spPr>
          <a:xfrm>
            <a:off x="566928" y="545896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eligible candidates</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aged 25 to 54, low income</a:t>
            </a:r>
            <a:endParaRPr lang="en-US" sz="1200" dirty="0"/>
          </a:p>
        </p:txBody>
      </p:sp>
      <p:sp>
        <p:nvSpPr>
          <p:cNvPr id="14" name="Text 12"/>
          <p:cNvSpPr/>
          <p:nvPr/>
        </p:nvSpPr>
        <p:spPr>
          <a:xfrm>
            <a:off x="4023360" y="4709160"/>
            <a:ext cx="310896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49.2%</a:t>
            </a:r>
            <a:endParaRPr lang="en-US" sz="3400" dirty="0"/>
          </a:p>
        </p:txBody>
      </p:sp>
      <p:sp>
        <p:nvSpPr>
          <p:cNvPr id="15" name="Text 13"/>
          <p:cNvSpPr/>
          <p:nvPr/>
        </p:nvSpPr>
        <p:spPr>
          <a:xfrm>
            <a:off x="4023360" y="5458968"/>
            <a:ext cx="31089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 dataset</a:t>
            </a:r>
            <a:endParaRPr lang="en-US" sz="1200" dirty="0"/>
          </a:p>
        </p:txBody>
      </p:sp>
      <p:sp>
        <p:nvSpPr>
          <p:cNvPr id="16" name="Text 14"/>
          <p:cNvSpPr/>
          <p:nvPr/>
        </p:nvSpPr>
        <p:spPr>
          <a:xfrm>
            <a:off x="7498080" y="4709160"/>
            <a:ext cx="4023360" cy="777240"/>
          </a:xfrm>
          <a:prstGeom prst="rect">
            <a:avLst/>
          </a:prstGeom>
          <a:noFill/>
          <a:ln/>
        </p:spPr>
        <p:txBody>
          <a:bodyPr wrap="square" lIns="0" tIns="0" rIns="0" bIns="0" rtlCol="0" anchor="ctr"/>
          <a:lstStyle/>
          <a:p>
            <a:pPr algn="l" indent="0" marL="0">
              <a:buNone/>
            </a:pPr>
            <a:r>
              <a:rPr lang="en-US" sz="2600" b="1" dirty="0">
                <a:solidFill>
                  <a:srgbClr val="B3453A"/>
                </a:solidFill>
                <a:latin typeface="Cambria" pitchFamily="34" charset="0"/>
                <a:ea typeface="Cambria" pitchFamily="34" charset="-122"/>
                <a:cs typeface="Cambria" pitchFamily="34" charset="-120"/>
              </a:rPr>
              <a:t>no geography</a:t>
            </a:r>
            <a:endParaRPr lang="en-US" sz="2600" dirty="0"/>
          </a:p>
        </p:txBody>
      </p:sp>
      <p:sp>
        <p:nvSpPr>
          <p:cNvPr id="17" name="Text 15"/>
          <p:cNvSpPr/>
          <p:nvPr/>
        </p:nvSpPr>
        <p:spPr>
          <a:xfrm>
            <a:off x="7498080" y="5458968"/>
            <a:ext cx="402336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no state, county or region field,</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so the split must be by kind of worker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E08C80"/>
                </a:solidFill>
                <a:latin typeface="Calibri" pitchFamily="34" charset="0"/>
                <a:ea typeface="Calibri" pitchFamily="34" charset="-122"/>
                <a:cs typeface="Calibri" pitchFamily="34" charset="-120"/>
              </a:rPr>
              <a:t>LAB 1</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Adopt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Explore it just enough to see what is broken, and write down three concrete problems.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Three defects, and what each one costs</a:t>
            </a:r>
            <a:endParaRPr lang="en-US" sz="3200" dirty="0"/>
          </a:p>
        </p:txBody>
      </p:sp>
      <p:sp>
        <p:nvSpPr>
          <p:cNvPr id="4" name="Shape 2"/>
          <p:cNvSpPr/>
          <p:nvPr/>
        </p:nvSpPr>
        <p:spPr>
          <a:xfrm>
            <a:off x="566928"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59536" y="1664208"/>
            <a:ext cx="384048" cy="384048"/>
          </a:xfrm>
          <a:prstGeom prst="ellipse">
            <a:avLst/>
          </a:prstGeom>
          <a:solidFill>
            <a:srgbClr val="B3453A"/>
          </a:solidFill>
          <a:ln w="12700">
            <a:solidFill>
              <a:srgbClr val="B3453A"/>
            </a:solidFill>
            <a:prstDash val="solid"/>
          </a:ln>
        </p:spPr>
      </p:sp>
      <p:sp>
        <p:nvSpPr>
          <p:cNvPr id="6" name="Text 4"/>
          <p:cNvSpPr/>
          <p:nvPr/>
        </p:nvSpPr>
        <p:spPr>
          <a:xfrm>
            <a:off x="859536"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59536"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Gaps</a:t>
            </a:r>
            <a:endParaRPr lang="en-US" sz="1800" dirty="0"/>
          </a:p>
        </p:txBody>
      </p:sp>
      <p:sp>
        <p:nvSpPr>
          <p:cNvPr id="8" name="Text 6"/>
          <p:cNvSpPr/>
          <p:nvPr/>
        </p:nvSpPr>
        <p:spPr>
          <a:xfrm>
            <a:off x="859536"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Missing values written as the string "?", so isna() reports a completely clean file</a:t>
            </a:r>
            <a:endParaRPr lang="en-US" sz="1300" dirty="0"/>
          </a:p>
        </p:txBody>
      </p:sp>
      <p:sp>
        <p:nvSpPr>
          <p:cNvPr id="9" name="Text 7"/>
          <p:cNvSpPr/>
          <p:nvPr/>
        </p:nvSpPr>
        <p:spPr>
          <a:xfrm>
            <a:off x="859536"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4,262</a:t>
            </a:r>
            <a:endParaRPr lang="en-US" sz="3200" dirty="0"/>
          </a:p>
        </p:txBody>
      </p:sp>
      <p:sp>
        <p:nvSpPr>
          <p:cNvPr id="10" name="Text 8"/>
          <p:cNvSpPr/>
          <p:nvPr/>
        </p:nvSpPr>
        <p:spPr>
          <a:xfrm>
            <a:off x="859536"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cells across 2,399 records</a:t>
            </a:r>
            <a:endParaRPr lang="en-US" sz="1150" dirty="0"/>
          </a:p>
        </p:txBody>
      </p:sp>
      <p:sp>
        <p:nvSpPr>
          <p:cNvPr id="11" name="Shape 9"/>
          <p:cNvSpPr/>
          <p:nvPr/>
        </p:nvSpPr>
        <p:spPr>
          <a:xfrm>
            <a:off x="4325112"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Shape 10"/>
          <p:cNvSpPr/>
          <p:nvPr/>
        </p:nvSpPr>
        <p:spPr>
          <a:xfrm>
            <a:off x="4617720" y="1664208"/>
            <a:ext cx="384048" cy="384048"/>
          </a:xfrm>
          <a:prstGeom prst="ellipse">
            <a:avLst/>
          </a:prstGeom>
          <a:solidFill>
            <a:srgbClr val="B3453A"/>
          </a:solidFill>
          <a:ln w="12700">
            <a:solidFill>
              <a:srgbClr val="B3453A"/>
            </a:solidFill>
            <a:prstDash val="solid"/>
          </a:ln>
        </p:spPr>
      </p:sp>
      <p:sp>
        <p:nvSpPr>
          <p:cNvPr id="13" name="Text 11"/>
          <p:cNvSpPr/>
          <p:nvPr/>
        </p:nvSpPr>
        <p:spPr>
          <a:xfrm>
            <a:off x="4617720"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617720"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Strange values</a:t>
            </a:r>
            <a:endParaRPr lang="en-US" sz="1800" dirty="0"/>
          </a:p>
        </p:txBody>
      </p:sp>
      <p:sp>
        <p:nvSpPr>
          <p:cNvPr id="15" name="Text 13"/>
          <p:cNvSpPr/>
          <p:nvPr/>
        </p:nvSpPr>
        <p:spPr>
          <a:xfrm>
            <a:off x="4617720"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capital.gain uses 99999 as a top-code sentinel, not as an amount of money</a:t>
            </a:r>
            <a:endParaRPr lang="en-US" sz="1300" dirty="0"/>
          </a:p>
        </p:txBody>
      </p:sp>
      <p:sp>
        <p:nvSpPr>
          <p:cNvPr id="16" name="Text 14"/>
          <p:cNvSpPr/>
          <p:nvPr/>
        </p:nvSpPr>
        <p:spPr>
          <a:xfrm>
            <a:off x="4617720"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159</a:t>
            </a:r>
            <a:endParaRPr lang="en-US" sz="3200" dirty="0"/>
          </a:p>
        </p:txBody>
      </p:sp>
      <p:sp>
        <p:nvSpPr>
          <p:cNvPr id="17" name="Text 15"/>
          <p:cNvSpPr/>
          <p:nvPr/>
        </p:nvSpPr>
        <p:spPr>
          <a:xfrm>
            <a:off x="4617720"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records, next real value 41,310</a:t>
            </a:r>
            <a:endParaRPr lang="en-US" sz="1150" dirty="0"/>
          </a:p>
        </p:txBody>
      </p:sp>
      <p:sp>
        <p:nvSpPr>
          <p:cNvPr id="18" name="Shape 16"/>
          <p:cNvSpPr/>
          <p:nvPr/>
        </p:nvSpPr>
        <p:spPr>
          <a:xfrm>
            <a:off x="8083296" y="1371600"/>
            <a:ext cx="3520440" cy="3310128"/>
          </a:xfrm>
          <a:prstGeom prst="roundRect">
            <a:avLst>
              <a:gd name="adj" fmla="val 165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9" name="Shape 17"/>
          <p:cNvSpPr/>
          <p:nvPr/>
        </p:nvSpPr>
        <p:spPr>
          <a:xfrm>
            <a:off x="8375904" y="1664208"/>
            <a:ext cx="384048" cy="384048"/>
          </a:xfrm>
          <a:prstGeom prst="ellipse">
            <a:avLst/>
          </a:prstGeom>
          <a:solidFill>
            <a:srgbClr val="B3453A"/>
          </a:solidFill>
          <a:ln w="12700">
            <a:solidFill>
              <a:srgbClr val="B3453A"/>
            </a:solidFill>
            <a:prstDash val="solid"/>
          </a:ln>
        </p:spPr>
      </p:sp>
      <p:sp>
        <p:nvSpPr>
          <p:cNvPr id="20" name="Text 18"/>
          <p:cNvSpPr/>
          <p:nvPr/>
        </p:nvSpPr>
        <p:spPr>
          <a:xfrm>
            <a:off x="8375904"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8375904" y="2212848"/>
            <a:ext cx="2926080" cy="320040"/>
          </a:xfrm>
          <a:prstGeom prst="rect">
            <a:avLst/>
          </a:prstGeom>
          <a:noFill/>
          <a:ln/>
        </p:spPr>
        <p:txBody>
          <a:bodyPr wrap="square" lIns="0" tIns="0" rIns="0" bIns="0" rtlCol="0" anchor="ctr"/>
          <a:lstStyle/>
          <a:p>
            <a:pPr indent="0" marL="0">
              <a:buNone/>
            </a:pPr>
            <a:r>
              <a:rPr lang="en-US" sz="1800" b="1" dirty="0">
                <a:solidFill>
                  <a:srgbClr val="24303A"/>
                </a:solidFill>
                <a:latin typeface="Cambria" pitchFamily="34" charset="0"/>
                <a:ea typeface="Cambria" pitchFamily="34" charset="-122"/>
                <a:cs typeface="Cambria" pitchFamily="34" charset="-120"/>
              </a:rPr>
              <a:t>Duplicates</a:t>
            </a:r>
            <a:endParaRPr lang="en-US" sz="1800" dirty="0"/>
          </a:p>
        </p:txBody>
      </p:sp>
      <p:sp>
        <p:nvSpPr>
          <p:cNvPr id="22" name="Text 20"/>
          <p:cNvSpPr/>
          <p:nvPr/>
        </p:nvSpPr>
        <p:spPr>
          <a:xfrm>
            <a:off x="8375904" y="2606040"/>
            <a:ext cx="2926080" cy="13716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and no identifier column to adjudicate them</a:t>
            </a:r>
            <a:endParaRPr lang="en-US" sz="1300" dirty="0"/>
          </a:p>
        </p:txBody>
      </p:sp>
      <p:sp>
        <p:nvSpPr>
          <p:cNvPr id="23" name="Text 21"/>
          <p:cNvSpPr/>
          <p:nvPr/>
        </p:nvSpPr>
        <p:spPr>
          <a:xfrm>
            <a:off x="8375904" y="3639312"/>
            <a:ext cx="2926080" cy="548640"/>
          </a:xfrm>
          <a:prstGeom prst="rect">
            <a:avLst/>
          </a:prstGeom>
          <a:noFill/>
          <a:ln/>
        </p:spPr>
        <p:txBody>
          <a:bodyPr wrap="square" lIns="0" tIns="0" rIns="0" bIns="0" rtlCol="0" anchor="ctr"/>
          <a:lstStyle/>
          <a:p>
            <a:pPr indent="0" marL="0">
              <a:buNone/>
            </a:pPr>
            <a:r>
              <a:rPr lang="en-US" sz="3200" b="1" dirty="0">
                <a:solidFill>
                  <a:srgbClr val="B3453A"/>
                </a:solidFill>
                <a:latin typeface="Cambria" pitchFamily="34" charset="0"/>
                <a:ea typeface="Cambria" pitchFamily="34" charset="-122"/>
                <a:cs typeface="Cambria" pitchFamily="34" charset="-120"/>
              </a:rPr>
              <a:t>24</a:t>
            </a:r>
            <a:endParaRPr lang="en-US" sz="3200" dirty="0"/>
          </a:p>
        </p:txBody>
      </p:sp>
      <p:sp>
        <p:nvSpPr>
          <p:cNvPr id="24" name="Text 22"/>
          <p:cNvSpPr/>
          <p:nvPr/>
        </p:nvSpPr>
        <p:spPr>
          <a:xfrm>
            <a:off x="8375904" y="4206240"/>
            <a:ext cx="2926080" cy="45720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duplicate rows, no primary key</a:t>
            </a:r>
            <a:endParaRPr lang="en-US" sz="1150" dirty="0"/>
          </a:p>
        </p:txBody>
      </p:sp>
      <p:sp>
        <p:nvSpPr>
          <p:cNvPr id="25" name="Text 23"/>
          <p:cNvSpPr/>
          <p:nvPr/>
        </p:nvSpPr>
        <p:spPr>
          <a:xfrm>
            <a:off x="566928" y="5074920"/>
            <a:ext cx="11027664" cy="4572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Every figure was re-derived from the CSV, not carried over from an earlier draft. Three claims in the first draft did not survive that check and were corrected.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1</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gaps are invisible to every null check</a:t>
            </a:r>
            <a:endParaRPr lang="en-US" sz="3200" dirty="0"/>
          </a:p>
        </p:txBody>
      </p:sp>
      <p:sp>
        <p:nvSpPr>
          <p:cNvPr id="4" name="Shape 2"/>
          <p:cNvSpPr/>
          <p:nvPr/>
        </p:nvSpPr>
        <p:spPr>
          <a:xfrm>
            <a:off x="566928" y="1371600"/>
            <a:ext cx="521208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66344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WHAT THE FILE CLAIMS</a:t>
            </a:r>
            <a:endParaRPr lang="en-US" sz="1050" dirty="0"/>
          </a:p>
        </p:txBody>
      </p:sp>
      <p:sp>
        <p:nvSpPr>
          <p:cNvPr id="6" name="Text 4"/>
          <p:cNvSpPr/>
          <p:nvPr/>
        </p:nvSpPr>
        <p:spPr>
          <a:xfrm>
            <a:off x="841248" y="1920240"/>
            <a:ext cx="4663440" cy="365760"/>
          </a:xfrm>
          <a:prstGeom prst="rect">
            <a:avLst/>
          </a:prstGeom>
          <a:noFill/>
          <a:ln/>
        </p:spPr>
        <p:txBody>
          <a:bodyPr wrap="square" lIns="0" tIns="0" rIns="0" bIns="0" rtlCol="0" anchor="ctr"/>
          <a:lstStyle/>
          <a:p>
            <a:pPr indent="0" marL="0">
              <a:buNone/>
            </a:pPr>
            <a:r>
              <a:rPr lang="en-US" sz="1700" b="1" dirty="0">
                <a:solidFill>
                  <a:srgbClr val="24303A"/>
                </a:solidFill>
                <a:latin typeface="Consolas" pitchFamily="34" charset="0"/>
                <a:ea typeface="Consolas" pitchFamily="34" charset="-122"/>
                <a:cs typeface="Consolas" pitchFamily="34" charset="-120"/>
              </a:rPr>
              <a:t>df.isna().sum()  =  0</a:t>
            </a:r>
            <a:endParaRPr lang="en-US" sz="1700" dirty="0"/>
          </a:p>
        </p:txBody>
      </p:sp>
      <p:sp>
        <p:nvSpPr>
          <p:cNvPr id="7" name="Text 5"/>
          <p:cNvSpPr/>
          <p:nvPr/>
        </p:nvSpPr>
        <p:spPr>
          <a:xfrm>
            <a:off x="841248" y="2331720"/>
            <a:ext cx="466344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across all fifteen columns</a:t>
            </a:r>
            <a:endParaRPr lang="en-US" sz="1200" dirty="0"/>
          </a:p>
        </p:txBody>
      </p:sp>
      <p:sp>
        <p:nvSpPr>
          <p:cNvPr id="8" name="Shape 6"/>
          <p:cNvSpPr/>
          <p:nvPr/>
        </p:nvSpPr>
        <p:spPr>
          <a:xfrm>
            <a:off x="6035040" y="1371600"/>
            <a:ext cx="5559552"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309360" y="1600200"/>
            <a:ext cx="502920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WHAT IS ACTUALLY THERE</a:t>
            </a:r>
            <a:endParaRPr lang="en-US" sz="1050" dirty="0"/>
          </a:p>
        </p:txBody>
      </p:sp>
      <p:sp>
        <p:nvSpPr>
          <p:cNvPr id="10" name="Text 8"/>
          <p:cNvSpPr/>
          <p:nvPr/>
        </p:nvSpPr>
        <p:spPr>
          <a:xfrm>
            <a:off x="6309360" y="1920240"/>
            <a:ext cx="5029200" cy="365760"/>
          </a:xfrm>
          <a:prstGeom prst="rect">
            <a:avLst/>
          </a:prstGeom>
          <a:noFill/>
          <a:ln/>
        </p:spPr>
        <p:txBody>
          <a:bodyPr wrap="square" lIns="0" tIns="0" rIns="0" bIns="0" rtlCol="0" anchor="ctr"/>
          <a:lstStyle/>
          <a:p>
            <a:pPr indent="0" marL="0">
              <a:buNone/>
            </a:pPr>
            <a:r>
              <a:rPr lang="en-US" sz="1700" b="1" dirty="0">
                <a:solidFill>
                  <a:srgbClr val="B3453A"/>
                </a:solidFill>
                <a:latin typeface="Consolas" pitchFamily="34" charset="0"/>
                <a:ea typeface="Consolas" pitchFamily="34" charset="-122"/>
                <a:cs typeface="Consolas" pitchFamily="34" charset="-120"/>
              </a:rPr>
              <a:t>(df == "?").sum()  =  4,262</a:t>
            </a:r>
            <a:endParaRPr lang="en-US" sz="1700" dirty="0"/>
          </a:p>
        </p:txBody>
      </p:sp>
      <p:sp>
        <p:nvSpPr>
          <p:cNvPr id="11" name="Text 9"/>
          <p:cNvSpPr/>
          <p:nvPr/>
        </p:nvSpPr>
        <p:spPr>
          <a:xfrm>
            <a:off x="6309360" y="2331720"/>
            <a:ext cx="5029200" cy="32004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2,399 records, 7.4 per cent of the file</a:t>
            </a:r>
            <a:endParaRPr lang="en-US" sz="1200" dirty="0"/>
          </a:p>
        </p:txBody>
      </p:sp>
      <p:sp>
        <p:nvSpPr>
          <p:cNvPr id="12" name="Text 10"/>
          <p:cNvSpPr/>
          <p:nvPr/>
        </p:nvSpPr>
        <p:spPr>
          <a:xfrm>
            <a:off x="566928" y="3063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pattern is mechanical, not semantic</a:t>
            </a:r>
            <a:endParaRPr lang="en-US" sz="1900" dirty="0"/>
          </a:p>
        </p:txBody>
      </p:sp>
      <p:sp>
        <p:nvSpPr>
          <p:cNvPr id="13" name="Text 11"/>
          <p:cNvSpPr/>
          <p:nvPr/>
        </p:nvSpPr>
        <p:spPr>
          <a:xfrm>
            <a:off x="566928" y="3520440"/>
            <a:ext cx="11027664" cy="137160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workclass and occupation are missing on exactly the same 1,836 records, a complete overlap. That is one non-response event copied into two fields, not two independent problems.</a:t>
            </a:r>
            <a:endParaRPr lang="en-US" sz="1350" dirty="0"/>
          </a:p>
          <a:p>
            <a:pPr marL="342900" indent="-342900">
              <a:lnSpc>
                <a:spcPct val="110000"/>
              </a:lnSpc>
              <a:spcAft>
                <a:spcPts val="900"/>
              </a:spcAft>
              <a:buSzPct val="100000"/>
              <a:buChar char="•"/>
            </a:pPr>
            <a:r>
              <a:rPr lang="en-US" sz="1350" dirty="0">
                <a:solidFill>
                  <a:srgbClr val="24303A"/>
                </a:solidFill>
                <a:latin typeface="Calibri" pitchFamily="34" charset="0"/>
                <a:ea typeface="Calibri" pitchFamily="34" charset="-122"/>
                <a:cs typeface="Calibri" pitchFamily="34" charset="-120"/>
              </a:rPr>
              <a:t>There is no record where only workclass is blank.</a:t>
            </a:r>
            <a:endParaRPr lang="en-US" sz="1350" dirty="0"/>
          </a:p>
        </p:txBody>
      </p:sp>
      <p:sp>
        <p:nvSpPr>
          <p:cNvPr id="14" name="Shape 12"/>
          <p:cNvSpPr/>
          <p:nvPr/>
        </p:nvSpPr>
        <p:spPr>
          <a:xfrm>
            <a:off x="566928" y="4892040"/>
            <a:ext cx="11027664" cy="1234440"/>
          </a:xfrm>
          <a:prstGeom prst="roundRect">
            <a:avLst>
              <a:gd name="adj" fmla="val 4444"/>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59536" y="5102352"/>
            <a:ext cx="640080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The exception that sets the cleaning rule</a:t>
            </a:r>
            <a:endParaRPr lang="en-US" sz="1600" dirty="0"/>
          </a:p>
        </p:txBody>
      </p:sp>
      <p:sp>
        <p:nvSpPr>
          <p:cNvPr id="16" name="Text 14"/>
          <p:cNvSpPr/>
          <p:nvPr/>
        </p:nvSpPr>
        <p:spPr>
          <a:xfrm>
            <a:off x="859536" y="5504688"/>
            <a:ext cx="10424160" cy="50292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Seven records have occupation "?" but a real workclass of Never-worked. Those people genuinely have no occupation. A blanket replace of "?" with null would destroy a real value.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placeholder is being averaged as if it were money</a:t>
            </a:r>
            <a:endParaRPr lang="en-US" sz="3200" dirty="0"/>
          </a:p>
        </p:txBody>
      </p:sp>
      <p:sp>
        <p:nvSpPr>
          <p:cNvPr id="4" name="Text 2"/>
          <p:cNvSpPr/>
          <p:nvPr/>
        </p:nvSpPr>
        <p:spPr>
          <a:xfrm>
            <a:off x="566928" y="1417320"/>
            <a:ext cx="24688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159</a:t>
            </a:r>
            <a:endParaRPr lang="en-US" sz="4000" dirty="0"/>
          </a:p>
        </p:txBody>
      </p:sp>
      <p:sp>
        <p:nvSpPr>
          <p:cNvPr id="5" name="Text 3"/>
          <p:cNvSpPr/>
          <p:nvPr/>
        </p:nvSpPr>
        <p:spPr>
          <a:xfrm>
            <a:off x="566928" y="2167128"/>
            <a:ext cx="24688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records hold 99999</a:t>
            </a:r>
            <a:endParaRPr lang="en-US" sz="1200" dirty="0"/>
          </a:p>
        </p:txBody>
      </p:sp>
      <p:sp>
        <p:nvSpPr>
          <p:cNvPr id="6" name="Text 4"/>
          <p:cNvSpPr/>
          <p:nvPr/>
        </p:nvSpPr>
        <p:spPr>
          <a:xfrm>
            <a:off x="3200400" y="1417320"/>
            <a:ext cx="28346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41,310</a:t>
            </a:r>
            <a:endParaRPr lang="en-US" sz="4000" dirty="0"/>
          </a:p>
        </p:txBody>
      </p:sp>
      <p:sp>
        <p:nvSpPr>
          <p:cNvPr id="7" name="Text 5"/>
          <p:cNvSpPr/>
          <p:nvPr/>
        </p:nvSpPr>
        <p:spPr>
          <a:xfrm>
            <a:off x="3200400" y="2167128"/>
            <a:ext cx="28346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the next real value below it</a:t>
            </a:r>
            <a:endParaRPr lang="en-US" sz="1200" dirty="0"/>
          </a:p>
        </p:txBody>
      </p:sp>
      <p:sp>
        <p:nvSpPr>
          <p:cNvPr id="8" name="Text 6"/>
          <p:cNvSpPr/>
          <p:nvPr/>
        </p:nvSpPr>
        <p:spPr>
          <a:xfrm>
            <a:off x="6400800" y="1417320"/>
            <a:ext cx="301752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58,689</a:t>
            </a:r>
            <a:endParaRPr lang="en-US" sz="4000" dirty="0"/>
          </a:p>
        </p:txBody>
      </p:sp>
      <p:sp>
        <p:nvSpPr>
          <p:cNvPr id="9" name="Text 7"/>
          <p:cNvSpPr/>
          <p:nvPr/>
        </p:nvSpPr>
        <p:spPr>
          <a:xfrm>
            <a:off x="6400800" y="2167128"/>
            <a:ext cx="301752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wide gap with nothing in it</a:t>
            </a:r>
            <a:endParaRPr lang="en-US" sz="1200" dirty="0"/>
          </a:p>
        </p:txBody>
      </p:sp>
      <p:sp>
        <p:nvSpPr>
          <p:cNvPr id="10" name="Text 8"/>
          <p:cNvSpPr/>
          <p:nvPr/>
        </p:nvSpPr>
        <p:spPr>
          <a:xfrm>
            <a:off x="9601200" y="1417320"/>
            <a:ext cx="201168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100%</a:t>
            </a:r>
            <a:endParaRPr lang="en-US" sz="4000" dirty="0"/>
          </a:p>
        </p:txBody>
      </p:sp>
      <p:sp>
        <p:nvSpPr>
          <p:cNvPr id="11" name="Text 9"/>
          <p:cNvSpPr/>
          <p:nvPr/>
        </p:nvSpPr>
        <p:spPr>
          <a:xfrm>
            <a:off x="9601200" y="2167128"/>
            <a:ext cx="201168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of them high income</a:t>
            </a:r>
            <a:endParaRPr lang="en-US" sz="1200" dirty="0"/>
          </a:p>
        </p:txBody>
      </p:sp>
      <p:sp>
        <p:nvSpPr>
          <p:cNvPr id="12" name="Text 10"/>
          <p:cNvSpPr/>
          <p:nvPr/>
        </p:nvSpPr>
        <p:spPr>
          <a:xfrm>
            <a:off x="566928" y="2880360"/>
            <a:ext cx="11027664" cy="50292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Real income distributions decay continuously. They do not jump 58,689 with no observations in between. A run of nines is the standard census convention for a censored value.</a:t>
            </a:r>
            <a:endParaRPr lang="en-US" sz="1400" dirty="0"/>
          </a:p>
        </p:txBody>
      </p:sp>
      <p:sp>
        <p:nvSpPr>
          <p:cNvPr id="13" name="Text 11"/>
          <p:cNvSpPr/>
          <p:nvPr/>
        </p:nvSpPr>
        <p:spPr>
          <a:xfrm>
            <a:off x="566928" y="361188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What it does to the allocation ranking</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069080"/>
          <a:ext cx="11027664" cy="914400"/>
        </p:xfrm>
        <a:graphic>
          <a:graphicData uri="http://schemas.openxmlformats.org/drawingml/2006/table">
            <a:tbl>
              <a:tblPr/>
              <a:tblGrid>
                <a:gridCol w="3712464"/>
                <a:gridCol w="2011680"/>
                <a:gridCol w="1463040"/>
                <a:gridCol w="2011680"/>
                <a:gridCol w="182880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with 99999</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Mean excluded</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Rank</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Prof-specialty</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$2,727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$1,127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Exec-managerial</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$2,263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$1,243</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24303A"/>
                          </a:solidFill>
                          <a:latin typeface="Calibri" pitchFamily="34" charset="0"/>
                          <a:ea typeface="Calibri" pitchFamily="34" charset="-122"/>
                          <a:cs typeface="Calibri" pitchFamily="34" charset="-120"/>
                        </a:rPr>
                        <a:t>Farming-fishing</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$590</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430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15" name="Text 12"/>
          <p:cNvSpPr/>
          <p:nvPr/>
        </p:nvSpPr>
        <p:spPr>
          <a:xfrm>
            <a:off x="566928" y="5760720"/>
            <a:ext cx="11027664"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Nine of the fourteen occupations change position once the sentinel is removed, and the top two swap. Farming-fishing is the clearest case: it holds no censored records at all, so its mean never moves, yet it still rises three places because the inflated occupations above it fall away.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1, DEFECT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No key, so the data cannot be updated, joined or audited</a:t>
            </a:r>
            <a:endParaRPr lang="en-US" sz="3200" dirty="0"/>
          </a:p>
        </p:txBody>
      </p:sp>
      <p:sp>
        <p:nvSpPr>
          <p:cNvPr id="4" name="Shape 2"/>
          <p:cNvSpPr/>
          <p:nvPr/>
        </p:nvSpPr>
        <p:spPr>
          <a:xfrm>
            <a:off x="566928" y="1371600"/>
            <a:ext cx="5394960"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41248"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THE DUPLICATES</a:t>
            </a:r>
            <a:endParaRPr lang="en-US" sz="1050" dirty="0"/>
          </a:p>
        </p:txBody>
      </p:sp>
      <p:sp>
        <p:nvSpPr>
          <p:cNvPr id="6" name="Text 4"/>
          <p:cNvSpPr/>
          <p:nvPr/>
        </p:nvSpPr>
        <p:spPr>
          <a:xfrm>
            <a:off x="841248"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24</a:t>
            </a:r>
            <a:endParaRPr lang="en-US" sz="4000" dirty="0"/>
          </a:p>
        </p:txBody>
      </p:sp>
      <p:sp>
        <p:nvSpPr>
          <p:cNvPr id="7" name="Text 5"/>
          <p:cNvSpPr/>
          <p:nvPr/>
        </p:nvSpPr>
        <p:spPr>
          <a:xfrm>
            <a:off x="841248"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exact duplicate records, in 23 distinct patterns. One appears three times.</a:t>
            </a:r>
            <a:endParaRPr lang="en-US" sz="1300" dirty="0"/>
          </a:p>
        </p:txBody>
      </p:sp>
      <p:sp>
        <p:nvSpPr>
          <p:cNvPr id="8" name="Shape 6"/>
          <p:cNvSpPr/>
          <p:nvPr/>
        </p:nvSpPr>
        <p:spPr>
          <a:xfrm>
            <a:off x="6217920" y="1371600"/>
            <a:ext cx="5376672" cy="2011680"/>
          </a:xfrm>
          <a:prstGeom prst="roundRect">
            <a:avLst>
              <a:gd name="adj" fmla="val 2727"/>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9" name="Text 7"/>
          <p:cNvSpPr/>
          <p:nvPr/>
        </p:nvSpPr>
        <p:spPr>
          <a:xfrm>
            <a:off x="6492240" y="1600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5E6B77"/>
                </a:solidFill>
                <a:latin typeface="Calibri" pitchFamily="34" charset="0"/>
                <a:ea typeface="Calibri" pitchFamily="34" charset="-122"/>
                <a:cs typeface="Calibri" pitchFamily="34" charset="-120"/>
              </a:rPr>
              <a:t>AND NOTHING TO ADJUDICATE THEM WITH</a:t>
            </a:r>
            <a:endParaRPr lang="en-US" sz="1050" dirty="0"/>
          </a:p>
        </p:txBody>
      </p:sp>
      <p:sp>
        <p:nvSpPr>
          <p:cNvPr id="10" name="Text 8"/>
          <p:cNvSpPr/>
          <p:nvPr/>
        </p:nvSpPr>
        <p:spPr>
          <a:xfrm>
            <a:off x="6492240" y="1874520"/>
            <a:ext cx="4846320" cy="640080"/>
          </a:xfrm>
          <a:prstGeom prst="rect">
            <a:avLst/>
          </a:prstGeom>
          <a:noFill/>
          <a:ln/>
        </p:spPr>
        <p:txBody>
          <a:bodyPr wrap="square" lIns="0" tIns="0" rIns="0" bIns="0" rtlCol="0" anchor="ctr"/>
          <a:lstStyle/>
          <a:p>
            <a:pPr indent="0" marL="0">
              <a:buNone/>
            </a:pPr>
            <a:r>
              <a:rPr lang="en-US" sz="4000" b="1" dirty="0">
                <a:solidFill>
                  <a:srgbClr val="B3453A"/>
                </a:solidFill>
                <a:latin typeface="Cambria" pitchFamily="34" charset="0"/>
                <a:ea typeface="Cambria" pitchFamily="34" charset="-122"/>
                <a:cs typeface="Cambria" pitchFamily="34" charset="-120"/>
              </a:rPr>
              <a:t>17,231</a:t>
            </a:r>
            <a:endParaRPr lang="en-US" sz="4000" dirty="0"/>
          </a:p>
        </p:txBody>
      </p:sp>
      <p:sp>
        <p:nvSpPr>
          <p:cNvPr id="11" name="Text 9"/>
          <p:cNvSpPr/>
          <p:nvPr/>
        </p:nvSpPr>
        <p:spPr>
          <a:xfrm>
            <a:off x="6492240" y="2560320"/>
            <a:ext cx="4846320" cy="914400"/>
          </a:xfrm>
          <a:prstGeom prst="rect">
            <a:avLst/>
          </a:prstGeom>
          <a:noFill/>
          <a:ln/>
        </p:spPr>
        <p:txBody>
          <a:bodyPr wrap="square" lIns="0" tIns="0" rIns="0" bIns="0" rtlCol="0" anchor="t"/>
          <a:lstStyle/>
          <a:p>
            <a:pPr algn="l" indent="0" marL="0">
              <a:lnSpc>
                <a:spcPct val="115000"/>
              </a:lnSpc>
              <a:buNone/>
            </a:pPr>
            <a:r>
              <a:rPr lang="en-US" sz="1300" dirty="0">
                <a:solidFill>
                  <a:srgbClr val="5E6B77"/>
                </a:solidFill>
                <a:latin typeface="Calibri" pitchFamily="34" charset="0"/>
                <a:ea typeface="Calibri" pitchFamily="34" charset="-122"/>
                <a:cs typeface="Calibri" pitchFamily="34" charset="-120"/>
              </a:rPr>
              <a:t>records share an fnlwgt value with at least one other record, so it cannot serve as a key.</a:t>
            </a:r>
            <a:endParaRPr lang="en-US" sz="1300" dirty="0"/>
          </a:p>
        </p:txBody>
      </p:sp>
      <p:sp>
        <p:nvSpPr>
          <p:cNvPr id="12" name="Text 10"/>
          <p:cNvSpPr/>
          <p:nvPr/>
        </p:nvSpPr>
        <p:spPr>
          <a:xfrm>
            <a:off x="566928" y="3886200"/>
            <a:ext cx="11027664" cy="54864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There is no id, no person_id, no record key of any kind. fnlwgt is a Current Population Survey weight, so respondents with similar demographics receive similar weights by design. Collision is its intended behaviour, not a flaw.</a:t>
            </a:r>
            <a:endParaRPr lang="en-US" sz="1400" dirty="0"/>
          </a:p>
        </p:txBody>
      </p:sp>
      <p:sp>
        <p:nvSpPr>
          <p:cNvPr id="13" name="Shape 11"/>
          <p:cNvSpPr/>
          <p:nvPr/>
        </p:nvSpPr>
        <p:spPr>
          <a:xfrm>
            <a:off x="566928" y="4709160"/>
            <a:ext cx="11027664" cy="1371600"/>
          </a:xfrm>
          <a:prstGeom prst="roundRect">
            <a:avLst>
              <a:gd name="adj" fmla="val 4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14" name="Text 12"/>
          <p:cNvSpPr/>
          <p:nvPr/>
        </p:nvSpPr>
        <p:spPr>
          <a:xfrm>
            <a:off x="859536" y="4919472"/>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Why this is the defect that matters most</a:t>
            </a:r>
            <a:endParaRPr lang="en-US" sz="1600" dirty="0"/>
          </a:p>
        </p:txBody>
      </p:sp>
      <p:sp>
        <p:nvSpPr>
          <p:cNvPr id="15" name="Text 13"/>
          <p:cNvSpPr/>
          <p:nvPr/>
        </p:nvSpPr>
        <p:spPr>
          <a:xfrm>
            <a:off x="859536" y="5285232"/>
            <a:ext cx="10424160" cy="68580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Without a key, funding cannot be linked to the outcome records that delivery partners report back. The success measure is unmeasurable, no incremental refresh is possible, and a decision spending public money has no auditable lineage.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2</a:t>
            </a:r>
            <a:endParaRPr lang="en-US" sz="1300" dirty="0"/>
          </a:p>
        </p:txBody>
      </p:sp>
      <p:sp>
        <p:nvSpPr>
          <p:cNvPr id="3" name="Text 1"/>
          <p:cNvSpPr/>
          <p:nvPr/>
        </p:nvSpPr>
        <p:spPr>
          <a:xfrm>
            <a:off x="566928" y="2514600"/>
            <a:ext cx="10058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Model your dataset</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Design a schema in DuckDB. Decide normalised, star, or a deliberate mix, and write down why.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A star, with two deliberate departures</a:t>
            </a:r>
            <a:endParaRPr lang="en-US" sz="3200" dirty="0"/>
          </a:p>
        </p:txBody>
      </p:sp>
      <p:sp>
        <p:nvSpPr>
          <p:cNvPr id="4" name="Shape 2"/>
          <p:cNvSpPr/>
          <p:nvPr/>
        </p:nvSpPr>
        <p:spPr>
          <a:xfrm>
            <a:off x="3017520" y="2194560"/>
            <a:ext cx="1691640" cy="0"/>
          </a:xfrm>
          <a:prstGeom prst="line">
            <a:avLst/>
          </a:prstGeom>
          <a:noFill/>
          <a:ln w="15875">
            <a:solidFill>
              <a:srgbClr val="C3CBD2"/>
            </a:solidFill>
            <a:prstDash val="solid"/>
          </a:ln>
        </p:spPr>
      </p:sp>
      <p:sp>
        <p:nvSpPr>
          <p:cNvPr id="5" name="Shape 3"/>
          <p:cNvSpPr/>
          <p:nvPr/>
        </p:nvSpPr>
        <p:spPr>
          <a:xfrm>
            <a:off x="7452360" y="2194560"/>
            <a:ext cx="1673352" cy="0"/>
          </a:xfrm>
          <a:prstGeom prst="line">
            <a:avLst/>
          </a:prstGeom>
          <a:noFill/>
          <a:ln w="15875">
            <a:solidFill>
              <a:srgbClr val="C3CBD2"/>
            </a:solidFill>
            <a:prstDash val="solid"/>
          </a:ln>
        </p:spPr>
      </p:sp>
      <p:sp>
        <p:nvSpPr>
          <p:cNvPr id="6" name="Shape 4"/>
          <p:cNvSpPr/>
          <p:nvPr/>
        </p:nvSpPr>
        <p:spPr>
          <a:xfrm>
            <a:off x="3017520" y="2816352"/>
            <a:ext cx="1691640" cy="0"/>
          </a:xfrm>
          <a:prstGeom prst="line">
            <a:avLst/>
          </a:prstGeom>
          <a:noFill/>
          <a:ln w="15875">
            <a:solidFill>
              <a:srgbClr val="C3CBD2"/>
            </a:solidFill>
            <a:prstDash val="solid"/>
          </a:ln>
        </p:spPr>
      </p:sp>
      <p:sp>
        <p:nvSpPr>
          <p:cNvPr id="7" name="Shape 5"/>
          <p:cNvSpPr/>
          <p:nvPr/>
        </p:nvSpPr>
        <p:spPr>
          <a:xfrm>
            <a:off x="7452360" y="2816352"/>
            <a:ext cx="1673352" cy="0"/>
          </a:xfrm>
          <a:prstGeom prst="line">
            <a:avLst/>
          </a:prstGeom>
          <a:noFill/>
          <a:ln w="15875">
            <a:solidFill>
              <a:srgbClr val="C3CBD2"/>
            </a:solidFill>
            <a:prstDash val="solid"/>
          </a:ln>
        </p:spPr>
      </p:sp>
      <p:sp>
        <p:nvSpPr>
          <p:cNvPr id="8" name="Shape 6"/>
          <p:cNvSpPr/>
          <p:nvPr/>
        </p:nvSpPr>
        <p:spPr>
          <a:xfrm>
            <a:off x="3017520" y="3438144"/>
            <a:ext cx="1691640" cy="0"/>
          </a:xfrm>
          <a:prstGeom prst="line">
            <a:avLst/>
          </a:prstGeom>
          <a:noFill/>
          <a:ln w="15875">
            <a:solidFill>
              <a:srgbClr val="C3CBD2"/>
            </a:solidFill>
            <a:prstDash val="solid"/>
          </a:ln>
        </p:spPr>
      </p:sp>
      <p:sp>
        <p:nvSpPr>
          <p:cNvPr id="9" name="Shape 7"/>
          <p:cNvSpPr/>
          <p:nvPr/>
        </p:nvSpPr>
        <p:spPr>
          <a:xfrm>
            <a:off x="7452360" y="3438144"/>
            <a:ext cx="1673352" cy="0"/>
          </a:xfrm>
          <a:prstGeom prst="line">
            <a:avLst/>
          </a:prstGeom>
          <a:noFill/>
          <a:ln w="15875">
            <a:solidFill>
              <a:srgbClr val="C3CBD2"/>
            </a:solidFill>
            <a:prstDash val="solid"/>
          </a:ln>
        </p:spPr>
      </p:sp>
      <p:sp>
        <p:nvSpPr>
          <p:cNvPr id="10" name="Shape 8"/>
          <p:cNvSpPr/>
          <p:nvPr/>
        </p:nvSpPr>
        <p:spPr>
          <a:xfrm>
            <a:off x="3017520" y="4059936"/>
            <a:ext cx="1691640" cy="0"/>
          </a:xfrm>
          <a:prstGeom prst="line">
            <a:avLst/>
          </a:prstGeom>
          <a:noFill/>
          <a:ln w="15875">
            <a:solidFill>
              <a:srgbClr val="C3CBD2"/>
            </a:solidFill>
            <a:prstDash val="solid"/>
          </a:ln>
        </p:spPr>
      </p:sp>
      <p:sp>
        <p:nvSpPr>
          <p:cNvPr id="11" name="Shape 9"/>
          <p:cNvSpPr/>
          <p:nvPr/>
        </p:nvSpPr>
        <p:spPr>
          <a:xfrm>
            <a:off x="7452360" y="4059936"/>
            <a:ext cx="1673352" cy="0"/>
          </a:xfrm>
          <a:prstGeom prst="line">
            <a:avLst/>
          </a:prstGeom>
          <a:noFill/>
          <a:ln w="15875">
            <a:solidFill>
              <a:srgbClr val="C3CBD2"/>
            </a:solidFill>
            <a:prstDash val="solid"/>
          </a:ln>
        </p:spPr>
      </p:sp>
      <p:sp>
        <p:nvSpPr>
          <p:cNvPr id="12" name="Shape 10"/>
          <p:cNvSpPr/>
          <p:nvPr/>
        </p:nvSpPr>
        <p:spPr>
          <a:xfrm>
            <a:off x="685800" y="1965960"/>
            <a:ext cx="2331720" cy="457200"/>
          </a:xfrm>
          <a:prstGeom prst="roundRect">
            <a:avLst>
              <a:gd name="adj" fmla="val 10000"/>
            </a:avLst>
          </a:prstGeom>
          <a:solidFill>
            <a:srgbClr val="F1F3F5"/>
          </a:solidFill>
          <a:ln w="12700">
            <a:solidFill>
              <a:srgbClr val="C3CBD2"/>
            </a:solidFill>
            <a:prstDash val="solid"/>
          </a:ln>
        </p:spPr>
      </p:sp>
      <p:sp>
        <p:nvSpPr>
          <p:cNvPr id="13" name="Text 11"/>
          <p:cNvSpPr/>
          <p:nvPr/>
        </p:nvSpPr>
        <p:spPr>
          <a:xfrm>
            <a:off x="685800"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dim_workclass</a:t>
            </a:r>
            <a:endParaRPr lang="en-US" sz="1150" dirty="0"/>
          </a:p>
        </p:txBody>
      </p:sp>
      <p:sp>
        <p:nvSpPr>
          <p:cNvPr id="14" name="Shape 12"/>
          <p:cNvSpPr/>
          <p:nvPr/>
        </p:nvSpPr>
        <p:spPr>
          <a:xfrm>
            <a:off x="685800" y="2587752"/>
            <a:ext cx="2331720" cy="457200"/>
          </a:xfrm>
          <a:prstGeom prst="roundRect">
            <a:avLst>
              <a:gd name="adj" fmla="val 10000"/>
            </a:avLst>
          </a:prstGeom>
          <a:solidFill>
            <a:srgbClr val="F1F3F5"/>
          </a:solidFill>
          <a:ln w="12700">
            <a:solidFill>
              <a:srgbClr val="C3CBD2"/>
            </a:solidFill>
            <a:prstDash val="solid"/>
          </a:ln>
        </p:spPr>
      </p:sp>
      <p:sp>
        <p:nvSpPr>
          <p:cNvPr id="15" name="Text 13"/>
          <p:cNvSpPr/>
          <p:nvPr/>
        </p:nvSpPr>
        <p:spPr>
          <a:xfrm>
            <a:off x="685800"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dim_education</a:t>
            </a:r>
            <a:endParaRPr lang="en-US" sz="1150" dirty="0"/>
          </a:p>
        </p:txBody>
      </p:sp>
      <p:sp>
        <p:nvSpPr>
          <p:cNvPr id="16" name="Shape 14"/>
          <p:cNvSpPr/>
          <p:nvPr/>
        </p:nvSpPr>
        <p:spPr>
          <a:xfrm>
            <a:off x="685800" y="3209544"/>
            <a:ext cx="2331720" cy="457200"/>
          </a:xfrm>
          <a:prstGeom prst="roundRect">
            <a:avLst>
              <a:gd name="adj" fmla="val 10000"/>
            </a:avLst>
          </a:prstGeom>
          <a:solidFill>
            <a:srgbClr val="F1F3F5"/>
          </a:solidFill>
          <a:ln w="12700">
            <a:solidFill>
              <a:srgbClr val="C3CBD2"/>
            </a:solidFill>
            <a:prstDash val="solid"/>
          </a:ln>
        </p:spPr>
      </p:sp>
      <p:sp>
        <p:nvSpPr>
          <p:cNvPr id="17" name="Text 15"/>
          <p:cNvSpPr/>
          <p:nvPr/>
        </p:nvSpPr>
        <p:spPr>
          <a:xfrm>
            <a:off x="685800"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dim_marital_status</a:t>
            </a:r>
            <a:endParaRPr lang="en-US" sz="1150" dirty="0"/>
          </a:p>
        </p:txBody>
      </p:sp>
      <p:sp>
        <p:nvSpPr>
          <p:cNvPr id="18" name="Shape 16"/>
          <p:cNvSpPr/>
          <p:nvPr/>
        </p:nvSpPr>
        <p:spPr>
          <a:xfrm>
            <a:off x="685800" y="3831336"/>
            <a:ext cx="2331720" cy="457200"/>
          </a:xfrm>
          <a:prstGeom prst="roundRect">
            <a:avLst>
              <a:gd name="adj" fmla="val 10000"/>
            </a:avLst>
          </a:prstGeom>
          <a:solidFill>
            <a:srgbClr val="F1F3F5"/>
          </a:solidFill>
          <a:ln w="12700">
            <a:solidFill>
              <a:srgbClr val="C3CBD2"/>
            </a:solidFill>
            <a:prstDash val="solid"/>
          </a:ln>
        </p:spPr>
      </p:sp>
      <p:sp>
        <p:nvSpPr>
          <p:cNvPr id="19" name="Text 17"/>
          <p:cNvSpPr/>
          <p:nvPr/>
        </p:nvSpPr>
        <p:spPr>
          <a:xfrm>
            <a:off x="685800"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dim_occupation</a:t>
            </a:r>
            <a:endParaRPr lang="en-US" sz="1150" dirty="0"/>
          </a:p>
        </p:txBody>
      </p:sp>
      <p:sp>
        <p:nvSpPr>
          <p:cNvPr id="20" name="Shape 18"/>
          <p:cNvSpPr/>
          <p:nvPr/>
        </p:nvSpPr>
        <p:spPr>
          <a:xfrm>
            <a:off x="9125712" y="1965960"/>
            <a:ext cx="2331720" cy="457200"/>
          </a:xfrm>
          <a:prstGeom prst="roundRect">
            <a:avLst>
              <a:gd name="adj" fmla="val 10000"/>
            </a:avLst>
          </a:prstGeom>
          <a:solidFill>
            <a:srgbClr val="F1F3F5"/>
          </a:solidFill>
          <a:ln w="12700">
            <a:solidFill>
              <a:srgbClr val="C3CBD2"/>
            </a:solidFill>
            <a:prstDash val="solid"/>
          </a:ln>
        </p:spPr>
      </p:sp>
      <p:sp>
        <p:nvSpPr>
          <p:cNvPr id="21" name="Text 19"/>
          <p:cNvSpPr/>
          <p:nvPr/>
        </p:nvSpPr>
        <p:spPr>
          <a:xfrm>
            <a:off x="9125712" y="1965960"/>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dim_relationship</a:t>
            </a:r>
            <a:endParaRPr lang="en-US" sz="1150" dirty="0"/>
          </a:p>
        </p:txBody>
      </p:sp>
      <p:sp>
        <p:nvSpPr>
          <p:cNvPr id="22" name="Shape 20"/>
          <p:cNvSpPr/>
          <p:nvPr/>
        </p:nvSpPr>
        <p:spPr>
          <a:xfrm>
            <a:off x="9125712" y="2587752"/>
            <a:ext cx="2331720" cy="457200"/>
          </a:xfrm>
          <a:prstGeom prst="roundRect">
            <a:avLst>
              <a:gd name="adj" fmla="val 10000"/>
            </a:avLst>
          </a:prstGeom>
          <a:solidFill>
            <a:srgbClr val="F1F3F5"/>
          </a:solidFill>
          <a:ln w="12700">
            <a:solidFill>
              <a:srgbClr val="C3CBD2"/>
            </a:solidFill>
            <a:prstDash val="solid"/>
          </a:ln>
        </p:spPr>
      </p:sp>
      <p:sp>
        <p:nvSpPr>
          <p:cNvPr id="23" name="Text 21"/>
          <p:cNvSpPr/>
          <p:nvPr/>
        </p:nvSpPr>
        <p:spPr>
          <a:xfrm>
            <a:off x="9125712" y="2587752"/>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dim_race</a:t>
            </a:r>
            <a:endParaRPr lang="en-US" sz="1150" dirty="0"/>
          </a:p>
        </p:txBody>
      </p:sp>
      <p:sp>
        <p:nvSpPr>
          <p:cNvPr id="24" name="Shape 22"/>
          <p:cNvSpPr/>
          <p:nvPr/>
        </p:nvSpPr>
        <p:spPr>
          <a:xfrm>
            <a:off x="9125712" y="3209544"/>
            <a:ext cx="2331720" cy="457200"/>
          </a:xfrm>
          <a:prstGeom prst="roundRect">
            <a:avLst>
              <a:gd name="adj" fmla="val 10000"/>
            </a:avLst>
          </a:prstGeom>
          <a:solidFill>
            <a:srgbClr val="F1F3F5"/>
          </a:solidFill>
          <a:ln w="12700">
            <a:solidFill>
              <a:srgbClr val="C3CBD2"/>
            </a:solidFill>
            <a:prstDash val="solid"/>
          </a:ln>
        </p:spPr>
      </p:sp>
      <p:sp>
        <p:nvSpPr>
          <p:cNvPr id="25" name="Text 23"/>
          <p:cNvSpPr/>
          <p:nvPr/>
        </p:nvSpPr>
        <p:spPr>
          <a:xfrm>
            <a:off x="9125712" y="3209544"/>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dim_sex</a:t>
            </a:r>
            <a:endParaRPr lang="en-US" sz="1150" dirty="0"/>
          </a:p>
        </p:txBody>
      </p:sp>
      <p:sp>
        <p:nvSpPr>
          <p:cNvPr id="26" name="Shape 24"/>
          <p:cNvSpPr/>
          <p:nvPr/>
        </p:nvSpPr>
        <p:spPr>
          <a:xfrm>
            <a:off x="9125712" y="3831336"/>
            <a:ext cx="2331720" cy="457200"/>
          </a:xfrm>
          <a:prstGeom prst="roundRect">
            <a:avLst>
              <a:gd name="adj" fmla="val 10000"/>
            </a:avLst>
          </a:prstGeom>
          <a:solidFill>
            <a:srgbClr val="F1F3F5"/>
          </a:solidFill>
          <a:ln w="12700">
            <a:solidFill>
              <a:srgbClr val="C3CBD2"/>
            </a:solidFill>
            <a:prstDash val="solid"/>
          </a:ln>
        </p:spPr>
      </p:sp>
      <p:sp>
        <p:nvSpPr>
          <p:cNvPr id="27" name="Text 25"/>
          <p:cNvSpPr/>
          <p:nvPr/>
        </p:nvSpPr>
        <p:spPr>
          <a:xfrm>
            <a:off x="9125712" y="3831336"/>
            <a:ext cx="2331720" cy="457200"/>
          </a:xfrm>
          <a:prstGeom prst="rect">
            <a:avLst/>
          </a:prstGeom>
          <a:noFill/>
          <a:ln/>
        </p:spPr>
        <p:txBody>
          <a:bodyPr wrap="square" lIns="0" tIns="0" rIns="0" bIns="0" rtlCol="0" anchor="ctr"/>
          <a:lstStyle/>
          <a:p>
            <a:pPr algn="ctr" indent="0" marL="0">
              <a:buNone/>
            </a:pPr>
            <a:r>
              <a:rPr lang="en-US" sz="1150" dirty="0">
                <a:solidFill>
                  <a:srgbClr val="24303A"/>
                </a:solidFill>
                <a:latin typeface="Consolas" pitchFamily="34" charset="0"/>
                <a:ea typeface="Consolas" pitchFamily="34" charset="-122"/>
                <a:cs typeface="Consolas" pitchFamily="34" charset="-120"/>
              </a:rPr>
              <a:t>dim_native_country</a:t>
            </a:r>
            <a:endParaRPr lang="en-US" sz="1150" dirty="0"/>
          </a:p>
        </p:txBody>
      </p:sp>
      <p:sp>
        <p:nvSpPr>
          <p:cNvPr id="28" name="Shape 26"/>
          <p:cNvSpPr/>
          <p:nvPr/>
        </p:nvSpPr>
        <p:spPr>
          <a:xfrm>
            <a:off x="4709160" y="2148840"/>
            <a:ext cx="2743200" cy="2377440"/>
          </a:xfrm>
          <a:prstGeom prst="roundRect">
            <a:avLst>
              <a:gd name="adj" fmla="val 1923"/>
            </a:avLst>
          </a:prstGeom>
          <a:solidFill>
            <a:srgbClr val="24303A"/>
          </a:solidFill>
          <a:ln w="12700">
            <a:solidFill>
              <a:srgbClr val="24303A"/>
            </a:solidFill>
            <a:prstDash val="solid"/>
          </a:ln>
        </p:spPr>
      </p:sp>
      <p:sp>
        <p:nvSpPr>
          <p:cNvPr id="29" name="Text 27"/>
          <p:cNvSpPr/>
          <p:nvPr/>
        </p:nvSpPr>
        <p:spPr>
          <a:xfrm>
            <a:off x="4709160" y="2350008"/>
            <a:ext cx="2743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fact_person</a:t>
            </a:r>
            <a:endParaRPr lang="en-US" sz="1500" dirty="0"/>
          </a:p>
        </p:txBody>
      </p:sp>
      <p:sp>
        <p:nvSpPr>
          <p:cNvPr id="30" name="Text 28"/>
          <p:cNvSpPr/>
          <p:nvPr/>
        </p:nvSpPr>
        <p:spPr>
          <a:xfrm>
            <a:off x="4709160" y="2715768"/>
            <a:ext cx="2743200" cy="274320"/>
          </a:xfrm>
          <a:prstGeom prst="rect">
            <a:avLst/>
          </a:prstGeom>
          <a:noFill/>
          <a:ln/>
        </p:spPr>
        <p:txBody>
          <a:bodyPr wrap="square" lIns="0" tIns="0" rIns="0" bIns="0" rtlCol="0" anchor="ctr"/>
          <a:lstStyle/>
          <a:p>
            <a:pPr algn="ctr" indent="0" marL="0">
              <a:buNone/>
            </a:pPr>
            <a:r>
              <a:rPr lang="en-US" sz="1150" dirty="0">
                <a:solidFill>
                  <a:srgbClr val="9AA7B2"/>
                </a:solidFill>
                <a:latin typeface="Calibri" pitchFamily="34" charset="0"/>
                <a:ea typeface="Calibri" pitchFamily="34" charset="-122"/>
                <a:cs typeface="Calibri" pitchFamily="34" charset="-120"/>
              </a:rPr>
              <a:t>32,561 rows</a:t>
            </a:r>
            <a:endParaRPr lang="en-US" sz="1150" dirty="0"/>
          </a:p>
        </p:txBody>
      </p:sp>
      <p:sp>
        <p:nvSpPr>
          <p:cNvPr id="31" name="Text 29"/>
          <p:cNvSpPr/>
          <p:nvPr/>
        </p:nvSpPr>
        <p:spPr>
          <a:xfrm>
            <a:off x="4937760" y="3063240"/>
            <a:ext cx="2286000" cy="1280160"/>
          </a:xfrm>
          <a:prstGeom prst="rect">
            <a:avLst/>
          </a:prstGeom>
          <a:noFill/>
          <a:ln/>
        </p:spPr>
        <p:txBody>
          <a:bodyPr wrap="square" lIns="0" tIns="0" rIns="0" bIns="0" rtlCol="0" anchor="ctr"/>
          <a:lstStyle/>
          <a:p>
            <a:pPr algn="ctr" indent="0" marL="0">
              <a:lnSpc>
                <a:spcPct val="125000"/>
              </a:lnSpc>
              <a:buNone/>
            </a:pPr>
            <a:r>
              <a:rPr lang="en-US" sz="1050" b="1" dirty="0">
                <a:solidFill>
                  <a:srgbClr val="E8ECEF"/>
                </a:solidFill>
                <a:latin typeface="Consolas" pitchFamily="34" charset="0"/>
                <a:ea typeface="Consolas" pitchFamily="34" charset="-122"/>
                <a:cs typeface="Consolas" pitchFamily="34" charset="-120"/>
              </a:rPr>
              <a:t>person_sk</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8 dimension keys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6 measures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3 topcode flags</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duplicate_group_id</a:t>
            </a:r>
            <a:endParaRPr lang="en-US" sz="1050" dirty="0"/>
          </a:p>
          <a:p>
            <a:pPr algn="ctr" indent="0" marL="0">
              <a:lnSpc>
                <a:spcPct val="125000"/>
              </a:lnSpc>
              <a:buNone/>
            </a:pPr>
            <a:r>
              <a:rPr lang="en-US" sz="1050" dirty="0">
                <a:solidFill>
                  <a:srgbClr val="E8ECEF"/>
                </a:solidFill>
                <a:latin typeface="Consolas" pitchFamily="34" charset="0"/>
                <a:ea typeface="Consolas" pitchFamily="34" charset="-122"/>
                <a:cs typeface="Consolas" pitchFamily="34" charset="-120"/>
              </a:rPr>
              <a:t>duplicate_seq</a:t>
            </a:r>
            <a:endParaRPr lang="en-US" sz="1050" dirty="0"/>
          </a:p>
        </p:txBody>
      </p:sp>
      <p:sp>
        <p:nvSpPr>
          <p:cNvPr id="32" name="Shape 30"/>
          <p:cNvSpPr/>
          <p:nvPr/>
        </p:nvSpPr>
        <p:spPr>
          <a:xfrm>
            <a:off x="566928" y="4892040"/>
            <a:ext cx="5394960"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3" name="Text 31"/>
          <p:cNvSpPr/>
          <p:nvPr/>
        </p:nvSpPr>
        <p:spPr>
          <a:xfrm>
            <a:off x="841248"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education is one dimension, not two</a:t>
            </a:r>
            <a:endParaRPr lang="en-US" sz="1500" dirty="0"/>
          </a:p>
        </p:txBody>
      </p:sp>
      <p:sp>
        <p:nvSpPr>
          <p:cNvPr id="34" name="Text 32"/>
          <p:cNvSpPr/>
          <p:nvPr/>
        </p:nvSpPr>
        <p:spPr>
          <a:xfrm>
            <a:off x="841248"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education and education.num are a strict 1:1 mapping, so they are two attributes of one member. A rollup to 6 groups cuts thin segments from 93 of 201 to 18 of 80.</a:t>
            </a:r>
            <a:endParaRPr lang="en-US" sz="1200" dirty="0"/>
          </a:p>
        </p:txBody>
      </p:sp>
      <p:sp>
        <p:nvSpPr>
          <p:cNvPr id="35" name="Shape 33"/>
          <p:cNvSpPr/>
          <p:nvPr/>
        </p:nvSpPr>
        <p:spPr>
          <a:xfrm>
            <a:off x="6217920" y="4892040"/>
            <a:ext cx="537667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36" name="Text 34"/>
          <p:cNvSpPr/>
          <p:nvPr/>
        </p:nvSpPr>
        <p:spPr>
          <a:xfrm>
            <a:off x="6492240" y="5074920"/>
            <a:ext cx="4846320" cy="32004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sentinels load as NULL beside a flag</a:t>
            </a:r>
            <a:endParaRPr lang="en-US" sz="1500" dirty="0"/>
          </a:p>
        </p:txBody>
      </p:sp>
      <p:sp>
        <p:nvSpPr>
          <p:cNvPr id="37" name="Text 35"/>
          <p:cNvSpPr/>
          <p:nvPr/>
        </p:nvSpPr>
        <p:spPr>
          <a:xfrm>
            <a:off x="6492240" y="5440680"/>
            <a:ext cx="4846320" cy="731520"/>
          </a:xfrm>
          <a:prstGeom prst="rect">
            <a:avLst/>
          </a:prstGeom>
          <a:noFill/>
          <a:ln/>
        </p:spPr>
        <p:txBody>
          <a:bodyPr wrap="square" lIns="0" tIns="0" rIns="0" bIns="0" rtlCol="0" anchor="t"/>
          <a:lstStyle/>
          <a:p>
            <a:pPr algn="l" indent="0" marL="0">
              <a:lnSpc>
                <a:spcPct val="115000"/>
              </a:lnSpc>
              <a:buNone/>
            </a:pPr>
            <a:r>
              <a:rPr lang="en-US" sz="1200" dirty="0">
                <a:solidFill>
                  <a:srgbClr val="24303A"/>
                </a:solidFill>
                <a:latin typeface="Calibri" pitchFamily="34" charset="0"/>
                <a:ea typeface="Calibri" pitchFamily="34" charset="-122"/>
                <a:cs typeface="Calibri" pitchFamily="34" charset="-120"/>
              </a:rPr>
              <a:t>capital.gain 99999, age 90, hours.per.week 99. Averages then exclude the censored records automatically, so a placeholder never enters a mean.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the model added that cleaning alone could not</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The source writes "?" for two different things. Lab 1 could only report one number for both.</a:t>
            </a:r>
            <a:endParaRPr lang="en-US" sz="1500" dirty="0"/>
          </a:p>
        </p:txBody>
      </p:sp>
      <p:sp>
        <p:nvSpPr>
          <p:cNvPr id="5" name="Shape 3"/>
          <p:cNvSpPr/>
          <p:nvPr/>
        </p:nvSpPr>
        <p:spPr>
          <a:xfrm>
            <a:off x="566928" y="2011680"/>
            <a:ext cx="3200400" cy="2103120"/>
          </a:xfrm>
          <a:prstGeom prst="roundRect">
            <a:avLst>
              <a:gd name="adj" fmla="val 2609"/>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6" name="Text 4"/>
          <p:cNvSpPr/>
          <p:nvPr/>
        </p:nvSpPr>
        <p:spPr>
          <a:xfrm>
            <a:off x="841248" y="2240280"/>
            <a:ext cx="2651760" cy="274320"/>
          </a:xfrm>
          <a:prstGeom prst="rect">
            <a:avLst/>
          </a:prstGeom>
          <a:noFill/>
          <a:ln/>
        </p:spPr>
        <p:txBody>
          <a:bodyPr wrap="square" lIns="0" tIns="0" rIns="0" bIns="0" rtlCol="0" anchor="t"/>
          <a:lstStyle/>
          <a:p>
            <a:pPr algn="l" indent="0" marL="0">
              <a:lnSpc>
                <a:spcPct val="115000"/>
              </a:lnSpc>
              <a:buNone/>
            </a:pPr>
            <a:r>
              <a:rPr lang="en-US" sz="1050" dirty="0">
                <a:solidFill>
                  <a:srgbClr val="B3453A"/>
                </a:solidFill>
                <a:latin typeface="Calibri" pitchFamily="34" charset="0"/>
                <a:ea typeface="Calibri" pitchFamily="34" charset="-122"/>
                <a:cs typeface="Calibri" pitchFamily="34" charset="-120"/>
              </a:rPr>
              <a:t>LAB 1 COULD ONLY SAY</a:t>
            </a:r>
            <a:endParaRPr lang="en-US" sz="1050" dirty="0"/>
          </a:p>
        </p:txBody>
      </p:sp>
      <p:sp>
        <p:nvSpPr>
          <p:cNvPr id="7" name="Text 5"/>
          <p:cNvSpPr/>
          <p:nvPr/>
        </p:nvSpPr>
        <p:spPr>
          <a:xfrm>
            <a:off x="841248" y="2514600"/>
            <a:ext cx="2651760" cy="822960"/>
          </a:xfrm>
          <a:prstGeom prst="rect">
            <a:avLst/>
          </a:prstGeom>
          <a:noFill/>
          <a:ln/>
        </p:spPr>
        <p:txBody>
          <a:bodyPr wrap="square" lIns="0" tIns="0" rIns="0" bIns="0" rtlCol="0" anchor="ctr"/>
          <a:lstStyle/>
          <a:p>
            <a:pPr indent="0" marL="0">
              <a:buNone/>
            </a:pPr>
            <a:r>
              <a:rPr lang="en-US" sz="4600" b="1" dirty="0">
                <a:solidFill>
                  <a:srgbClr val="B3453A"/>
                </a:solidFill>
                <a:latin typeface="Cambria" pitchFamily="34" charset="0"/>
                <a:ea typeface="Cambria" pitchFamily="34" charset="-122"/>
                <a:cs typeface="Cambria" pitchFamily="34" charset="-120"/>
              </a:rPr>
              <a:t>520</a:t>
            </a:r>
            <a:endParaRPr lang="en-US" sz="4600" dirty="0"/>
          </a:p>
        </p:txBody>
      </p:sp>
      <p:sp>
        <p:nvSpPr>
          <p:cNvPr id="8" name="Text 6"/>
          <p:cNvSpPr/>
          <p:nvPr/>
        </p:nvSpPr>
        <p:spPr>
          <a:xfrm>
            <a:off x="841248" y="3383280"/>
            <a:ext cx="265176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eligible candidates</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unassignable</a:t>
            </a:r>
            <a:endParaRPr lang="en-US" sz="1250" dirty="0"/>
          </a:p>
        </p:txBody>
      </p:sp>
      <p:sp>
        <p:nvSpPr>
          <p:cNvPr id="9" name="Shape 7"/>
          <p:cNvSpPr/>
          <p:nvPr/>
        </p:nvSpPr>
        <p:spPr>
          <a:xfrm>
            <a:off x="3977640" y="3063240"/>
            <a:ext cx="777240" cy="0"/>
          </a:xfrm>
          <a:prstGeom prst="line">
            <a:avLst/>
          </a:prstGeom>
          <a:noFill/>
          <a:ln w="19050">
            <a:solidFill>
              <a:srgbClr val="C3CBD2"/>
            </a:solidFill>
            <a:prstDash val="solid"/>
          </a:ln>
        </p:spPr>
      </p:sp>
      <p:sp>
        <p:nvSpPr>
          <p:cNvPr id="10" name="Shape 8"/>
          <p:cNvSpPr/>
          <p:nvPr/>
        </p:nvSpPr>
        <p:spPr>
          <a:xfrm>
            <a:off x="4892040"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1" name="Text 9"/>
          <p:cNvSpPr/>
          <p:nvPr/>
        </p:nvSpPr>
        <p:spPr>
          <a:xfrm>
            <a:off x="5166360"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DID NOT ANSWER</a:t>
            </a:r>
            <a:endParaRPr lang="en-US" sz="1050" dirty="0"/>
          </a:p>
        </p:txBody>
      </p:sp>
      <p:sp>
        <p:nvSpPr>
          <p:cNvPr id="12" name="Text 10"/>
          <p:cNvSpPr/>
          <p:nvPr/>
        </p:nvSpPr>
        <p:spPr>
          <a:xfrm>
            <a:off x="5166360"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519</a:t>
            </a:r>
            <a:endParaRPr lang="en-US" sz="4600" dirty="0"/>
          </a:p>
        </p:txBody>
      </p:sp>
      <p:sp>
        <p:nvSpPr>
          <p:cNvPr id="13" name="Text 11"/>
          <p:cNvSpPr/>
          <p:nvPr/>
        </p:nvSpPr>
        <p:spPr>
          <a:xfrm>
            <a:off x="5166360"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genuine data</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collection problem</a:t>
            </a:r>
            <a:endParaRPr lang="en-US" sz="1250" dirty="0"/>
          </a:p>
        </p:txBody>
      </p:sp>
      <p:sp>
        <p:nvSpPr>
          <p:cNvPr id="14" name="Shape 12"/>
          <p:cNvSpPr/>
          <p:nvPr/>
        </p:nvSpPr>
        <p:spPr>
          <a:xfrm>
            <a:off x="8348472" y="2011680"/>
            <a:ext cx="3246120" cy="2103120"/>
          </a:xfrm>
          <a:prstGeom prst="roundRect">
            <a:avLst>
              <a:gd name="adj" fmla="val 2609"/>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3"/>
          <p:cNvSpPr/>
          <p:nvPr/>
        </p:nvSpPr>
        <p:spPr>
          <a:xfrm>
            <a:off x="8622792" y="2240280"/>
            <a:ext cx="2697480" cy="274320"/>
          </a:xfrm>
          <a:prstGeom prst="rect">
            <a:avLst/>
          </a:prstGeom>
          <a:noFill/>
          <a:ln/>
        </p:spPr>
        <p:txBody>
          <a:bodyPr wrap="square" lIns="0" tIns="0" rIns="0" bIns="0" rtlCol="0" anchor="t"/>
          <a:lstStyle/>
          <a:p>
            <a:pPr algn="l" indent="0" marL="0">
              <a:lnSpc>
                <a:spcPct val="115000"/>
              </a:lnSpc>
              <a:buNone/>
            </a:pPr>
            <a:r>
              <a:rPr lang="en-US" sz="1050" dirty="0">
                <a:solidFill>
                  <a:srgbClr val="2E6F5E"/>
                </a:solidFill>
                <a:latin typeface="Calibri" pitchFamily="34" charset="0"/>
                <a:ea typeface="Calibri" pitchFamily="34" charset="-122"/>
                <a:cs typeface="Calibri" pitchFamily="34" charset="-120"/>
              </a:rPr>
              <a:t>NEVER WORKED</a:t>
            </a:r>
            <a:endParaRPr lang="en-US" sz="1050" dirty="0"/>
          </a:p>
        </p:txBody>
      </p:sp>
      <p:sp>
        <p:nvSpPr>
          <p:cNvPr id="16" name="Text 14"/>
          <p:cNvSpPr/>
          <p:nvPr/>
        </p:nvSpPr>
        <p:spPr>
          <a:xfrm>
            <a:off x="8622792" y="2514600"/>
            <a:ext cx="2697480" cy="822960"/>
          </a:xfrm>
          <a:prstGeom prst="rect">
            <a:avLst/>
          </a:prstGeom>
          <a:noFill/>
          <a:ln/>
        </p:spPr>
        <p:txBody>
          <a:bodyPr wrap="square" lIns="0" tIns="0" rIns="0" bIns="0" rtlCol="0" anchor="ctr"/>
          <a:lstStyle/>
          <a:p>
            <a:pPr indent="0" marL="0">
              <a:buNone/>
            </a:pPr>
            <a:r>
              <a:rPr lang="en-US" sz="4600" b="1" dirty="0">
                <a:solidFill>
                  <a:srgbClr val="2E6F5E"/>
                </a:solidFill>
                <a:latin typeface="Cambria" pitchFamily="34" charset="0"/>
                <a:ea typeface="Cambria" pitchFamily="34" charset="-122"/>
                <a:cs typeface="Cambria" pitchFamily="34" charset="-120"/>
              </a:rPr>
              <a:t>1</a:t>
            </a:r>
            <a:endParaRPr lang="en-US" sz="4600" dirty="0"/>
          </a:p>
        </p:txBody>
      </p:sp>
      <p:sp>
        <p:nvSpPr>
          <p:cNvPr id="17" name="Text 15"/>
          <p:cNvSpPr/>
          <p:nvPr/>
        </p:nvSpPr>
        <p:spPr>
          <a:xfrm>
            <a:off x="8622792" y="3383280"/>
            <a:ext cx="2697480" cy="54864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 correctly recorded</a:t>
            </a:r>
            <a:endParaRPr lang="en-US" sz="1250" dirty="0"/>
          </a:p>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fact about a person</a:t>
            </a:r>
            <a:endParaRPr lang="en-US" sz="1250" dirty="0"/>
          </a:p>
        </p:txBody>
      </p:sp>
      <p:sp>
        <p:nvSpPr>
          <p:cNvPr id="18" name="Text 16"/>
          <p:cNvSpPr/>
          <p:nvPr/>
        </p:nvSpPr>
        <p:spPr>
          <a:xfrm>
            <a:off x="566928" y="4389120"/>
            <a:ext cx="11027664" cy="685800"/>
          </a:xfrm>
          <a:prstGeom prst="rect">
            <a:avLst/>
          </a:prstGeom>
          <a:noFill/>
          <a:ln/>
        </p:spPr>
        <p:txBody>
          <a:bodyPr wrap="square" lIns="0" tIns="0" rIns="0" bIns="0" rtlCol="0" anchor="t"/>
          <a:lstStyle/>
          <a:p>
            <a:pPr algn="l" indent="0" marL="0">
              <a:lnSpc>
                <a:spcPct val="115000"/>
              </a:lnSpc>
              <a:buNone/>
            </a:pPr>
            <a:r>
              <a:rPr lang="en-US" sz="1400" dirty="0">
                <a:solidFill>
                  <a:srgbClr val="24303A"/>
                </a:solidFill>
                <a:latin typeface="Calibri" pitchFamily="34" charset="0"/>
                <a:ea typeface="Calibri" pitchFamily="34" charset="-122"/>
                <a:cs typeface="Calibri" pitchFamily="34" charset="-120"/>
              </a:rPr>
              <a:t>dim_occupation reserves surrogate key -1 for Unknown and -2 for Not applicable. Only the 519 are a defect. Reporting them together as 520 overstates the gap.</a:t>
            </a:r>
            <a:endParaRPr lang="en-US" sz="1400" dirty="0"/>
          </a:p>
        </p:txBody>
      </p:sp>
      <p:sp>
        <p:nvSpPr>
          <p:cNvPr id="19" name="Shape 17"/>
          <p:cNvSpPr/>
          <p:nvPr/>
        </p:nvSpPr>
        <p:spPr>
          <a:xfrm>
            <a:off x="566928" y="52578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486400"/>
            <a:ext cx="10424160" cy="548640"/>
          </a:xfrm>
          <a:prstGeom prst="rect">
            <a:avLst/>
          </a:prstGeom>
          <a:noFill/>
          <a:ln/>
        </p:spPr>
        <p:txBody>
          <a:bodyPr wrap="square" lIns="0" tIns="0" rIns="0" bIns="0" rtlCol="0" anchor="ctr"/>
          <a:lstStyle/>
          <a:p>
            <a:pPr indent="0" marL="0">
              <a:buNone/>
            </a:pPr>
            <a:r>
              <a:rPr lang="en-US" sz="1350" dirty="0">
                <a:solidFill>
                  <a:srgbClr val="24303A"/>
                </a:solidFill>
                <a:latin typeface="Calibri" pitchFamily="34" charset="0"/>
                <a:ea typeface="Calibri" pitchFamily="34" charset="-122"/>
                <a:cs typeface="Calibri" pitchFamily="34" charset="-120"/>
              </a:rPr>
              <a:t>Missing values become a dimension member, never a NULL foreign key, so a group-by always accounts for all 32,561 records.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2</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Why not one big table</a:t>
            </a:r>
            <a:endParaRPr lang="en-US" sz="3200" dirty="0"/>
          </a:p>
        </p:txBody>
      </p:sp>
      <p:sp>
        <p:nvSpPr>
          <p:cNvPr id="4" name="Shape 2"/>
          <p:cNvSpPr/>
          <p:nvPr/>
        </p:nvSpPr>
        <p:spPr>
          <a:xfrm>
            <a:off x="566928" y="1325880"/>
            <a:ext cx="11027664" cy="960120"/>
          </a:xfrm>
          <a:prstGeom prst="roundRect">
            <a:avLst>
              <a:gd name="adj" fmla="val 571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572768"/>
            <a:ext cx="10424160" cy="502920"/>
          </a:xfrm>
          <a:prstGeom prst="rect">
            <a:avLst/>
          </a:prstGeom>
          <a:noFill/>
          <a:ln/>
        </p:spPr>
        <p:txBody>
          <a:bodyPr wrap="square" lIns="0" tIns="0" rIns="0" bIns="0" rtlCol="0" anchor="ctr"/>
          <a:lstStyle/>
          <a:p>
            <a:pPr indent="0" marL="0">
              <a:buNone/>
            </a:pPr>
            <a:r>
              <a:rPr lang="en-US" sz="1450" i="1" dirty="0">
                <a:solidFill>
                  <a:srgbClr val="24303A"/>
                </a:solidFill>
                <a:latin typeface="Calibri" pitchFamily="34" charset="0"/>
                <a:ea typeface="Calibri" pitchFamily="34" charset="-122"/>
                <a:cs typeface="Calibri" pitchFamily="34" charset="-120"/>
              </a:rPr>
              <a:t>The honest starting position: at 32,561 rows one big table would be faster and simpler, and DuckDB would scan it without noticing.</a:t>
            </a:r>
            <a:endParaRPr lang="en-US" sz="1450" dirty="0"/>
          </a:p>
        </p:txBody>
      </p:sp>
      <p:sp>
        <p:nvSpPr>
          <p:cNvPr id="6" name="Text 4"/>
          <p:cNvSpPr/>
          <p:nvPr/>
        </p:nvSpPr>
        <p:spPr>
          <a:xfrm>
            <a:off x="566928" y="251460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reason to model it anyway has nothing to do with performance</a:t>
            </a:r>
            <a:endParaRPr lang="en-US" sz="1900" dirty="0"/>
          </a:p>
        </p:txBody>
      </p:sp>
      <p:sp>
        <p:nvSpPr>
          <p:cNvPr id="7" name="Shape 5"/>
          <p:cNvSpPr/>
          <p:nvPr/>
        </p:nvSpPr>
        <p:spPr>
          <a:xfrm>
            <a:off x="566928" y="3017520"/>
            <a:ext cx="329184" cy="329184"/>
          </a:xfrm>
          <a:prstGeom prst="ellipse">
            <a:avLst/>
          </a:prstGeom>
          <a:solidFill>
            <a:srgbClr val="24303A"/>
          </a:solidFill>
          <a:ln w="12700">
            <a:solidFill>
              <a:srgbClr val="24303A"/>
            </a:solidFill>
            <a:prstDash val="solid"/>
          </a:ln>
        </p:spPr>
      </p:sp>
      <p:sp>
        <p:nvSpPr>
          <p:cNvPr id="8" name="Text 6"/>
          <p:cNvSpPr/>
          <p:nvPr/>
        </p:nvSpPr>
        <p:spPr>
          <a:xfrm>
            <a:off x="56692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04241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put missing versus not applicable</a:t>
            </a:r>
            <a:endParaRPr lang="en-US" sz="1500" dirty="0"/>
          </a:p>
        </p:txBody>
      </p:sp>
      <p:sp>
        <p:nvSpPr>
          <p:cNvPr id="10" name="Text 8"/>
          <p:cNvSpPr/>
          <p:nvPr/>
        </p:nvSpPr>
        <p:spPr>
          <a:xfrm>
            <a:off x="104241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Keep the magic string "?", which is the defect itself, or write NULL and destroy a real value for the seven Never-worked records.</a:t>
            </a:r>
            <a:endParaRPr lang="en-US" sz="1250" dirty="0"/>
          </a:p>
        </p:txBody>
      </p:sp>
      <p:sp>
        <p:nvSpPr>
          <p:cNvPr id="11" name="Shape 9"/>
          <p:cNvSpPr/>
          <p:nvPr/>
        </p:nvSpPr>
        <p:spPr>
          <a:xfrm>
            <a:off x="6190488" y="3017520"/>
            <a:ext cx="329184" cy="329184"/>
          </a:xfrm>
          <a:prstGeom prst="ellipse">
            <a:avLst/>
          </a:prstGeom>
          <a:solidFill>
            <a:srgbClr val="24303A"/>
          </a:solidFill>
          <a:ln w="12700">
            <a:solidFill>
              <a:srgbClr val="24303A"/>
            </a:solidFill>
            <a:prstDash val="solid"/>
          </a:ln>
        </p:spPr>
      </p:sp>
      <p:sp>
        <p:nvSpPr>
          <p:cNvPr id="12" name="Text 10"/>
          <p:cNvSpPr/>
          <p:nvPr/>
        </p:nvSpPr>
        <p:spPr>
          <a:xfrm>
            <a:off x="6190488" y="301752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665976" y="299008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Nowhere to hold the duplicate decision</a:t>
            </a:r>
            <a:endParaRPr lang="en-US" sz="1500" dirty="0"/>
          </a:p>
        </p:txBody>
      </p:sp>
      <p:sp>
        <p:nvSpPr>
          <p:cNvPr id="14" name="Text 12"/>
          <p:cNvSpPr/>
          <p:nvPr/>
        </p:nvSpPr>
        <p:spPr>
          <a:xfrm>
            <a:off x="6665976" y="340156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Retaining rows while marking them needs columns describing the record, beside a surrogate key a flat file does not have.</a:t>
            </a:r>
            <a:endParaRPr lang="en-US" sz="1250" dirty="0"/>
          </a:p>
        </p:txBody>
      </p:sp>
      <p:sp>
        <p:nvSpPr>
          <p:cNvPr id="15" name="Shape 13"/>
          <p:cNvSpPr/>
          <p:nvPr/>
        </p:nvSpPr>
        <p:spPr>
          <a:xfrm>
            <a:off x="566928" y="4526280"/>
            <a:ext cx="329184" cy="329184"/>
          </a:xfrm>
          <a:prstGeom prst="ellipse">
            <a:avLst/>
          </a:prstGeom>
          <a:solidFill>
            <a:srgbClr val="24303A"/>
          </a:solidFill>
          <a:ln w="12700">
            <a:solidFill>
              <a:srgbClr val="24303A"/>
            </a:solidFill>
            <a:prstDash val="solid"/>
          </a:ln>
        </p:spPr>
      </p:sp>
      <p:sp>
        <p:nvSpPr>
          <p:cNvPr id="16" name="Text 14"/>
          <p:cNvSpPr/>
          <p:nvPr/>
        </p:nvSpPr>
        <p:spPr>
          <a:xfrm>
            <a:off x="56692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04241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Redundancy in every one of 32,561 rows</a:t>
            </a:r>
            <a:endParaRPr lang="en-US" sz="1500" dirty="0"/>
          </a:p>
        </p:txBody>
      </p:sp>
      <p:sp>
        <p:nvSpPr>
          <p:cNvPr id="18" name="Text 16"/>
          <p:cNvSpPr/>
          <p:nvPr/>
        </p:nvSpPr>
        <p:spPr>
          <a:xfrm>
            <a:off x="104241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education and education.num repeat the same pairing endlessly, and nothing stops them drifting apart.</a:t>
            </a:r>
            <a:endParaRPr lang="en-US" sz="1250" dirty="0"/>
          </a:p>
        </p:txBody>
      </p:sp>
      <p:sp>
        <p:nvSpPr>
          <p:cNvPr id="19" name="Shape 17"/>
          <p:cNvSpPr/>
          <p:nvPr/>
        </p:nvSpPr>
        <p:spPr>
          <a:xfrm>
            <a:off x="6190488" y="4526280"/>
            <a:ext cx="329184" cy="329184"/>
          </a:xfrm>
          <a:prstGeom prst="ellipse">
            <a:avLst/>
          </a:prstGeom>
          <a:solidFill>
            <a:srgbClr val="24303A"/>
          </a:solidFill>
          <a:ln w="12700">
            <a:solidFill>
              <a:srgbClr val="24303A"/>
            </a:solidFill>
            <a:prstDash val="solid"/>
          </a:ln>
        </p:spPr>
      </p:sp>
      <p:sp>
        <p:nvSpPr>
          <p:cNvPr id="20" name="Text 18"/>
          <p:cNvSpPr/>
          <p:nvPr/>
        </p:nvSpPr>
        <p:spPr>
          <a:xfrm>
            <a:off x="6190488" y="4526280"/>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665976" y="4498848"/>
            <a:ext cx="4892040" cy="365760"/>
          </a:xfrm>
          <a:prstGeom prst="rect">
            <a:avLst/>
          </a:prstGeom>
          <a:noFill/>
          <a:ln/>
        </p:spPr>
        <p:txBody>
          <a:bodyPr wrap="square" lIns="0" tIns="0" rIns="0" bIns="0" rtlCol="0" anchor="ctr"/>
          <a:lstStyle/>
          <a:p>
            <a:pPr indent="0" marL="0">
              <a:buNone/>
            </a:pPr>
            <a:r>
              <a:rPr lang="en-US" sz="1500" b="1" dirty="0">
                <a:solidFill>
                  <a:srgbClr val="24303A"/>
                </a:solidFill>
                <a:latin typeface="Cambria" pitchFamily="34" charset="0"/>
                <a:ea typeface="Cambria" pitchFamily="34" charset="-122"/>
                <a:cs typeface="Cambria" pitchFamily="34" charset="-120"/>
              </a:rPr>
              <a:t>Rollups get retyped into every query</a:t>
            </a:r>
            <a:endParaRPr lang="en-US" sz="1500" dirty="0"/>
          </a:p>
        </p:txBody>
      </p:sp>
      <p:sp>
        <p:nvSpPr>
          <p:cNvPr id="22" name="Text 20"/>
          <p:cNvSpPr/>
          <p:nvPr/>
        </p:nvSpPr>
        <p:spPr>
          <a:xfrm>
            <a:off x="6665976" y="4910328"/>
            <a:ext cx="4892040" cy="8229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Defined once in a dimension, education_group applies everywhere. Defined in a flat table, it is rewritten slightly differently each time.</a:t>
            </a:r>
            <a:endParaRPr lang="en-US" sz="1250" dirty="0"/>
          </a:p>
        </p:txBody>
      </p:sp>
      <p:sp>
        <p:nvSpPr>
          <p:cNvPr id="23" name="Shape 21"/>
          <p:cNvSpPr/>
          <p:nvPr/>
        </p:nvSpPr>
        <p:spPr>
          <a:xfrm>
            <a:off x="566928" y="5989320"/>
            <a:ext cx="11027664" cy="658368"/>
          </a:xfrm>
          <a:prstGeom prst="roundRect">
            <a:avLst>
              <a:gd name="adj" fmla="val 8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24" name="Text 22"/>
          <p:cNvSpPr/>
          <p:nvPr/>
        </p:nvSpPr>
        <p:spPr>
          <a:xfrm>
            <a:off x="859536" y="6144768"/>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counter-argument that does hold: the staging table is one big table, and it is kept deliberately. It is the raw record, and the star is derived from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3</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 a re-runnable ingester</a:t>
            </a:r>
            <a:endParaRPr lang="en-US" sz="4000" dirty="0"/>
          </a:p>
        </p:txBody>
      </p:sp>
      <p:sp>
        <p:nvSpPr>
          <p:cNvPr id="4" name="Text 2"/>
          <p:cNvSpPr/>
          <p:nvPr/>
        </p:nvSpPr>
        <p:spPr>
          <a:xfrm>
            <a:off x="566928" y="3520440"/>
            <a:ext cx="96012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Make it idempotent, and prove it. Log rows read, loaded and rejected, and why.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twice, and the second run does nothing</a:t>
            </a:r>
            <a:endParaRPr lang="en-US" sz="3200" dirty="0"/>
          </a:p>
        </p:txBody>
      </p:sp>
      <p:sp>
        <p:nvSpPr>
          <p:cNvPr id="4" name="Shape 2"/>
          <p:cNvSpPr/>
          <p:nvPr/>
        </p:nvSpPr>
        <p:spPr>
          <a:xfrm>
            <a:off x="566928" y="1325880"/>
            <a:ext cx="4937760" cy="502920"/>
          </a:xfrm>
          <a:prstGeom prst="roundRect">
            <a:avLst>
              <a:gd name="adj" fmla="val 9091"/>
            </a:avLst>
          </a:prstGeom>
          <a:solidFill>
            <a:srgbClr val="24303A"/>
          </a:solidFill>
          <a:ln w="12700">
            <a:solidFill>
              <a:srgbClr val="24303A"/>
            </a:solidFill>
            <a:prstDash val="solid"/>
          </a:ln>
        </p:spPr>
      </p:sp>
      <p:sp>
        <p:nvSpPr>
          <p:cNvPr id="5" name="Text 3"/>
          <p:cNvSpPr/>
          <p:nvPr/>
        </p:nvSpPr>
        <p:spPr>
          <a:xfrm>
            <a:off x="795528" y="1325880"/>
            <a:ext cx="4572000" cy="50292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057400"/>
          <a:ext cx="11027664" cy="914400"/>
        </p:xfrm>
        <a:graphic>
          <a:graphicData uri="http://schemas.openxmlformats.org/drawingml/2006/table">
            <a:tbl>
              <a:tblPr/>
              <a:tblGrid>
                <a:gridCol w="822960"/>
                <a:gridCol w="3803904"/>
                <a:gridCol w="1600200"/>
                <a:gridCol w="1600200"/>
                <a:gridCol w="1645920"/>
                <a:gridCol w="1554480"/>
              </a:tblGrid>
              <a:tr h="384048">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read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staged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loaded</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84048">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indent="0" marL="0">
                        <a:buNone/>
                      </a:pPr>
                      <a:r>
                        <a:rPr lang="en-US" sz="1400" dirty="0">
                          <a:solidFill>
                            <a:srgbClr val="24303A"/>
                          </a:solidFill>
                          <a:latin typeface="Calibri" pitchFamily="34" charset="0"/>
                          <a:ea typeface="Calibri" pitchFamily="34" charset="-122"/>
                          <a:cs typeface="Calibri" pitchFamily="34" charset="-120"/>
                        </a:rPr>
                        <a:t>adult.csv</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32561</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24303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2E6F5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3657600"/>
            <a:ext cx="11027664" cy="365760"/>
          </a:xfrm>
          <a:prstGeom prst="rect">
            <a:avLst/>
          </a:prstGeom>
          <a:noFill/>
          <a:ln/>
        </p:spPr>
        <p:txBody>
          <a:bodyPr wrap="square" lIns="0" tIns="0" rIns="0" bIns="0" rtlCol="0" anchor="t"/>
          <a:lstStyle/>
          <a:p>
            <a:pPr algn="l" indent="0" marL="0">
              <a:lnSpc>
                <a:spcPct val="115000"/>
              </a:lnSpc>
              <a:buNone/>
            </a:pPr>
            <a:r>
              <a:rPr lang="en-US" sz="1350" dirty="0">
                <a:solidFill>
                  <a:srgbClr val="5E6B77"/>
                </a:solidFill>
                <a:latin typeface="Calibri" pitchFamily="34" charset="0"/>
                <a:ea typeface="Calibri" pitchFamily="34" charset="-122"/>
                <a:cs typeface="Calibri" pitchFamily="34" charset="-120"/>
              </a:rPr>
              <a:t>fact_person holds 32,561 rows after both runs. That table is the load_run audit table, so the proof outlives the terminal.</a:t>
            </a:r>
            <a:endParaRPr lang="en-US" sz="1350" dirty="0"/>
          </a:p>
        </p:txBody>
      </p:sp>
      <p:sp>
        <p:nvSpPr>
          <p:cNvPr id="8" name="Text 5"/>
          <p:cNvSpPr/>
          <p:nvPr/>
        </p:nvSpPr>
        <p:spPr>
          <a:xfrm>
            <a:off x="566928" y="420624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How the identity is manufactured</a:t>
            </a:r>
            <a:endParaRPr lang="en-US" sz="1900" dirty="0"/>
          </a:p>
        </p:txBody>
      </p:sp>
      <p:sp>
        <p:nvSpPr>
          <p:cNvPr id="9" name="Text 6"/>
          <p:cNvSpPr/>
          <p:nvPr/>
        </p:nvSpPr>
        <p:spPr>
          <a:xfrm>
            <a:off x="566928" y="4617720"/>
            <a:ext cx="11027664" cy="54864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The source has no identifier, so there is nothing to match an incoming row against. record_key is an md5 of all 15 source fields, suffixed with the occurrence number of that content within the file.</a:t>
            </a:r>
            <a:endParaRPr lang="en-US" sz="1350" dirty="0"/>
          </a:p>
        </p:txBody>
      </p:sp>
      <p:sp>
        <p:nvSpPr>
          <p:cNvPr id="10" name="Shape 7"/>
          <p:cNvSpPr/>
          <p:nvPr/>
        </p:nvSpPr>
        <p:spPr>
          <a:xfrm>
            <a:off x="566928" y="5257800"/>
            <a:ext cx="6583680" cy="457200"/>
          </a:xfrm>
          <a:prstGeom prst="roundRect">
            <a:avLst>
              <a:gd name="adj" fmla="val 10000"/>
            </a:avLst>
          </a:prstGeom>
          <a:solidFill>
            <a:srgbClr val="F1F3F5"/>
          </a:solidFill>
          <a:ln w="12700">
            <a:solidFill>
              <a:srgbClr val="E8ECEF"/>
            </a:solidFill>
            <a:prstDash val="solid"/>
          </a:ln>
        </p:spPr>
      </p:sp>
      <p:sp>
        <p:nvSpPr>
          <p:cNvPr id="11" name="Text 8"/>
          <p:cNvSpPr/>
          <p:nvPr/>
        </p:nvSpPr>
        <p:spPr>
          <a:xfrm>
            <a:off x="749808" y="5257800"/>
            <a:ext cx="6217920" cy="457200"/>
          </a:xfrm>
          <a:prstGeom prst="rect">
            <a:avLst/>
          </a:prstGeom>
          <a:noFill/>
          <a:ln/>
        </p:spPr>
        <p:txBody>
          <a:bodyPr wrap="square" lIns="0" tIns="0" rIns="0" bIns="0" rtlCol="0" anchor="ctr"/>
          <a:lstStyle/>
          <a:p>
            <a:pPr indent="0" marL="0">
              <a:buNone/>
            </a:pPr>
            <a:r>
              <a:rPr lang="en-US" sz="1300" dirty="0">
                <a:solidFill>
                  <a:srgbClr val="24303A"/>
                </a:solidFill>
                <a:latin typeface="Consolas" pitchFamily="34" charset="0"/>
                <a:ea typeface="Consolas" pitchFamily="34" charset="-122"/>
                <a:cs typeface="Consolas" pitchFamily="34" charset="-120"/>
              </a:rPr>
              <a:t>0f1eb4dcb00ec0cf9f76e1b0e60cbb95#1</a:t>
            </a:r>
            <a:endParaRPr lang="en-US" sz="1300" dirty="0"/>
          </a:p>
        </p:txBody>
      </p:sp>
      <p:sp>
        <p:nvSpPr>
          <p:cNvPr id="12" name="Text 9"/>
          <p:cNvSpPr/>
          <p:nvPr/>
        </p:nvSpPr>
        <p:spPr>
          <a:xfrm>
            <a:off x="7452360" y="5285232"/>
            <a:ext cx="4114800" cy="45720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The suffix is what lets the 24 duplicates survive as #1, #2 and #3. Without it they would collapse into a single row.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Rejects are demonstrated, not assumed</a:t>
            </a:r>
            <a:endParaRPr lang="en-US" sz="3200" dirty="0"/>
          </a:p>
        </p:txBody>
      </p:sp>
      <p:sp>
        <p:nvSpPr>
          <p:cNvPr id="4" name="Text 2"/>
          <p:cNvSpPr/>
          <p:nvPr/>
        </p:nvSpPr>
        <p:spPr>
          <a:xfrm>
            <a:off x="566928" y="1325880"/>
            <a:ext cx="11027664" cy="45720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On the real file nothing is ever rejected, so the reject path would never fire. A nine row fixture trips all eight rules once each.</a:t>
            </a:r>
            <a:endParaRPr lang="en-US" sz="1450" dirty="0"/>
          </a:p>
        </p:txBody>
      </p:sp>
      <p:sp>
        <p:nvSpPr>
          <p:cNvPr id="5" name="Text 3"/>
          <p:cNvSpPr/>
          <p:nvPr/>
        </p:nvSpPr>
        <p:spPr>
          <a:xfrm>
            <a:off x="566928" y="2011680"/>
            <a:ext cx="2377440" cy="777240"/>
          </a:xfrm>
          <a:prstGeom prst="rect">
            <a:avLst/>
          </a:prstGeom>
          <a:noFill/>
          <a:ln/>
        </p:spPr>
        <p:txBody>
          <a:bodyPr wrap="square" lIns="0" tIns="0" rIns="0" bIns="0" rtlCol="0" anchor="ctr"/>
          <a:lstStyle/>
          <a:p>
            <a:pPr algn="l" indent="0" marL="0">
              <a:buNone/>
            </a:pPr>
            <a:r>
              <a:rPr lang="en-US" sz="4000" b="1" dirty="0">
                <a:solidFill>
                  <a:srgbClr val="24303A"/>
                </a:solidFill>
                <a:latin typeface="Cambria" pitchFamily="34" charset="0"/>
                <a:ea typeface="Cambria" pitchFamily="34" charset="-122"/>
                <a:cs typeface="Cambria" pitchFamily="34" charset="-120"/>
              </a:rPr>
              <a:t>9</a:t>
            </a:r>
            <a:endParaRPr lang="en-US" sz="4000" dirty="0"/>
          </a:p>
        </p:txBody>
      </p:sp>
      <p:sp>
        <p:nvSpPr>
          <p:cNvPr id="6" name="Text 4"/>
          <p:cNvSpPr/>
          <p:nvPr/>
        </p:nvSpPr>
        <p:spPr>
          <a:xfrm>
            <a:off x="566928"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rows read</a:t>
            </a:r>
            <a:endParaRPr lang="en-US" sz="1200" dirty="0"/>
          </a:p>
        </p:txBody>
      </p:sp>
      <p:sp>
        <p:nvSpPr>
          <p:cNvPr id="7" name="Text 5"/>
          <p:cNvSpPr/>
          <p:nvPr/>
        </p:nvSpPr>
        <p:spPr>
          <a:xfrm>
            <a:off x="3017520" y="2011680"/>
            <a:ext cx="2377440" cy="777240"/>
          </a:xfrm>
          <a:prstGeom prst="rect">
            <a:avLst/>
          </a:prstGeom>
          <a:noFill/>
          <a:ln/>
        </p:spPr>
        <p:txBody>
          <a:bodyPr wrap="square" lIns="0" tIns="0" rIns="0" bIns="0" rtlCol="0" anchor="ctr"/>
          <a:lstStyle/>
          <a:p>
            <a:pPr algn="l" indent="0" marL="0">
              <a:buNone/>
            </a:pPr>
            <a:r>
              <a:rPr lang="en-US" sz="4000" b="1" dirty="0">
                <a:solidFill>
                  <a:srgbClr val="2E6F5E"/>
                </a:solidFill>
                <a:latin typeface="Cambria" pitchFamily="34" charset="0"/>
                <a:ea typeface="Cambria" pitchFamily="34" charset="-122"/>
                <a:cs typeface="Cambria" pitchFamily="34" charset="-120"/>
              </a:rPr>
              <a:t>1</a:t>
            </a:r>
            <a:endParaRPr lang="en-US" sz="4000" dirty="0"/>
          </a:p>
        </p:txBody>
      </p:sp>
      <p:sp>
        <p:nvSpPr>
          <p:cNvPr id="8" name="Text 6"/>
          <p:cNvSpPr/>
          <p:nvPr/>
        </p:nvSpPr>
        <p:spPr>
          <a:xfrm>
            <a:off x="301752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loaded</a:t>
            </a:r>
            <a:endParaRPr lang="en-US" sz="1200" dirty="0"/>
          </a:p>
        </p:txBody>
      </p:sp>
      <p:sp>
        <p:nvSpPr>
          <p:cNvPr id="9" name="Text 7"/>
          <p:cNvSpPr/>
          <p:nvPr/>
        </p:nvSpPr>
        <p:spPr>
          <a:xfrm>
            <a:off x="5486400" y="2011680"/>
            <a:ext cx="2377440" cy="777240"/>
          </a:xfrm>
          <a:prstGeom prst="rect">
            <a:avLst/>
          </a:prstGeom>
          <a:noFill/>
          <a:ln/>
        </p:spPr>
        <p:txBody>
          <a:bodyPr wrap="square" lIns="0" tIns="0" rIns="0" bIns="0" rtlCol="0" anchor="ctr"/>
          <a:lstStyle/>
          <a:p>
            <a:pPr algn="l" indent="0" marL="0">
              <a:buNone/>
            </a:pPr>
            <a:r>
              <a:rPr lang="en-US" sz="4000" b="1" dirty="0">
                <a:solidFill>
                  <a:srgbClr val="B3453A"/>
                </a:solidFill>
                <a:latin typeface="Cambria" pitchFamily="34" charset="0"/>
                <a:ea typeface="Cambria" pitchFamily="34" charset="-122"/>
                <a:cs typeface="Cambria" pitchFamily="34" charset="-120"/>
              </a:rPr>
              <a:t>8</a:t>
            </a:r>
            <a:endParaRPr lang="en-US" sz="4000" dirty="0"/>
          </a:p>
        </p:txBody>
      </p:sp>
      <p:sp>
        <p:nvSpPr>
          <p:cNvPr id="10" name="Text 8"/>
          <p:cNvSpPr/>
          <p:nvPr/>
        </p:nvSpPr>
        <p:spPr>
          <a:xfrm>
            <a:off x="5486400" y="276148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rejected</a:t>
            </a:r>
            <a:endParaRPr lang="en-US" sz="1200" dirty="0"/>
          </a:p>
        </p:txBody>
      </p:sp>
      <p:sp>
        <p:nvSpPr>
          <p:cNvPr id="11" name="Shape 9"/>
          <p:cNvSpPr/>
          <p:nvPr/>
        </p:nvSpPr>
        <p:spPr>
          <a:xfrm>
            <a:off x="8138160" y="1965960"/>
            <a:ext cx="3456432" cy="1371600"/>
          </a:xfrm>
          <a:prstGeom prst="roundRect">
            <a:avLst>
              <a:gd name="adj" fmla="val 4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2" name="Text 10"/>
          <p:cNvSpPr/>
          <p:nvPr/>
        </p:nvSpPr>
        <p:spPr>
          <a:xfrm>
            <a:off x="8412480" y="2194560"/>
            <a:ext cx="2926080" cy="91440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Rejects go to a load_reject table with a reason and an example, so a bad row is queryable after the run.</a:t>
            </a:r>
            <a:endParaRPr lang="en-US" sz="1250" dirty="0"/>
          </a:p>
        </p:txBody>
      </p:sp>
      <p:sp>
        <p:nvSpPr>
          <p:cNvPr id="13" name="Text 11"/>
          <p:cNvSpPr/>
          <p:nvPr/>
        </p:nvSpPr>
        <p:spPr>
          <a:xfrm>
            <a:off x="566928" y="3566160"/>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The eight rules</a:t>
            </a:r>
            <a:endParaRPr lang="en-US" sz="1900" dirty="0"/>
          </a:p>
        </p:txBody>
      </p:sp>
      <p:sp>
        <p:nvSpPr>
          <p:cNvPr id="14" name="Shape 12"/>
          <p:cNvSpPr/>
          <p:nvPr/>
        </p:nvSpPr>
        <p:spPr>
          <a:xfrm>
            <a:off x="566928" y="4023360"/>
            <a:ext cx="2606040" cy="420624"/>
          </a:xfrm>
          <a:prstGeom prst="roundRect">
            <a:avLst>
              <a:gd name="adj" fmla="val 10870"/>
            </a:avLst>
          </a:prstGeom>
          <a:solidFill>
            <a:srgbClr val="F1F3F5"/>
          </a:solidFill>
          <a:ln w="12700">
            <a:solidFill>
              <a:srgbClr val="E8ECEF"/>
            </a:solidFill>
            <a:prstDash val="solid"/>
          </a:ln>
        </p:spPr>
      </p:sp>
      <p:sp>
        <p:nvSpPr>
          <p:cNvPr id="15" name="Text 13"/>
          <p:cNvSpPr/>
          <p:nvPr/>
        </p:nvSpPr>
        <p:spPr>
          <a:xfrm>
            <a:off x="67665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age_not_an_integer</a:t>
            </a:r>
            <a:endParaRPr lang="en-US" sz="1000" dirty="0"/>
          </a:p>
        </p:txBody>
      </p:sp>
      <p:sp>
        <p:nvSpPr>
          <p:cNvPr id="16" name="Shape 14"/>
          <p:cNvSpPr/>
          <p:nvPr/>
        </p:nvSpPr>
        <p:spPr>
          <a:xfrm>
            <a:off x="3355848" y="4023360"/>
            <a:ext cx="2606040" cy="420624"/>
          </a:xfrm>
          <a:prstGeom prst="roundRect">
            <a:avLst>
              <a:gd name="adj" fmla="val 10870"/>
            </a:avLst>
          </a:prstGeom>
          <a:solidFill>
            <a:srgbClr val="F1F3F5"/>
          </a:solidFill>
          <a:ln w="12700">
            <a:solidFill>
              <a:srgbClr val="E8ECEF"/>
            </a:solidFill>
            <a:prstDash val="solid"/>
          </a:ln>
        </p:spPr>
      </p:sp>
      <p:sp>
        <p:nvSpPr>
          <p:cNvPr id="17" name="Text 15"/>
          <p:cNvSpPr/>
          <p:nvPr/>
        </p:nvSpPr>
        <p:spPr>
          <a:xfrm>
            <a:off x="346557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age_out_of_range</a:t>
            </a:r>
            <a:endParaRPr lang="en-US" sz="1000" dirty="0"/>
          </a:p>
        </p:txBody>
      </p:sp>
      <p:sp>
        <p:nvSpPr>
          <p:cNvPr id="18" name="Shape 16"/>
          <p:cNvSpPr/>
          <p:nvPr/>
        </p:nvSpPr>
        <p:spPr>
          <a:xfrm>
            <a:off x="6144768" y="4023360"/>
            <a:ext cx="2606040" cy="420624"/>
          </a:xfrm>
          <a:prstGeom prst="roundRect">
            <a:avLst>
              <a:gd name="adj" fmla="val 10870"/>
            </a:avLst>
          </a:prstGeom>
          <a:solidFill>
            <a:srgbClr val="F1F3F5"/>
          </a:solidFill>
          <a:ln w="12700">
            <a:solidFill>
              <a:srgbClr val="E8ECEF"/>
            </a:solidFill>
            <a:prstDash val="solid"/>
          </a:ln>
        </p:spPr>
      </p:sp>
      <p:sp>
        <p:nvSpPr>
          <p:cNvPr id="19" name="Text 17"/>
          <p:cNvSpPr/>
          <p:nvPr/>
        </p:nvSpPr>
        <p:spPr>
          <a:xfrm>
            <a:off x="625449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fnlwgt_not_a_positive_integer</a:t>
            </a:r>
            <a:endParaRPr lang="en-US" sz="1000" dirty="0"/>
          </a:p>
        </p:txBody>
      </p:sp>
      <p:sp>
        <p:nvSpPr>
          <p:cNvPr id="20" name="Shape 18"/>
          <p:cNvSpPr/>
          <p:nvPr/>
        </p:nvSpPr>
        <p:spPr>
          <a:xfrm>
            <a:off x="8933688" y="4023360"/>
            <a:ext cx="2606040" cy="420624"/>
          </a:xfrm>
          <a:prstGeom prst="roundRect">
            <a:avLst>
              <a:gd name="adj" fmla="val 10870"/>
            </a:avLst>
          </a:prstGeom>
          <a:solidFill>
            <a:srgbClr val="F1F3F5"/>
          </a:solidFill>
          <a:ln w="12700">
            <a:solidFill>
              <a:srgbClr val="E8ECEF"/>
            </a:solidFill>
            <a:prstDash val="solid"/>
          </a:ln>
        </p:spPr>
      </p:sp>
      <p:sp>
        <p:nvSpPr>
          <p:cNvPr id="21" name="Text 19"/>
          <p:cNvSpPr/>
          <p:nvPr/>
        </p:nvSpPr>
        <p:spPr>
          <a:xfrm>
            <a:off x="9043416" y="402336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hours_per_week_out_of_range</a:t>
            </a:r>
            <a:endParaRPr lang="en-US" sz="1000" dirty="0"/>
          </a:p>
        </p:txBody>
      </p:sp>
      <p:sp>
        <p:nvSpPr>
          <p:cNvPr id="22" name="Shape 20"/>
          <p:cNvSpPr/>
          <p:nvPr/>
        </p:nvSpPr>
        <p:spPr>
          <a:xfrm>
            <a:off x="566928" y="4572000"/>
            <a:ext cx="2606040" cy="420624"/>
          </a:xfrm>
          <a:prstGeom prst="roundRect">
            <a:avLst>
              <a:gd name="adj" fmla="val 10870"/>
            </a:avLst>
          </a:prstGeom>
          <a:solidFill>
            <a:srgbClr val="F1F3F5"/>
          </a:solidFill>
          <a:ln w="12700">
            <a:solidFill>
              <a:srgbClr val="E8ECEF"/>
            </a:solidFill>
            <a:prstDash val="solid"/>
          </a:ln>
        </p:spPr>
      </p:sp>
      <p:sp>
        <p:nvSpPr>
          <p:cNvPr id="23" name="Text 21"/>
          <p:cNvSpPr/>
          <p:nvPr/>
        </p:nvSpPr>
        <p:spPr>
          <a:xfrm>
            <a:off x="67665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capital_value_invalid</a:t>
            </a:r>
            <a:endParaRPr lang="en-US" sz="1000" dirty="0"/>
          </a:p>
        </p:txBody>
      </p:sp>
      <p:sp>
        <p:nvSpPr>
          <p:cNvPr id="24" name="Shape 22"/>
          <p:cNvSpPr/>
          <p:nvPr/>
        </p:nvSpPr>
        <p:spPr>
          <a:xfrm>
            <a:off x="3355848" y="4572000"/>
            <a:ext cx="2606040" cy="420624"/>
          </a:xfrm>
          <a:prstGeom prst="roundRect">
            <a:avLst>
              <a:gd name="adj" fmla="val 10870"/>
            </a:avLst>
          </a:prstGeom>
          <a:solidFill>
            <a:srgbClr val="F1F3F5"/>
          </a:solidFill>
          <a:ln w="12700">
            <a:solidFill>
              <a:srgbClr val="E8ECEF"/>
            </a:solidFill>
            <a:prstDash val="solid"/>
          </a:ln>
        </p:spPr>
      </p:sp>
      <p:sp>
        <p:nvSpPr>
          <p:cNvPr id="25" name="Text 23"/>
          <p:cNvSpPr/>
          <p:nvPr/>
        </p:nvSpPr>
        <p:spPr>
          <a:xfrm>
            <a:off x="346557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income_not_recognised</a:t>
            </a:r>
            <a:endParaRPr lang="en-US" sz="1000" dirty="0"/>
          </a:p>
        </p:txBody>
      </p:sp>
      <p:sp>
        <p:nvSpPr>
          <p:cNvPr id="26" name="Shape 24"/>
          <p:cNvSpPr/>
          <p:nvPr/>
        </p:nvSpPr>
        <p:spPr>
          <a:xfrm>
            <a:off x="6144768" y="4572000"/>
            <a:ext cx="2606040" cy="420624"/>
          </a:xfrm>
          <a:prstGeom prst="roundRect">
            <a:avLst>
              <a:gd name="adj" fmla="val 10870"/>
            </a:avLst>
          </a:prstGeom>
          <a:solidFill>
            <a:srgbClr val="F1F3F5"/>
          </a:solidFill>
          <a:ln w="12700">
            <a:solidFill>
              <a:srgbClr val="E8ECEF"/>
            </a:solidFill>
            <a:prstDash val="solid"/>
          </a:ln>
        </p:spPr>
      </p:sp>
      <p:sp>
        <p:nvSpPr>
          <p:cNvPr id="27" name="Text 25"/>
          <p:cNvSpPr/>
          <p:nvPr/>
        </p:nvSpPr>
        <p:spPr>
          <a:xfrm>
            <a:off x="625449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sex_not_recognised</a:t>
            </a:r>
            <a:endParaRPr lang="en-US" sz="1000" dirty="0"/>
          </a:p>
        </p:txBody>
      </p:sp>
      <p:sp>
        <p:nvSpPr>
          <p:cNvPr id="28" name="Shape 26"/>
          <p:cNvSpPr/>
          <p:nvPr/>
        </p:nvSpPr>
        <p:spPr>
          <a:xfrm>
            <a:off x="8933688" y="4572000"/>
            <a:ext cx="2606040" cy="420624"/>
          </a:xfrm>
          <a:prstGeom prst="roundRect">
            <a:avLst>
              <a:gd name="adj" fmla="val 10870"/>
            </a:avLst>
          </a:prstGeom>
          <a:solidFill>
            <a:srgbClr val="F1F3F5"/>
          </a:solidFill>
          <a:ln w="12700">
            <a:solidFill>
              <a:srgbClr val="E8ECEF"/>
            </a:solidFill>
            <a:prstDash val="solid"/>
          </a:ln>
        </p:spPr>
      </p:sp>
      <p:sp>
        <p:nvSpPr>
          <p:cNvPr id="29" name="Text 27"/>
          <p:cNvSpPr/>
          <p:nvPr/>
        </p:nvSpPr>
        <p:spPr>
          <a:xfrm>
            <a:off x="9043416" y="4572000"/>
            <a:ext cx="2377440" cy="420624"/>
          </a:xfrm>
          <a:prstGeom prst="rect">
            <a:avLst/>
          </a:prstGeom>
          <a:noFill/>
          <a:ln/>
        </p:spPr>
        <p:txBody>
          <a:bodyPr wrap="square" lIns="0" tIns="0" rIns="0" bIns="0" rtlCol="0" anchor="ctr"/>
          <a:lstStyle/>
          <a:p>
            <a:pPr indent="0" marL="0">
              <a:buNone/>
            </a:pPr>
            <a:r>
              <a:rPr lang="en-US" sz="1000" dirty="0">
                <a:solidFill>
                  <a:srgbClr val="24303A"/>
                </a:solidFill>
                <a:latin typeface="Consolas" pitchFamily="34" charset="0"/>
                <a:ea typeface="Consolas" pitchFamily="34" charset="-122"/>
                <a:cs typeface="Consolas" pitchFamily="34" charset="-120"/>
              </a:rPr>
              <a:t>education_mapping_mismatch</a:t>
            </a:r>
            <a:endParaRPr lang="en-US" sz="1000" dirty="0"/>
          </a:p>
        </p:txBody>
      </p:sp>
      <p:sp>
        <p:nvSpPr>
          <p:cNvPr id="30" name="Shape 28"/>
          <p:cNvSpPr/>
          <p:nvPr/>
        </p:nvSpPr>
        <p:spPr>
          <a:xfrm>
            <a:off x="566928" y="5257800"/>
            <a:ext cx="11027664" cy="1005840"/>
          </a:xfrm>
          <a:prstGeom prst="roundRect">
            <a:avLst>
              <a:gd name="adj" fmla="val 5455"/>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31" name="Text 29"/>
          <p:cNvSpPr/>
          <p:nvPr/>
        </p:nvSpPr>
        <p:spPr>
          <a:xfrm>
            <a:off x="859536" y="5422392"/>
            <a:ext cx="10424160" cy="292608"/>
          </a:xfrm>
          <a:prstGeom prst="rect">
            <a:avLst/>
          </a:prstGeom>
          <a:noFill/>
          <a:ln/>
        </p:spPr>
        <p:txBody>
          <a:bodyPr wrap="square" lIns="0" tIns="0" rIns="0" bIns="0" rtlCol="0" anchor="ctr"/>
          <a:lstStyle/>
          <a:p>
            <a:pPr indent="0" marL="0">
              <a:buNone/>
            </a:pPr>
            <a:r>
              <a:rPr lang="en-US" sz="1400" b="1" dirty="0">
                <a:solidFill>
                  <a:srgbClr val="2E6F5E"/>
                </a:solidFill>
                <a:latin typeface="Calibri" pitchFamily="34" charset="0"/>
                <a:ea typeface="Calibri" pitchFamily="34" charset="-122"/>
                <a:cs typeface="Calibri" pitchFamily="34" charset="-120"/>
              </a:rPr>
              <a:t>The rules reject rows that are malformed, not rows that are merely odd.</a:t>
            </a:r>
            <a:endParaRPr lang="en-US" sz="1400" dirty="0"/>
          </a:p>
        </p:txBody>
      </p:sp>
      <p:sp>
        <p:nvSpPr>
          <p:cNvPr id="32" name="Text 30"/>
          <p:cNvSpPr/>
          <p:nvPr/>
        </p:nvSpPr>
        <p:spPr>
          <a:xfrm>
            <a:off x="859536" y="5742432"/>
            <a:ext cx="10424160" cy="41148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2,399 records carrying "?" and the three records contradicting themselves on sex and relationship are real observations and load normally.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LABS 1 TO 3</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is closed, and what is not</a:t>
            </a:r>
            <a:endParaRPr lang="en-US" sz="3200" dirty="0"/>
          </a:p>
        </p:txBody>
      </p:sp>
      <p:sp>
        <p:nvSpPr>
          <p:cNvPr id="4" name="Shape 2"/>
          <p:cNvSpPr/>
          <p:nvPr/>
        </p:nvSpPr>
        <p:spPr>
          <a:xfrm>
            <a:off x="566928" y="137160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27632"/>
            <a:ext cx="384048" cy="384048"/>
          </a:xfrm>
          <a:prstGeom prst="ellipse">
            <a:avLst/>
          </a:prstGeom>
          <a:solidFill>
            <a:srgbClr val="2E6F5E"/>
          </a:solidFill>
          <a:ln w="12700">
            <a:solidFill>
              <a:srgbClr val="2E6F5E"/>
            </a:solidFill>
            <a:prstDash val="solid"/>
          </a:ln>
        </p:spPr>
      </p:sp>
      <p:sp>
        <p:nvSpPr>
          <p:cNvPr id="6" name="Text 4"/>
          <p:cNvSpPr/>
          <p:nvPr/>
        </p:nvSpPr>
        <p:spPr>
          <a:xfrm>
            <a:off x="841248" y="1627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0876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primary key</a:t>
            </a:r>
            <a:endParaRPr lang="en-US" sz="1600" dirty="0"/>
          </a:p>
        </p:txBody>
      </p:sp>
      <p:sp>
        <p:nvSpPr>
          <p:cNvPr id="8" name="Text 6"/>
          <p:cNvSpPr/>
          <p:nvPr/>
        </p:nvSpPr>
        <p:spPr>
          <a:xfrm>
            <a:off x="1435608" y="185623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record_key manufactures identity from content, so incremental loading is possible and re-running is safe.</a:t>
            </a:r>
            <a:endParaRPr lang="en-US" sz="1250" dirty="0"/>
          </a:p>
        </p:txBody>
      </p:sp>
      <p:sp>
        <p:nvSpPr>
          <p:cNvPr id="9" name="Shape 7"/>
          <p:cNvSpPr/>
          <p:nvPr/>
        </p:nvSpPr>
        <p:spPr>
          <a:xfrm>
            <a:off x="566928" y="242316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679192"/>
            <a:ext cx="384048" cy="384048"/>
          </a:xfrm>
          <a:prstGeom prst="ellipse">
            <a:avLst/>
          </a:prstGeom>
          <a:solidFill>
            <a:srgbClr val="2E6F5E"/>
          </a:solidFill>
          <a:ln w="12700">
            <a:solidFill>
              <a:srgbClr val="2E6F5E"/>
            </a:solidFill>
            <a:prstDash val="solid"/>
          </a:ln>
        </p:spPr>
      </p:sp>
      <p:sp>
        <p:nvSpPr>
          <p:cNvPr id="11" name="Text 9"/>
          <p:cNvSpPr/>
          <p:nvPr/>
        </p:nvSpPr>
        <p:spPr>
          <a:xfrm>
            <a:off x="841248" y="26791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56032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incremental refresh</a:t>
            </a:r>
            <a:endParaRPr lang="en-US" sz="1600" dirty="0"/>
          </a:p>
        </p:txBody>
      </p:sp>
      <p:sp>
        <p:nvSpPr>
          <p:cNvPr id="13" name="Text 11"/>
          <p:cNvSpPr/>
          <p:nvPr/>
        </p:nvSpPr>
        <p:spPr>
          <a:xfrm>
            <a:off x="1435608" y="290779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Lab 1 said every load must be full replace. It no longer must be.</a:t>
            </a:r>
            <a:endParaRPr lang="en-US" sz="1250" dirty="0"/>
          </a:p>
        </p:txBody>
      </p:sp>
      <p:sp>
        <p:nvSpPr>
          <p:cNvPr id="14" name="Shape 12"/>
          <p:cNvSpPr/>
          <p:nvPr/>
        </p:nvSpPr>
        <p:spPr>
          <a:xfrm>
            <a:off x="566928" y="3474720"/>
            <a:ext cx="11027664" cy="914400"/>
          </a:xfrm>
          <a:prstGeom prst="roundRect">
            <a:avLst>
              <a:gd name="adj" fmla="val 6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730752"/>
            <a:ext cx="384048" cy="384048"/>
          </a:xfrm>
          <a:prstGeom prst="ellipse">
            <a:avLst/>
          </a:prstGeom>
          <a:solidFill>
            <a:srgbClr val="2E6F5E"/>
          </a:solidFill>
          <a:ln w="12700">
            <a:solidFill>
              <a:srgbClr val="2E6F5E"/>
            </a:solidFill>
            <a:prstDash val="solid"/>
          </a:ln>
        </p:spPr>
      </p:sp>
      <p:sp>
        <p:nvSpPr>
          <p:cNvPr id="16" name="Text 14"/>
          <p:cNvSpPr/>
          <p:nvPr/>
        </p:nvSpPr>
        <p:spPr>
          <a:xfrm>
            <a:off x="841248" y="37307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611880"/>
            <a:ext cx="329184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No auditable lineage</a:t>
            </a:r>
            <a:endParaRPr lang="en-US" sz="1600" dirty="0"/>
          </a:p>
        </p:txBody>
      </p:sp>
      <p:sp>
        <p:nvSpPr>
          <p:cNvPr id="18" name="Text 16"/>
          <p:cNvSpPr/>
          <p:nvPr/>
        </p:nvSpPr>
        <p:spPr>
          <a:xfrm>
            <a:off x="1435608" y="3959352"/>
            <a:ext cx="9784080" cy="3657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Every fact row carries its run, file and line. Every run records the file sha256.</a:t>
            </a:r>
            <a:endParaRPr lang="en-US" sz="1250" dirty="0"/>
          </a:p>
        </p:txBody>
      </p:sp>
      <p:sp>
        <p:nvSpPr>
          <p:cNvPr id="19" name="Shape 17"/>
          <p:cNvSpPr/>
          <p:nvPr/>
        </p:nvSpPr>
        <p:spPr>
          <a:xfrm>
            <a:off x="566928" y="466344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484632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What it does not fix</a:t>
            </a:r>
            <a:endParaRPr lang="en-US" sz="1600" dirty="0"/>
          </a:p>
        </p:txBody>
      </p:sp>
      <p:sp>
        <p:nvSpPr>
          <p:cNvPr id="21" name="Text 19"/>
          <p:cNvSpPr/>
          <p:nvPr/>
        </p:nvSpPr>
        <p:spPr>
          <a:xfrm>
            <a:off x="859536" y="5193792"/>
            <a:ext cx="10424160" cy="64008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Two genuinely different people who match on all 15 attributes are still indistinguishable. The ingester inherits that ambiguity from the source and does not pretend to resolve it. A real fix needs a real identifier, which only the data collector can supply.</a:t>
            </a:r>
            <a:endParaRPr lang="en-US" sz="1300" dirty="0"/>
          </a:p>
        </p:txBody>
      </p:sp>
      <p:sp>
        <p:nvSpPr>
          <p:cNvPr id="22" name="Text 20"/>
          <p:cNvSpPr/>
          <p:nvPr/>
        </p:nvSpPr>
        <p:spPr>
          <a:xfrm>
            <a:off x="566928" y="6172200"/>
            <a:ext cx="11027664" cy="365760"/>
          </a:xfrm>
          <a:prstGeom prst="rect">
            <a:avLst/>
          </a:prstGeom>
          <a:noFill/>
          <a:ln/>
        </p:spPr>
        <p:txBody>
          <a:bodyPr wrap="square" lIns="0" tIns="0" rIns="0" bIns="0" rtlCol="0" anchor="t"/>
          <a:lstStyle/>
          <a:p>
            <a:pPr algn="l" indent="0" marL="0">
              <a:lnSpc>
                <a:spcPct val="115000"/>
              </a:lnSpc>
              <a:buNone/>
            </a:pPr>
            <a:r>
              <a:rPr lang="en-US" sz="1200" dirty="0">
                <a:solidFill>
                  <a:srgbClr val="5E6B77"/>
                </a:solidFill>
                <a:latin typeface="Calibri" pitchFamily="34" charset="0"/>
                <a:ea typeface="Calibri" pitchFamily="34" charset="-122"/>
                <a:cs typeface="Calibri" pitchFamily="34" charset="-120"/>
              </a:rPr>
              <a:t>Duplicates are retained and marked, not dropped, so the decision is recorded in the data and stays reversible.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4</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Benchmark, do not believe</a:t>
            </a:r>
            <a:endParaRPr lang="en-US" sz="4000" dirty="0"/>
          </a:p>
        </p:txBody>
      </p:sp>
      <p:sp>
        <p:nvSpPr>
          <p:cNvPr id="4" name="Text 2"/>
          <p:cNvSpPr/>
          <p:nvPr/>
        </p:nvSpPr>
        <p:spPr>
          <a:xfrm>
            <a:off x="566928" y="3520440"/>
            <a:ext cx="1005840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Run the same aggregate query three ways. Record sizes and times. Then say which tool you would choose, and why.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One query, three engines, identical data</a:t>
            </a:r>
            <a:endParaRPr lang="en-US" sz="3200" dirty="0"/>
          </a:p>
        </p:txBody>
      </p:sp>
      <p:sp>
        <p:nvSpPr>
          <p:cNvPr id="4" name="Text 2"/>
          <p:cNvSpPr/>
          <p:nvPr/>
        </p:nvSpPr>
        <p:spPr>
          <a:xfrm>
            <a:off x="566928" y="12984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NATIVE, 32,561 ROWS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44.8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1,165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35.8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0.3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17.2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5486400" cy="274320"/>
          </a:xfrm>
          <a:prstGeom prst="rect">
            <a:avLst/>
          </a:prstGeom>
          <a:noFill/>
          <a:ln/>
        </p:spPr>
        <p:txBody>
          <a:bodyPr wrap="square" lIns="0" tIns="0" rIns="0" bIns="0" rtlCol="0" anchor="ctr"/>
          <a:lstStyle/>
          <a:p>
            <a:pPr indent="0" marL="0">
              <a:buNone/>
            </a:pPr>
            <a:r>
              <a:rPr lang="en-US" sz="1100" b="1" spc="100" kern="0" dirty="0">
                <a:solidFill>
                  <a:srgbClr val="5E6B77"/>
                </a:solidFill>
                <a:latin typeface="Calibri" pitchFamily="34" charset="0"/>
                <a:ea typeface="Calibri" pitchFamily="34" charset="-122"/>
                <a:cs typeface="Calibri" pitchFamily="34" charset="-120"/>
              </a:rPr>
              <a:t>SCALED, 3,256,100 ROWS</a:t>
            </a:r>
            <a:endParaRPr lang="en-US" sz="110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566928" y="3419856"/>
          <a:ext cx="11027664" cy="914400"/>
        </p:xfrm>
        <a:graphic>
          <a:graphicData uri="http://schemas.openxmlformats.org/drawingml/2006/table">
            <a:tbl>
              <a:tblPr/>
              <a:tblGrid>
                <a:gridCol w="3200400"/>
                <a:gridCol w="1828800"/>
                <a:gridCol w="2011680"/>
                <a:gridCol w="2011680"/>
                <a:gridCol w="197510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Engine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Stored size</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One-off load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Query incl.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545.5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30,373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PostgreSQL 16</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602.7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85,017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14.6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8" name="Text 4"/>
          <p:cNvSpPr/>
          <p:nvPr/>
        </p:nvSpPr>
        <p:spPr>
          <a:xfrm>
            <a:off x="566928" y="5212080"/>
            <a:ext cx="11027664" cy="411480"/>
          </a:xfrm>
          <a:prstGeom prst="rect">
            <a:avLst/>
          </a:prstGeom>
          <a:noFill/>
          <a:ln/>
        </p:spPr>
        <p:txBody>
          <a:bodyPr wrap="square" lIns="0" tIns="0" rIns="0" bIns="0" rtlCol="0" anchor="t"/>
          <a:lstStyle/>
          <a:p>
            <a:pPr algn="l" indent="0" marL="0">
              <a:lnSpc>
                <a:spcPct val="115000"/>
              </a:lnSpc>
              <a:buNone/>
            </a:pPr>
            <a:r>
              <a:rPr lang="en-US" sz="1100" dirty="0">
                <a:solidFill>
                  <a:srgbClr val="5E6B77"/>
                </a:solidFill>
                <a:latin typeface="Calibri" pitchFamily="34" charset="0"/>
                <a:ea typeface="Calibri" pitchFamily="34" charset="-122"/>
                <a:cs typeface="Calibri" pitchFamily="34" charset="-120"/>
              </a:rPr>
              <a:t>Median of 7 runs after a warm-up. AMD Ryzen 5 PRO 5650U, 12 threads, 15.3 GB RAM, Windows 11. DuckDB 1.5.5, pandas 3.0.3, PostgreSQL 16.14 in Docker.</a:t>
            </a:r>
            <a:endParaRPr lang="en-US" sz="1100" dirty="0"/>
          </a:p>
        </p:txBody>
      </p:sp>
      <p:sp>
        <p:nvSpPr>
          <p:cNvPr id="9" name="Shape 5"/>
          <p:cNvSpPr/>
          <p:nvPr/>
        </p:nvSpPr>
        <p:spPr>
          <a:xfrm>
            <a:off x="566928" y="5687568"/>
            <a:ext cx="11027664" cy="731520"/>
          </a:xfrm>
          <a:prstGeom prst="roundRect">
            <a:avLst>
              <a:gd name="adj" fmla="val 75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0" name="Text 6"/>
          <p:cNvSpPr/>
          <p:nvPr/>
        </p:nvSpPr>
        <p:spPr>
          <a:xfrm>
            <a:off x="859536" y="5888736"/>
            <a:ext cx="10424160" cy="365760"/>
          </a:xfrm>
          <a:prstGeom prst="rect">
            <a:avLst/>
          </a:prstGeom>
          <a:noFill/>
          <a:ln/>
        </p:spPr>
        <p:txBody>
          <a:bodyPr wrap="square" lIns="0" tIns="0" rIns="0" bIns="0" rtlCol="0" anchor="ctr"/>
          <a:lstStyle/>
          <a:p>
            <a:pPr indent="0" marL="0">
              <a:buNone/>
            </a:pPr>
            <a:r>
              <a:rPr lang="en-US" sz="1300" dirty="0">
                <a:solidFill>
                  <a:srgbClr val="2E6F5E"/>
                </a:solidFill>
                <a:latin typeface="Calibri" pitchFamily="34" charset="0"/>
                <a:ea typeface="Calibri" pitchFamily="34" charset="-122"/>
                <a:cs typeface="Calibri" pitchFamily="34" charset="-120"/>
              </a:rPr>
              <a:t>The scaled rows are here because at 32,561 the numbers say more about process startup than about engines.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What stops this being a meaningless benchmark</a:t>
            </a:r>
            <a:endParaRPr lang="en-US" sz="3200" dirty="0"/>
          </a:p>
        </p:txBody>
      </p:sp>
      <p:sp>
        <p:nvSpPr>
          <p:cNvPr id="4" name="Shape 2"/>
          <p:cNvSpPr/>
          <p:nvPr/>
        </p:nvSpPr>
        <p:spPr>
          <a:xfrm>
            <a:off x="566928" y="1371600"/>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Shape 3"/>
          <p:cNvSpPr/>
          <p:nvPr/>
        </p:nvSpPr>
        <p:spPr>
          <a:xfrm>
            <a:off x="841248" y="1664208"/>
            <a:ext cx="384048" cy="384048"/>
          </a:xfrm>
          <a:prstGeom prst="ellipse">
            <a:avLst/>
          </a:prstGeom>
          <a:solidFill>
            <a:srgbClr val="24303A"/>
          </a:solidFill>
          <a:ln w="12700">
            <a:solidFill>
              <a:srgbClr val="24303A"/>
            </a:solidFill>
            <a:prstDash val="solid"/>
          </a:ln>
        </p:spPr>
      </p:sp>
      <p:sp>
        <p:nvSpPr>
          <p:cNvPr id="6" name="Text 4"/>
          <p:cNvSpPr/>
          <p:nvPr/>
        </p:nvSpPr>
        <p:spPr>
          <a:xfrm>
            <a:off x="841248" y="1664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35608" y="1517904"/>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All three engines see identical data</a:t>
            </a:r>
            <a:endParaRPr lang="en-US" sz="1600" dirty="0"/>
          </a:p>
        </p:txBody>
      </p:sp>
      <p:sp>
        <p:nvSpPr>
          <p:cNvPr id="8" name="Text 6"/>
          <p:cNvSpPr/>
          <p:nvPr/>
        </p:nvSpPr>
        <p:spPr>
          <a:xfrm>
            <a:off x="1435608" y="1865376"/>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Benchmarking the raw CSV against the cleaned warehouse would compare question marks and 99999 against nulls and flags. One denormalised table is written to all three formats.</a:t>
            </a:r>
            <a:endParaRPr lang="en-US" sz="1250" dirty="0"/>
          </a:p>
        </p:txBody>
      </p:sp>
      <p:sp>
        <p:nvSpPr>
          <p:cNvPr id="9" name="Shape 7"/>
          <p:cNvSpPr/>
          <p:nvPr/>
        </p:nvSpPr>
        <p:spPr>
          <a:xfrm>
            <a:off x="566928" y="2505456"/>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Shape 8"/>
          <p:cNvSpPr/>
          <p:nvPr/>
        </p:nvSpPr>
        <p:spPr>
          <a:xfrm>
            <a:off x="841248" y="2798064"/>
            <a:ext cx="384048" cy="384048"/>
          </a:xfrm>
          <a:prstGeom prst="ellipse">
            <a:avLst/>
          </a:prstGeom>
          <a:solidFill>
            <a:srgbClr val="24303A"/>
          </a:solidFill>
          <a:ln w="12700">
            <a:solidFill>
              <a:srgbClr val="24303A"/>
            </a:solidFill>
            <a:prstDash val="solid"/>
          </a:ln>
        </p:spPr>
      </p:sp>
      <p:sp>
        <p:nvSpPr>
          <p:cNvPr id="11" name="Text 9"/>
          <p:cNvSpPr/>
          <p:nvPr/>
        </p:nvSpPr>
        <p:spPr>
          <a:xfrm>
            <a:off x="841248" y="27980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35608" y="2651760"/>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The answers are checked before any timing is reported</a:t>
            </a:r>
            <a:endParaRPr lang="en-US" sz="1600" dirty="0"/>
          </a:p>
        </p:txBody>
      </p:sp>
      <p:sp>
        <p:nvSpPr>
          <p:cNvPr id="13" name="Text 11"/>
          <p:cNvSpPr/>
          <p:nvPr/>
        </p:nvSpPr>
        <p:spPr>
          <a:xfrm>
            <a:off x="1435608" y="2999232"/>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All three return the same 87 groups, and the script refuses to print a timing if they disagree. A fast engine computing a different answer is not a result.</a:t>
            </a:r>
            <a:endParaRPr lang="en-US" sz="1250" dirty="0"/>
          </a:p>
        </p:txBody>
      </p:sp>
      <p:sp>
        <p:nvSpPr>
          <p:cNvPr id="14" name="Shape 12"/>
          <p:cNvSpPr/>
          <p:nvPr/>
        </p:nvSpPr>
        <p:spPr>
          <a:xfrm>
            <a:off x="566928" y="3639312"/>
            <a:ext cx="11027664" cy="987552"/>
          </a:xfrm>
          <a:prstGeom prst="roundRect">
            <a:avLst>
              <a:gd name="adj" fmla="val 555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5" name="Shape 13"/>
          <p:cNvSpPr/>
          <p:nvPr/>
        </p:nvSpPr>
        <p:spPr>
          <a:xfrm>
            <a:off x="841248" y="3931920"/>
            <a:ext cx="384048" cy="384048"/>
          </a:xfrm>
          <a:prstGeom prst="ellipse">
            <a:avLst/>
          </a:prstGeom>
          <a:solidFill>
            <a:srgbClr val="24303A"/>
          </a:solidFill>
          <a:ln w="12700">
            <a:solidFill>
              <a:srgbClr val="24303A"/>
            </a:solidFill>
            <a:prstDash val="solid"/>
          </a:ln>
        </p:spPr>
      </p:sp>
      <p:sp>
        <p:nvSpPr>
          <p:cNvPr id="16" name="Text 14"/>
          <p:cNvSpPr/>
          <p:nvPr/>
        </p:nvSpPr>
        <p:spPr>
          <a:xfrm>
            <a:off x="841248" y="3931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35608" y="3785616"/>
            <a:ext cx="987552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Load cost is separated from query cost</a:t>
            </a:r>
            <a:endParaRPr lang="en-US" sz="1600" dirty="0"/>
          </a:p>
        </p:txBody>
      </p:sp>
      <p:sp>
        <p:nvSpPr>
          <p:cNvPr id="18" name="Text 16"/>
          <p:cNvSpPr/>
          <p:nvPr/>
        </p:nvSpPr>
        <p:spPr>
          <a:xfrm>
            <a:off x="1435608" y="4133088"/>
            <a:ext cx="9875520" cy="438912"/>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pandas pays the file read on every run. The databases pay it once. Reporting only per-query time flatters pandas, and only total time flatters the databases, so both are shown.</a:t>
            </a:r>
            <a:endParaRPr lang="en-US" sz="1250" dirty="0"/>
          </a:p>
        </p:txBody>
      </p:sp>
      <p:sp>
        <p:nvSpPr>
          <p:cNvPr id="19" name="Shape 17"/>
          <p:cNvSpPr/>
          <p:nvPr/>
        </p:nvSpPr>
        <p:spPr>
          <a:xfrm>
            <a:off x="566928" y="4937760"/>
            <a:ext cx="11027664" cy="1325880"/>
          </a:xfrm>
          <a:prstGeom prst="roundRect">
            <a:avLst>
              <a:gd name="adj" fmla="val 413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20" name="Text 18"/>
          <p:cNvSpPr/>
          <p:nvPr/>
        </p:nvSpPr>
        <p:spPr>
          <a:xfrm>
            <a:off x="859536" y="5120640"/>
            <a:ext cx="10424160" cy="320040"/>
          </a:xfrm>
          <a:prstGeom prst="rect">
            <a:avLst/>
          </a:prstGeom>
          <a:noFill/>
          <a:ln/>
        </p:spPr>
        <p:txBody>
          <a:bodyPr wrap="square" lIns="0" tIns="0" rIns="0" bIns="0" rtlCol="0" anchor="ctr"/>
          <a:lstStyle/>
          <a:p>
            <a:pPr indent="0" marL="0">
              <a:buNone/>
            </a:pPr>
            <a:r>
              <a:rPr lang="en-US" sz="1600" b="1" dirty="0">
                <a:solidFill>
                  <a:srgbClr val="B3453A"/>
                </a:solidFill>
                <a:latin typeface="Cambria" pitchFamily="34" charset="0"/>
                <a:ea typeface="Cambria" pitchFamily="34" charset="-122"/>
                <a:cs typeface="Cambria" pitchFamily="34" charset="-120"/>
              </a:rPr>
              <a:t>One figure had to be thrown away</a:t>
            </a:r>
            <a:endParaRPr lang="en-US" sz="1600" dirty="0"/>
          </a:p>
        </p:txBody>
      </p:sp>
      <p:sp>
        <p:nvSpPr>
          <p:cNvPr id="21" name="Text 19"/>
          <p:cNvSpPr/>
          <p:nvPr/>
        </p:nvSpPr>
        <p:spPr>
          <a:xfrm>
            <a:off x="859536" y="5477256"/>
            <a:ext cx="10424160" cy="658368"/>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first scaled run put Parquet at 2.4 MB against 535 MB of CSV, a ratio of 223. That was an artifact of replicating rows: the columns became perfectly repetitive and compressed into almost nothing. No real dataset behaves that way, so the quoted storage figure is the native one.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Run it on another machine and one result inverts</a:t>
            </a:r>
            <a:endParaRPr lang="en-US" sz="3200" dirty="0"/>
          </a:p>
        </p:txBody>
      </p:sp>
      <p:sp>
        <p:nvSpPr>
          <p:cNvPr id="4" name="Text 2"/>
          <p:cNvSpPr/>
          <p:nvPr/>
        </p:nvSpPr>
        <p:spPr>
          <a:xfrm>
            <a:off x="566928" y="1298448"/>
            <a:ext cx="11027664" cy="41148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The same benchmark, run again inside Colab on different hardware, with PostgreSQL 14 instead of 16.</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27664" cy="914400"/>
        </p:xfrm>
        <a:graphic>
          <a:graphicData uri="http://schemas.openxmlformats.org/drawingml/2006/table">
            <a:tbl>
              <a:tblPr/>
              <a:tblGrid>
                <a:gridCol w="3566160"/>
                <a:gridCol w="1828800"/>
                <a:gridCol w="1920240"/>
                <a:gridCol w="1828800"/>
                <a:gridCol w="188366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Rows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CSV + pandas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DuckDB + Parquet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Local, PostgreSQL 16.14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3,256,100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1,450.6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1,263.0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125.1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Colab, PostgreSQL 14.24</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1,628,050</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551.9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760.2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107.5 ms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27248"/>
            <a:ext cx="11027664" cy="365760"/>
          </a:xfrm>
          <a:prstGeom prst="rect">
            <a:avLst/>
          </a:prstGeom>
          <a:noFill/>
          <a:ln/>
        </p:spPr>
        <p:txBody>
          <a:bodyPr wrap="square" lIns="0" tIns="0" rIns="0" bIns="0" rtlCol="0" anchor="ctr"/>
          <a:lstStyle/>
          <a:p>
            <a:pPr indent="0" marL="0">
              <a:buNone/>
            </a:pPr>
            <a:r>
              <a:rPr lang="en-US" sz="1900" b="1" dirty="0">
                <a:solidFill>
                  <a:srgbClr val="24303A"/>
                </a:solidFill>
                <a:latin typeface="Cambria" pitchFamily="34" charset="0"/>
                <a:ea typeface="Cambria" pitchFamily="34" charset="-122"/>
                <a:cs typeface="Cambria" pitchFamily="34" charset="-120"/>
              </a:rPr>
              <a:t>PostgreSQL beat pandas on one run and lost to it on the other</a:t>
            </a:r>
            <a:endParaRPr lang="en-US" sz="1900" dirty="0"/>
          </a:p>
        </p:txBody>
      </p:sp>
      <p:sp>
        <p:nvSpPr>
          <p:cNvPr id="7" name="Text 4"/>
          <p:cNvSpPr/>
          <p:nvPr/>
        </p:nvSpPr>
        <p:spPr>
          <a:xfrm>
            <a:off x="566928" y="3566160"/>
            <a:ext cx="11027664" cy="731520"/>
          </a:xfrm>
          <a:prstGeom prst="rect">
            <a:avLst/>
          </a:prstGeom>
          <a:noFill/>
          <a:ln/>
        </p:spPr>
        <p:txBody>
          <a:bodyPr wrap="square" lIns="0" tIns="0" rIns="0" bIns="0" rtlCol="0" anchor="t"/>
          <a:lstStyle/>
          <a:p>
            <a:pPr algn="l" indent="0" marL="0">
              <a:lnSpc>
                <a:spcPct val="115000"/>
              </a:lnSpc>
              <a:buNone/>
            </a:pPr>
            <a:r>
              <a:rPr lang="en-US" sz="1350" dirty="0">
                <a:solidFill>
                  <a:srgbClr val="24303A"/>
                </a:solidFill>
                <a:latin typeface="Calibri" pitchFamily="34" charset="0"/>
                <a:ea typeface="Calibri" pitchFamily="34" charset="-122"/>
                <a:cs typeface="Calibri" pitchFamily="34" charset="-120"/>
              </a:rPr>
              <a:t>Three things differ between those two rows at once: the row count, the PostgreSQL version and the machine. The inversion cannot be pinned on any one of them without further work, and claiming otherwise would be exactly the thing this lab is named after.</a:t>
            </a:r>
            <a:endParaRPr lang="en-US" sz="1350" dirty="0"/>
          </a:p>
        </p:txBody>
      </p:sp>
      <p:sp>
        <p:nvSpPr>
          <p:cNvPr id="8" name="Shape 5"/>
          <p:cNvSpPr/>
          <p:nvPr/>
        </p:nvSpPr>
        <p:spPr>
          <a:xfrm>
            <a:off x="566928" y="4480560"/>
            <a:ext cx="5394960" cy="1737360"/>
          </a:xfrm>
          <a:prstGeom prst="roundRect">
            <a:avLst>
              <a:gd name="adj" fmla="val 3158"/>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9" name="Text 6"/>
          <p:cNvSpPr/>
          <p:nvPr/>
        </p:nvSpPr>
        <p:spPr>
          <a:xfrm>
            <a:off x="841248" y="4663440"/>
            <a:ext cx="4846320" cy="292608"/>
          </a:xfrm>
          <a:prstGeom prst="rect">
            <a:avLst/>
          </a:prstGeom>
          <a:noFill/>
          <a:ln/>
        </p:spPr>
        <p:txBody>
          <a:bodyPr wrap="square" lIns="0" tIns="0" rIns="0" bIns="0" rtlCol="0" anchor="ctr"/>
          <a:lstStyle/>
          <a:p>
            <a:pPr indent="0" marL="0">
              <a:buNone/>
            </a:pPr>
            <a:r>
              <a:rPr lang="en-US" sz="1500" b="1" dirty="0">
                <a:solidFill>
                  <a:srgbClr val="B3453A"/>
                </a:solidFill>
                <a:latin typeface="Cambria" pitchFamily="34" charset="0"/>
                <a:ea typeface="Cambria" pitchFamily="34" charset="-122"/>
                <a:cs typeface="Cambria" pitchFamily="34" charset="-120"/>
              </a:rPr>
              <a:t>What does not survive</a:t>
            </a:r>
            <a:endParaRPr lang="en-US" sz="1500" dirty="0"/>
          </a:p>
        </p:txBody>
      </p:sp>
      <p:sp>
        <p:nvSpPr>
          <p:cNvPr id="10" name="Text 7"/>
          <p:cNvSpPr/>
          <p:nvPr/>
        </p:nvSpPr>
        <p:spPr>
          <a:xfrm>
            <a:off x="841248"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The gap between pandas and PostgreSQL on this query is small enough to invert when the environment changes. Neither figure is a fact about the engines.</a:t>
            </a:r>
            <a:endParaRPr lang="en-US" sz="1250" dirty="0"/>
          </a:p>
        </p:txBody>
      </p:sp>
      <p:sp>
        <p:nvSpPr>
          <p:cNvPr id="11" name="Shape 8"/>
          <p:cNvSpPr/>
          <p:nvPr/>
        </p:nvSpPr>
        <p:spPr>
          <a:xfrm>
            <a:off x="6217920" y="4480560"/>
            <a:ext cx="5376672" cy="1737360"/>
          </a:xfrm>
          <a:prstGeom prst="roundRect">
            <a:avLst>
              <a:gd name="adj" fmla="val 3158"/>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2" name="Text 9"/>
          <p:cNvSpPr/>
          <p:nvPr/>
        </p:nvSpPr>
        <p:spPr>
          <a:xfrm>
            <a:off x="6492240" y="4663440"/>
            <a:ext cx="4846320" cy="292608"/>
          </a:xfrm>
          <a:prstGeom prst="rect">
            <a:avLst/>
          </a:prstGeom>
          <a:noFill/>
          <a:ln/>
        </p:spPr>
        <p:txBody>
          <a:bodyPr wrap="square" lIns="0" tIns="0" rIns="0" bIns="0" rtlCol="0" anchor="ctr"/>
          <a:lstStyle/>
          <a:p>
            <a:pPr indent="0" marL="0">
              <a:buNone/>
            </a:pPr>
            <a:r>
              <a:rPr lang="en-US" sz="1500" b="1" dirty="0">
                <a:solidFill>
                  <a:srgbClr val="2E6F5E"/>
                </a:solidFill>
                <a:latin typeface="Cambria" pitchFamily="34" charset="0"/>
                <a:ea typeface="Cambria" pitchFamily="34" charset="-122"/>
                <a:cs typeface="Cambria" pitchFamily="34" charset="-120"/>
              </a:rPr>
              <a:t>What does survive</a:t>
            </a:r>
            <a:endParaRPr lang="en-US" sz="1500" dirty="0"/>
          </a:p>
        </p:txBody>
      </p:sp>
      <p:sp>
        <p:nvSpPr>
          <p:cNvPr id="13" name="Text 10"/>
          <p:cNvSpPr/>
          <p:nvPr/>
        </p:nvSpPr>
        <p:spPr>
          <a:xfrm>
            <a:off x="6492240" y="5010912"/>
            <a:ext cx="4846320" cy="105156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DuckDB with Parquet was between four and ten times faster than the next engine in both environments. That is the only part of the result the verdict rests 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4</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Which tool we would choose, and why</a:t>
            </a:r>
            <a:endParaRPr lang="en-US" sz="3200" dirty="0"/>
          </a:p>
        </p:txBody>
      </p:sp>
      <p:sp>
        <p:nvSpPr>
          <p:cNvPr id="4" name="Shape 2"/>
          <p:cNvSpPr/>
          <p:nvPr/>
        </p:nvSpPr>
        <p:spPr>
          <a:xfrm>
            <a:off x="566928" y="1371600"/>
            <a:ext cx="11027664" cy="1005840"/>
          </a:xfrm>
          <a:prstGeom prst="roundRect">
            <a:avLst>
              <a:gd name="adj" fmla="val 5455"/>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609344"/>
            <a:ext cx="10424160" cy="54864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At 32,561 rows every engine answers in under 50 milliseconds, so for this dataset as it stands today, speed is not what decides the question.</a:t>
            </a:r>
            <a:endParaRPr lang="en-US" sz="1500" dirty="0"/>
          </a:p>
        </p:txBody>
      </p:sp>
      <p:sp>
        <p:nvSpPr>
          <p:cNvPr id="6" name="Shape 4"/>
          <p:cNvSpPr/>
          <p:nvPr/>
        </p:nvSpPr>
        <p:spPr>
          <a:xfrm>
            <a:off x="566928" y="2560320"/>
            <a:ext cx="11027664" cy="1645920"/>
          </a:xfrm>
          <a:prstGeom prst="roundRect">
            <a:avLst>
              <a:gd name="adj" fmla="val 3333"/>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7" name="Text 5"/>
          <p:cNvSpPr/>
          <p:nvPr/>
        </p:nvSpPr>
        <p:spPr>
          <a:xfrm>
            <a:off x="859536" y="2761488"/>
            <a:ext cx="10424160" cy="411480"/>
          </a:xfrm>
          <a:prstGeom prst="rect">
            <a:avLst/>
          </a:prstGeom>
          <a:noFill/>
          <a:ln/>
        </p:spPr>
        <p:txBody>
          <a:bodyPr wrap="square" lIns="0" tIns="0" rIns="0" bIns="0" rtlCol="0" anchor="ctr"/>
          <a:lstStyle/>
          <a:p>
            <a:pPr indent="0" marL="0">
              <a:buNone/>
            </a:pPr>
            <a:r>
              <a:rPr lang="en-US" sz="2600" b="1" dirty="0">
                <a:solidFill>
                  <a:srgbClr val="2E6F5E"/>
                </a:solidFill>
                <a:latin typeface="Cambria" pitchFamily="34" charset="0"/>
                <a:ea typeface="Cambria" pitchFamily="34" charset="-122"/>
                <a:cs typeface="Cambria" pitchFamily="34" charset="-120"/>
              </a:rPr>
              <a:t>DuckDB with Parquet</a:t>
            </a:r>
            <a:endParaRPr lang="en-US" sz="2600" dirty="0"/>
          </a:p>
        </p:txBody>
      </p:sp>
      <p:sp>
        <p:nvSpPr>
          <p:cNvPr id="8" name="Text 6"/>
          <p:cNvSpPr/>
          <p:nvPr/>
        </p:nvSpPr>
        <p:spPr>
          <a:xfrm>
            <a:off x="859536" y="3273552"/>
            <a:ext cx="10424160" cy="73152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Fastest of the three at both sizes. The file is seventeen times smaller than the CSV. And it needs no server running before anyone can ask a question.</a:t>
            </a:r>
            <a:endParaRPr lang="en-US" sz="1500" dirty="0"/>
          </a:p>
        </p:txBody>
      </p:sp>
      <p:sp>
        <p:nvSpPr>
          <p:cNvPr id="9" name="Shape 7"/>
          <p:cNvSpPr/>
          <p:nvPr/>
        </p:nvSpPr>
        <p:spPr>
          <a:xfrm>
            <a:off x="566928" y="4370832"/>
            <a:ext cx="11027664" cy="1234440"/>
          </a:xfrm>
          <a:prstGeom prst="roundRect">
            <a:avLst>
              <a:gd name="adj" fmla="val 4444"/>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0" name="Text 8"/>
          <p:cNvSpPr/>
          <p:nvPr/>
        </p:nvSpPr>
        <p:spPr>
          <a:xfrm>
            <a:off x="859536" y="4590288"/>
            <a:ext cx="10424160" cy="82296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PostgreSQL earns its load time and its extra disk only when several people write at once and the data has to survive a crash, and neither is true of a coursework warehouse that one analyst rebuilds from a clone in seconds.</a:t>
            </a:r>
            <a:endParaRPr lang="en-US" sz="1500" dirty="0"/>
          </a:p>
        </p:txBody>
      </p:sp>
      <p:sp>
        <p:nvSpPr>
          <p:cNvPr id="11" name="Text 9"/>
          <p:cNvSpPr/>
          <p:nvPr/>
        </p:nvSpPr>
        <p:spPr>
          <a:xfrm>
            <a:off x="566928" y="5806440"/>
            <a:ext cx="11027664" cy="365760"/>
          </a:xfrm>
          <a:prstGeom prst="rect">
            <a:avLst/>
          </a:prstGeom>
          <a:noFill/>
          <a:ln/>
        </p:spPr>
        <p:txBody>
          <a:bodyPr wrap="square" lIns="0" tIns="0" rIns="0" bIns="0" rtlCol="0" anchor="t"/>
          <a:lstStyle/>
          <a:p>
            <a:pPr algn="l" indent="0" marL="0">
              <a:lnSpc>
                <a:spcPct val="115000"/>
              </a:lnSpc>
              <a:buNone/>
            </a:pPr>
            <a:r>
              <a:rPr lang="en-US" sz="1250" dirty="0">
                <a:solidFill>
                  <a:srgbClr val="5E6B77"/>
                </a:solidFill>
                <a:latin typeface="Calibri" pitchFamily="34" charset="0"/>
                <a:ea typeface="Calibri" pitchFamily="34" charset="-122"/>
                <a:cs typeface="Calibri" pitchFamily="34" charset="-120"/>
              </a:rPr>
              <a:t>Reproduce with:  python scripts/benchmark.py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2103120"/>
            <a:ext cx="5486400" cy="365760"/>
          </a:xfrm>
          <a:prstGeom prst="rect">
            <a:avLst/>
          </a:prstGeom>
          <a:noFill/>
          <a:ln/>
        </p:spPr>
        <p:txBody>
          <a:bodyPr wrap="square" lIns="0" tIns="0" rIns="0" bIns="0" rtlCol="0" anchor="ctr"/>
          <a:lstStyle/>
          <a:p>
            <a:pPr indent="0" marL="0">
              <a:buNone/>
            </a:pPr>
            <a:r>
              <a:rPr lang="en-US" sz="1300" b="1" spc="300" kern="0" dirty="0">
                <a:solidFill>
                  <a:srgbClr val="8FC3B2"/>
                </a:solidFill>
                <a:latin typeface="Calibri" pitchFamily="34" charset="0"/>
                <a:ea typeface="Calibri" pitchFamily="34" charset="-122"/>
                <a:cs typeface="Calibri" pitchFamily="34" charset="-120"/>
              </a:rPr>
              <a:t>LAB 5</a:t>
            </a:r>
            <a:endParaRPr lang="en-US" sz="1300" dirty="0"/>
          </a:p>
        </p:txBody>
      </p:sp>
      <p:sp>
        <p:nvSpPr>
          <p:cNvPr id="3" name="Text 1"/>
          <p:cNvSpPr/>
          <p:nvPr/>
        </p:nvSpPr>
        <p:spPr>
          <a:xfrm>
            <a:off x="566928" y="25146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Touch a real cloud warehouse</a:t>
            </a:r>
            <a:endParaRPr lang="en-US" sz="4000" dirty="0"/>
          </a:p>
        </p:txBody>
      </p:sp>
      <p:sp>
        <p:nvSpPr>
          <p:cNvPr id="4" name="Text 2"/>
          <p:cNvSpPr/>
          <p:nvPr/>
        </p:nvSpPr>
        <p:spPr>
          <a:xfrm>
            <a:off x="566928" y="3520440"/>
            <a:ext cx="10332720" cy="457200"/>
          </a:xfrm>
          <a:prstGeom prst="rect">
            <a:avLst/>
          </a:prstGeom>
          <a:noFill/>
          <a:ln/>
        </p:spPr>
        <p:txBody>
          <a:bodyPr wrap="square" lIns="0" tIns="0" rIns="0" bIns="0" rtlCol="0" anchor="ctr"/>
          <a:lstStyle/>
          <a:p>
            <a:pPr indent="0" marL="0">
              <a:buNone/>
            </a:pPr>
            <a:r>
              <a:rPr lang="en-US" sz="1600" dirty="0">
                <a:solidFill>
                  <a:srgbClr val="A8B4BE"/>
                </a:solidFill>
                <a:latin typeface="Calibri" pitchFamily="34" charset="0"/>
                <a:ea typeface="Calibri" pitchFamily="34" charset="-122"/>
                <a:cs typeface="Calibri" pitchFamily="34" charset="-120"/>
              </a:rPr>
              <a:t>Load a sample into the BigQuery sandbox, run one aggregate, and write down the bytes processed. That number is the cost driver.</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We priced the query before we ran it</a:t>
            </a:r>
            <a:endParaRPr lang="en-US" sz="3200" dirty="0"/>
          </a:p>
        </p:txBody>
      </p:sp>
      <p:sp>
        <p:nvSpPr>
          <p:cNvPr id="4" name="Text 2"/>
          <p:cNvSpPr/>
          <p:nvPr/>
        </p:nvSpPr>
        <p:spPr>
          <a:xfrm>
            <a:off x="566928" y="1298448"/>
            <a:ext cx="11027664" cy="457200"/>
          </a:xfrm>
          <a:prstGeom prst="rect">
            <a:avLst/>
          </a:prstGeom>
          <a:noFill/>
          <a:ln/>
        </p:spPr>
        <p:txBody>
          <a:bodyPr wrap="square" lIns="0" tIns="0" rIns="0" bIns="0" rtlCol="0" anchor="t"/>
          <a:lstStyle/>
          <a:p>
            <a:pPr algn="l" indent="0" marL="0">
              <a:lnSpc>
                <a:spcPct val="115000"/>
              </a:lnSpc>
              <a:buNone/>
            </a:pPr>
            <a:r>
              <a:rPr lang="en-US" sz="1450" dirty="0">
                <a:solidFill>
                  <a:srgbClr val="24303A"/>
                </a:solidFill>
                <a:latin typeface="Calibri" pitchFamily="34" charset="0"/>
                <a:ea typeface="Calibri" pitchFamily="34" charset="-122"/>
                <a:cs typeface="Calibri" pitchFamily="34" charset="-120"/>
              </a:rPr>
              <a:t>BigQuery bills for bytes read. Column widths are fixed by type, a NULL costs nothing, and a query reads only the columns it names, so the scan is arithmetic. We computed it before opening the sandbox.</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27664" cy="914400"/>
        </p:xfrm>
        <a:graphic>
          <a:graphicData uri="http://schemas.openxmlformats.org/drawingml/2006/table">
            <a:tbl>
              <a:tblPr/>
              <a:tblGrid>
                <a:gridCol w="3840480"/>
                <a:gridCol w="2103120"/>
                <a:gridCol w="1737360"/>
                <a:gridCol w="1645920"/>
                <a:gridCol w="1700784"/>
              </a:tblGrid>
              <a:tr h="310896">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Query</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Predicted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Measured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Billed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Agrees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24303A"/>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The aggregate, six columns referenced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1,898,872 bytes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1.81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10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r h="310896">
                <a:tc>
                  <a:txBody>
                    <a:bodyPr/>
                    <a:lstStyle/>
                    <a:p>
                      <a:pPr algn="l" indent="0" marL="0">
                        <a:buNone/>
                      </a:pPr>
                      <a:r>
                        <a:rPr lang="en-US" sz="1250" dirty="0">
                          <a:solidFill>
                            <a:srgbClr val="24303A"/>
                          </a:solidFill>
                          <a:latin typeface="Calibri" pitchFamily="34" charset="0"/>
                          <a:ea typeface="Calibri" pitchFamily="34" charset="-122"/>
                          <a:cs typeface="Calibri" pitchFamily="34" charset="-120"/>
                        </a:rPr>
                        <a:t>Every column genuinely read</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5,604,157 bytes</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E6F5E"/>
                          </a:solidFill>
                          <a:latin typeface="Calibri" pitchFamily="34" charset="0"/>
                          <a:ea typeface="Calibri" pitchFamily="34" charset="-122"/>
                          <a:cs typeface="Calibri" pitchFamily="34" charset="-120"/>
                        </a:rPr>
                        <a:t>5.34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10 MB</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4303A"/>
                          </a:solidFill>
                          <a:latin typeface="Calibri" pitchFamily="34" charset="0"/>
                          <a:ea typeface="Calibri" pitchFamily="34" charset="-122"/>
                          <a:cs typeface="Calibri" pitchFamily="34" charset="-120"/>
                        </a:rPr>
                        <a:t>exact</a:t>
                      </a:r>
                      <a:endParaRPr lang="en-US" sz="1250" dirty="0">
                        <a:latin typeface="Calibri" charset="0"/>
                        <a:ea typeface="Calibri" charset="0"/>
                        <a:cs typeface="Calibri" charset="0"/>
                      </a:endParaRPr>
                    </a:p>
                  </a:txBody>
                  <a:tcPr marL="91440" marR="91440" marT="45720" marB="45720" anchor="ctr">
                    <a:lnL w="12700" cap="flat" cmpd="sng" algn="ctr">
                      <a:solidFill>
                        <a:srgbClr val="E8ECEF"/>
                      </a:solidFill>
                      <a:prstDash val="solid"/>
                      <a:round/>
                      <a:headEnd type="none" w="med" len="med"/>
                      <a:tailEnd type="none" w="med" len="med"/>
                    </a:lnL>
                    <a:lnR w="12700" cap="flat" cmpd="sng" algn="ctr">
                      <a:solidFill>
                        <a:srgbClr val="E8ECEF"/>
                      </a:solidFill>
                      <a:prstDash val="solid"/>
                      <a:round/>
                      <a:headEnd type="none" w="med" len="med"/>
                      <a:tailEnd type="none" w="med" len="med"/>
                    </a:lnR>
                    <a:lnT w="12700" cap="flat" cmpd="sng" algn="ctr">
                      <a:solidFill>
                        <a:srgbClr val="E8ECEF"/>
                      </a:solidFill>
                      <a:prstDash val="solid"/>
                      <a:round/>
                      <a:headEnd type="none" w="med" len="med"/>
                      <a:tailEnd type="none" w="med" len="med"/>
                    </a:lnT>
                    <a:lnB w="12700" cap="flat" cmpd="sng" algn="ctr">
                      <a:solidFill>
                        <a:srgbClr val="E8ECEF"/>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246120"/>
            <a:ext cx="2743200" cy="777240"/>
          </a:xfrm>
          <a:prstGeom prst="rect">
            <a:avLst/>
          </a:prstGeom>
          <a:noFill/>
          <a:ln/>
        </p:spPr>
        <p:txBody>
          <a:bodyPr wrap="square" lIns="0" tIns="0" rIns="0" bIns="0" rtlCol="0" anchor="ctr"/>
          <a:lstStyle/>
          <a:p>
            <a:pPr algn="l" indent="0" marL="0">
              <a:buNone/>
            </a:pPr>
            <a:r>
              <a:rPr lang="en-US" sz="3400" b="1" dirty="0">
                <a:solidFill>
                  <a:srgbClr val="2E6F5E"/>
                </a:solidFill>
                <a:latin typeface="Cambria" pitchFamily="34" charset="0"/>
                <a:ea typeface="Cambria" pitchFamily="34" charset="-122"/>
                <a:cs typeface="Cambria" pitchFamily="34" charset="-120"/>
              </a:rPr>
              <a:t>1.81 MB</a:t>
            </a:r>
            <a:endParaRPr lang="en-US" sz="3400" dirty="0"/>
          </a:p>
        </p:txBody>
      </p:sp>
      <p:sp>
        <p:nvSpPr>
          <p:cNvPr id="7" name="Text 4"/>
          <p:cNvSpPr/>
          <p:nvPr/>
        </p:nvSpPr>
        <p:spPr>
          <a:xfrm>
            <a:off x="566928" y="399592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the figure the lab asks for</a:t>
            </a:r>
            <a:endParaRPr lang="en-US" sz="1200" dirty="0"/>
          </a:p>
        </p:txBody>
      </p:sp>
      <p:sp>
        <p:nvSpPr>
          <p:cNvPr id="8" name="Text 5"/>
          <p:cNvSpPr/>
          <p:nvPr/>
        </p:nvSpPr>
        <p:spPr>
          <a:xfrm>
            <a:off x="3840480" y="3246120"/>
            <a:ext cx="2743200" cy="777240"/>
          </a:xfrm>
          <a:prstGeom prst="rect">
            <a:avLst/>
          </a:prstGeom>
          <a:noFill/>
          <a:ln/>
        </p:spPr>
        <p:txBody>
          <a:bodyPr wrap="square" lIns="0" tIns="0" rIns="0" bIns="0" rtlCol="0" anchor="ctr"/>
          <a:lstStyle/>
          <a:p>
            <a:pPr algn="l" indent="0" marL="0">
              <a:buNone/>
            </a:pPr>
            <a:r>
              <a:rPr lang="en-US" sz="3400" b="1" dirty="0">
                <a:solidFill>
                  <a:srgbClr val="24303A"/>
                </a:solidFill>
                <a:latin typeface="Cambria" pitchFamily="34" charset="0"/>
                <a:ea typeface="Cambria" pitchFamily="34" charset="-122"/>
                <a:cs typeface="Cambria" pitchFamily="34" charset="-120"/>
              </a:rPr>
              <a:t>10 MB</a:t>
            </a:r>
            <a:endParaRPr lang="en-US" sz="3400" dirty="0"/>
          </a:p>
        </p:txBody>
      </p:sp>
      <p:sp>
        <p:nvSpPr>
          <p:cNvPr id="9" name="Text 6"/>
          <p:cNvSpPr/>
          <p:nvPr/>
        </p:nvSpPr>
        <p:spPr>
          <a:xfrm>
            <a:off x="3840480" y="3995928"/>
            <a:ext cx="27432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what it was billed, the</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per-table minimum</a:t>
            </a:r>
            <a:endParaRPr lang="en-US" sz="1200" dirty="0"/>
          </a:p>
        </p:txBody>
      </p:sp>
      <p:sp>
        <p:nvSpPr>
          <p:cNvPr id="10" name="Text 7"/>
          <p:cNvSpPr/>
          <p:nvPr/>
        </p:nvSpPr>
        <p:spPr>
          <a:xfrm>
            <a:off x="7132320" y="3246120"/>
            <a:ext cx="237744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494 ms</a:t>
            </a:r>
            <a:endParaRPr lang="en-US" sz="3400" dirty="0"/>
          </a:p>
        </p:txBody>
      </p:sp>
      <p:sp>
        <p:nvSpPr>
          <p:cNvPr id="11" name="Text 8"/>
          <p:cNvSpPr/>
          <p:nvPr/>
        </p:nvSpPr>
        <p:spPr>
          <a:xfrm>
            <a:off x="7132320" y="3995928"/>
            <a:ext cx="237744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to answer</a:t>
            </a:r>
            <a:endParaRPr lang="en-US" sz="1200" dirty="0"/>
          </a:p>
        </p:txBody>
      </p:sp>
      <p:sp>
        <p:nvSpPr>
          <p:cNvPr id="12" name="Text 9"/>
          <p:cNvSpPr/>
          <p:nvPr/>
        </p:nvSpPr>
        <p:spPr>
          <a:xfrm>
            <a:off x="9784080" y="3246120"/>
            <a:ext cx="1828800" cy="777240"/>
          </a:xfrm>
          <a:prstGeom prst="rect">
            <a:avLst/>
          </a:prstGeom>
          <a:noFill/>
          <a:ln/>
        </p:spPr>
        <p:txBody>
          <a:bodyPr wrap="square" lIns="0" tIns="0" rIns="0" bIns="0" rtlCol="0" anchor="ctr"/>
          <a:lstStyle/>
          <a:p>
            <a:pPr algn="l" indent="0" marL="0">
              <a:buNone/>
            </a:pPr>
            <a:r>
              <a:rPr lang="en-US" sz="3400" b="1" dirty="0">
                <a:solidFill>
                  <a:srgbClr val="5E6B77"/>
                </a:solidFill>
                <a:latin typeface="Cambria" pitchFamily="34" charset="0"/>
                <a:ea typeface="Cambria" pitchFamily="34" charset="-122"/>
                <a:cs typeface="Cambria" pitchFamily="34" charset="-120"/>
              </a:rPr>
              <a:t>87</a:t>
            </a:r>
            <a:endParaRPr lang="en-US" sz="3400" dirty="0"/>
          </a:p>
        </p:txBody>
      </p:sp>
      <p:sp>
        <p:nvSpPr>
          <p:cNvPr id="13" name="Text 10"/>
          <p:cNvSpPr/>
          <p:nvPr/>
        </p:nvSpPr>
        <p:spPr>
          <a:xfrm>
            <a:off x="9784080" y="3995928"/>
            <a:ext cx="1828800" cy="457200"/>
          </a:xfrm>
          <a:prstGeom prst="rect">
            <a:avLst/>
          </a:prstGeom>
          <a:noFill/>
          <a:ln/>
        </p:spPr>
        <p:txBody>
          <a:bodyPr wrap="square" lIns="0" tIns="0" rIns="0" bIns="0" rtlCol="0" anchor="ctr"/>
          <a:lstStyle/>
          <a:p>
            <a:pPr algn="l" indent="0" marL="0">
              <a:buNone/>
            </a:pPr>
            <a:r>
              <a:rPr lang="en-US" sz="1200" dirty="0">
                <a:solidFill>
                  <a:srgbClr val="5E6B77"/>
                </a:solidFill>
                <a:latin typeface="Calibri" pitchFamily="34" charset="0"/>
                <a:ea typeface="Calibri" pitchFamily="34" charset="-122"/>
                <a:cs typeface="Calibri" pitchFamily="34" charset="-120"/>
              </a:rPr>
              <a:t>segments, matching</a:t>
            </a:r>
            <a:endParaRPr lang="en-US" sz="1200" dirty="0"/>
          </a:p>
          <a:p>
            <a:pPr algn="l" indent="0" marL="0">
              <a:buNone/>
            </a:pPr>
            <a:r>
              <a:rPr lang="en-US" sz="1200" dirty="0">
                <a:solidFill>
                  <a:srgbClr val="5E6B77"/>
                </a:solidFill>
                <a:latin typeface="Calibri" pitchFamily="34" charset="0"/>
                <a:ea typeface="Calibri" pitchFamily="34" charset="-122"/>
                <a:cs typeface="Calibri" pitchFamily="34" charset="-120"/>
              </a:rPr>
              <a:t>the local warehouse</a:t>
            </a:r>
            <a:endParaRPr lang="en-US" sz="1200" dirty="0"/>
          </a:p>
        </p:txBody>
      </p:sp>
      <p:sp>
        <p:nvSpPr>
          <p:cNvPr id="14" name="Shape 11"/>
          <p:cNvSpPr/>
          <p:nvPr/>
        </p:nvSpPr>
        <p:spPr>
          <a:xfrm>
            <a:off x="566928" y="4892040"/>
            <a:ext cx="11027664" cy="1371600"/>
          </a:xfrm>
          <a:prstGeom prst="roundRect">
            <a:avLst>
              <a:gd name="adj" fmla="val 4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5" name="Text 12"/>
          <p:cNvSpPr/>
          <p:nvPr/>
        </p:nvSpPr>
        <p:spPr>
          <a:xfrm>
            <a:off x="859536" y="5084064"/>
            <a:ext cx="10424160" cy="320040"/>
          </a:xfrm>
          <a:prstGeom prst="rect">
            <a:avLst/>
          </a:prstGeom>
          <a:noFill/>
          <a:ln/>
        </p:spPr>
        <p:txBody>
          <a:bodyPr wrap="square" lIns="0" tIns="0" rIns="0" bIns="0" rtlCol="0" anchor="ctr"/>
          <a:lstStyle/>
          <a:p>
            <a:pPr indent="0" marL="0">
              <a:buNone/>
            </a:pPr>
            <a:r>
              <a:rPr lang="en-US" sz="1600" b="1" dirty="0">
                <a:solidFill>
                  <a:srgbClr val="2E6F5E"/>
                </a:solidFill>
                <a:latin typeface="Cambria" pitchFamily="34" charset="0"/>
                <a:ea typeface="Cambria" pitchFamily="34" charset="-122"/>
                <a:cs typeface="Cambria" pitchFamily="34" charset="-120"/>
              </a:rPr>
              <a:t>The saving is real in bytes and zero in money</a:t>
            </a:r>
            <a:endParaRPr lang="en-US" sz="1600" dirty="0"/>
          </a:p>
        </p:txBody>
      </p:sp>
      <p:sp>
        <p:nvSpPr>
          <p:cNvPr id="16" name="Text 13"/>
          <p:cNvSpPr/>
          <p:nvPr/>
        </p:nvSpPr>
        <p:spPr>
          <a:xfrm>
            <a:off x="859536" y="5440680"/>
            <a:ext cx="10424160" cy="68580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Both queries round to the same 10 MB minimum, and the sandbox includes the first terabyte each month. Reporting a three times saving as a cost saving on this dataset would be wrong. The ratio only becomes money when the table is large enough for the meter to notice.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B3453A"/>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SELECT star is not what costs</a:t>
            </a:r>
            <a:endParaRPr lang="en-US" sz="3200" dirty="0"/>
          </a:p>
        </p:txBody>
      </p:sp>
      <p:sp>
        <p:nvSpPr>
          <p:cNvPr id="4" name="Shape 2"/>
          <p:cNvSpPr/>
          <p:nvPr/>
        </p:nvSpPr>
        <p:spPr>
          <a:xfrm>
            <a:off x="566928" y="1325880"/>
            <a:ext cx="11027664" cy="914400"/>
          </a:xfrm>
          <a:prstGeom prst="roundRect">
            <a:avLst>
              <a:gd name="adj" fmla="val 6000"/>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5" name="Text 3"/>
          <p:cNvSpPr/>
          <p:nvPr/>
        </p:nvSpPr>
        <p:spPr>
          <a:xfrm>
            <a:off x="859536" y="1536192"/>
            <a:ext cx="10424160" cy="457200"/>
          </a:xfrm>
          <a:prstGeom prst="rect">
            <a:avLst/>
          </a:prstGeom>
          <a:noFill/>
          <a:ln/>
        </p:spPr>
        <p:txBody>
          <a:bodyPr wrap="square" lIns="0" tIns="0" rIns="0" bIns="0" rtlCol="0" anchor="ctr"/>
          <a:lstStyle/>
          <a:p>
            <a:pPr indent="0" marL="0">
              <a:buNone/>
            </a:pPr>
            <a:r>
              <a:rPr lang="en-US" sz="1500" dirty="0">
                <a:solidFill>
                  <a:srgbClr val="24303A"/>
                </a:solidFill>
                <a:latin typeface="Calibri" pitchFamily="34" charset="0"/>
                <a:ea typeface="Calibri" pitchFamily="34" charset="-122"/>
                <a:cs typeface="Calibri" pitchFamily="34" charset="-120"/>
              </a:rPr>
              <a:t>Unit 5: the most expensive words in the cloud are SELECT star.</a:t>
            </a:r>
            <a:endParaRPr lang="en-US" sz="1500" dirty="0"/>
          </a:p>
        </p:txBody>
      </p:sp>
      <p:sp>
        <p:nvSpPr>
          <p:cNvPr id="6" name="Text 4"/>
          <p:cNvSpPr/>
          <p:nvPr/>
        </p:nvSpPr>
        <p:spPr>
          <a:xfrm>
            <a:off x="566928" y="2423160"/>
            <a:ext cx="11027664" cy="457200"/>
          </a:xfrm>
          <a:prstGeom prst="rect">
            <a:avLst/>
          </a:prstGeom>
          <a:noFill/>
          <a:ln/>
        </p:spPr>
        <p:txBody>
          <a:bodyPr wrap="square" lIns="0" tIns="0" rIns="0" bIns="0" rtlCol="0" anchor="t"/>
          <a:lstStyle/>
          <a:p>
            <a:pPr algn="l" indent="0" marL="0">
              <a:lnSpc>
                <a:spcPct val="115000"/>
              </a:lnSpc>
              <a:buNone/>
            </a:pPr>
            <a:r>
              <a:rPr lang="en-US" sz="1500" dirty="0">
                <a:solidFill>
                  <a:srgbClr val="24303A"/>
                </a:solidFill>
                <a:latin typeface="Calibri" pitchFamily="34" charset="0"/>
                <a:ea typeface="Calibri" pitchFamily="34" charset="-122"/>
                <a:cs typeface="Calibri" pitchFamily="34" charset="-120"/>
              </a:rPr>
              <a:t>We built a query to demonstrate that. It did not demonstrate it.</a:t>
            </a:r>
            <a:endParaRPr lang="en-US" sz="1500" dirty="0"/>
          </a:p>
        </p:txBody>
      </p:sp>
      <p:sp>
        <p:nvSpPr>
          <p:cNvPr id="7" name="Shape 5"/>
          <p:cNvSpPr/>
          <p:nvPr/>
        </p:nvSpPr>
        <p:spPr>
          <a:xfrm>
            <a:off x="566928" y="2971800"/>
            <a:ext cx="5394960" cy="1828800"/>
          </a:xfrm>
          <a:prstGeom prst="roundRect">
            <a:avLst>
              <a:gd name="adj" fmla="val 3000"/>
            </a:avLst>
          </a:prstGeom>
          <a:solidFill>
            <a:srgbClr val="F6E9E7"/>
          </a:solidFill>
          <a:ln w="12700">
            <a:solidFill>
              <a:srgbClr val="F6E9E7"/>
            </a:solidFill>
            <a:prstDash val="solid"/>
          </a:ln>
          <a:effectLst>
            <a:outerShdw sx="100000" sy="100000" kx="0" ky="0" algn="bl" rotWithShape="0" blurRad="101600" dist="12700" dir="5400000">
              <a:srgbClr val="9AA5AE">
                <a:alpha val="25000"/>
              </a:srgbClr>
            </a:outerShdw>
          </a:effectLst>
        </p:spPr>
      </p:sp>
      <p:sp>
        <p:nvSpPr>
          <p:cNvPr id="8" name="Text 6"/>
          <p:cNvSpPr/>
          <p:nvPr/>
        </p:nvSpPr>
        <p:spPr>
          <a:xfrm>
            <a:off x="841248" y="3154680"/>
            <a:ext cx="4846320" cy="292608"/>
          </a:xfrm>
          <a:prstGeom prst="rect">
            <a:avLst/>
          </a:prstGeom>
          <a:noFill/>
          <a:ln/>
        </p:spPr>
        <p:txBody>
          <a:bodyPr wrap="square" lIns="0" tIns="0" rIns="0" bIns="0" rtlCol="0" anchor="ctr"/>
          <a:lstStyle/>
          <a:p>
            <a:pPr indent="0" marL="0">
              <a:buNone/>
            </a:pPr>
            <a:r>
              <a:rPr lang="en-US" sz="1500" b="1" dirty="0">
                <a:solidFill>
                  <a:srgbClr val="B3453A"/>
                </a:solidFill>
                <a:latin typeface="Cambria" pitchFamily="34" charset="0"/>
                <a:ea typeface="Cambria" pitchFamily="34" charset="-122"/>
                <a:cs typeface="Cambria" pitchFamily="34" charset="-120"/>
              </a:rPr>
              <a:t>What we expected</a:t>
            </a:r>
            <a:endParaRPr lang="en-US" sz="1500" dirty="0"/>
          </a:p>
        </p:txBody>
      </p:sp>
      <p:sp>
        <p:nvSpPr>
          <p:cNvPr id="9" name="Text 7"/>
          <p:cNvSpPr/>
          <p:nvPr/>
        </p:nvSpPr>
        <p:spPr>
          <a:xfrm>
            <a:off x="841248" y="3502152"/>
            <a:ext cx="4846320" cy="118872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Wrap the table in a subquery selecting everything, aggregate six columns, and pay for all twenty-four. Predicted 5.34 MB.</a:t>
            </a:r>
            <a:endParaRPr lang="en-US" sz="1250" dirty="0"/>
          </a:p>
        </p:txBody>
      </p:sp>
      <p:sp>
        <p:nvSpPr>
          <p:cNvPr id="10" name="Shape 8"/>
          <p:cNvSpPr/>
          <p:nvPr/>
        </p:nvSpPr>
        <p:spPr>
          <a:xfrm>
            <a:off x="6217920" y="2971800"/>
            <a:ext cx="5376672" cy="1828800"/>
          </a:xfrm>
          <a:prstGeom prst="roundRect">
            <a:avLst>
              <a:gd name="adj" fmla="val 3000"/>
            </a:avLst>
          </a:prstGeom>
          <a:solidFill>
            <a:srgbClr val="EAF0ED"/>
          </a:solidFill>
          <a:ln w="12700">
            <a:solidFill>
              <a:srgbClr val="EAF0ED"/>
            </a:solidFill>
            <a:prstDash val="solid"/>
          </a:ln>
          <a:effectLst>
            <a:outerShdw sx="100000" sy="100000" kx="0" ky="0" algn="bl" rotWithShape="0" blurRad="101600" dist="12700" dir="5400000">
              <a:srgbClr val="9AA5AE">
                <a:alpha val="25000"/>
              </a:srgbClr>
            </a:outerShdw>
          </a:effectLst>
        </p:spPr>
      </p:sp>
      <p:sp>
        <p:nvSpPr>
          <p:cNvPr id="11" name="Text 9"/>
          <p:cNvSpPr/>
          <p:nvPr/>
        </p:nvSpPr>
        <p:spPr>
          <a:xfrm>
            <a:off x="6492240" y="3154680"/>
            <a:ext cx="4846320" cy="292608"/>
          </a:xfrm>
          <a:prstGeom prst="rect">
            <a:avLst/>
          </a:prstGeom>
          <a:noFill/>
          <a:ln/>
        </p:spPr>
        <p:txBody>
          <a:bodyPr wrap="square" lIns="0" tIns="0" rIns="0" bIns="0" rtlCol="0" anchor="ctr"/>
          <a:lstStyle/>
          <a:p>
            <a:pPr indent="0" marL="0">
              <a:buNone/>
            </a:pPr>
            <a:r>
              <a:rPr lang="en-US" sz="1500" b="1" dirty="0">
                <a:solidFill>
                  <a:srgbClr val="2E6F5E"/>
                </a:solidFill>
                <a:latin typeface="Cambria" pitchFamily="34" charset="0"/>
                <a:ea typeface="Cambria" pitchFamily="34" charset="-122"/>
                <a:cs typeface="Cambria" pitchFamily="34" charset="-120"/>
              </a:rPr>
              <a:t>What happened</a:t>
            </a:r>
            <a:endParaRPr lang="en-US" sz="1500" dirty="0"/>
          </a:p>
        </p:txBody>
      </p:sp>
      <p:sp>
        <p:nvSpPr>
          <p:cNvPr id="12" name="Text 10"/>
          <p:cNvSpPr/>
          <p:nvPr/>
        </p:nvSpPr>
        <p:spPr>
          <a:xfrm>
            <a:off x="6492240" y="3502152"/>
            <a:ext cx="4846320" cy="1188720"/>
          </a:xfrm>
          <a:prstGeom prst="rect">
            <a:avLst/>
          </a:prstGeom>
          <a:noFill/>
          <a:ln/>
        </p:spPr>
        <p:txBody>
          <a:bodyPr wrap="square" lIns="0" tIns="0" rIns="0" bIns="0" rtlCol="0" anchor="t"/>
          <a:lstStyle/>
          <a:p>
            <a:pPr algn="l" indent="0" marL="0">
              <a:lnSpc>
                <a:spcPct val="115000"/>
              </a:lnSpc>
              <a:buNone/>
            </a:pPr>
            <a:r>
              <a:rPr lang="en-US" sz="1250" dirty="0">
                <a:solidFill>
                  <a:srgbClr val="24303A"/>
                </a:solidFill>
                <a:latin typeface="Calibri" pitchFamily="34" charset="0"/>
                <a:ea typeface="Calibri" pitchFamily="34" charset="-122"/>
                <a:cs typeface="Calibri" pitchFamily="34" charset="-120"/>
              </a:rPr>
              <a:t>Still 1.81 MB. BigQuery prunes columns the query never references, even through the subquery. The literal words cost nothing.</a:t>
            </a:r>
            <a:endParaRPr lang="en-US" sz="1250" dirty="0"/>
          </a:p>
        </p:txBody>
      </p:sp>
      <p:sp>
        <p:nvSpPr>
          <p:cNvPr id="13" name="Shape 11"/>
          <p:cNvSpPr/>
          <p:nvPr/>
        </p:nvSpPr>
        <p:spPr>
          <a:xfrm>
            <a:off x="566928" y="4983480"/>
            <a:ext cx="11027664" cy="1280160"/>
          </a:xfrm>
          <a:prstGeom prst="roundRect">
            <a:avLst>
              <a:gd name="adj" fmla="val 4286"/>
            </a:avLst>
          </a:prstGeom>
          <a:solidFill>
            <a:srgbClr val="F1F3F5"/>
          </a:solidFill>
          <a:ln w="12700">
            <a:solidFill>
              <a:srgbClr val="F1F3F5"/>
            </a:solidFill>
            <a:prstDash val="solid"/>
          </a:ln>
          <a:effectLst>
            <a:outerShdw sx="100000" sy="100000" kx="0" ky="0" algn="bl" rotWithShape="0" blurRad="101600" dist="12700" dir="5400000">
              <a:srgbClr val="9AA5AE">
                <a:alpha val="25000"/>
              </a:srgbClr>
            </a:outerShdw>
          </a:effectLst>
        </p:spPr>
      </p:sp>
      <p:sp>
        <p:nvSpPr>
          <p:cNvPr id="14" name="Text 12"/>
          <p:cNvSpPr/>
          <p:nvPr/>
        </p:nvSpPr>
        <p:spPr>
          <a:xfrm>
            <a:off x="859536" y="5166360"/>
            <a:ext cx="10424160" cy="320040"/>
          </a:xfrm>
          <a:prstGeom prst="rect">
            <a:avLst/>
          </a:prstGeom>
          <a:noFill/>
          <a:ln/>
        </p:spPr>
        <p:txBody>
          <a:bodyPr wrap="square" lIns="0" tIns="0" rIns="0" bIns="0" rtlCol="0" anchor="ctr"/>
          <a:lstStyle/>
          <a:p>
            <a:pPr indent="0" marL="0">
              <a:buNone/>
            </a:pPr>
            <a:r>
              <a:rPr lang="en-US" sz="1600" b="1" dirty="0">
                <a:solidFill>
                  <a:srgbClr val="24303A"/>
                </a:solidFill>
                <a:latin typeface="Cambria" pitchFamily="34" charset="0"/>
                <a:ea typeface="Cambria" pitchFamily="34" charset="-122"/>
                <a:cs typeface="Cambria" pitchFamily="34" charset="-120"/>
              </a:rPr>
              <a:t>The rule that survives testing is narrower</a:t>
            </a:r>
            <a:endParaRPr lang="en-US" sz="1600" dirty="0"/>
          </a:p>
        </p:txBody>
      </p:sp>
      <p:sp>
        <p:nvSpPr>
          <p:cNvPr id="15" name="Text 13"/>
          <p:cNvSpPr/>
          <p:nvPr/>
        </p:nvSpPr>
        <p:spPr>
          <a:xfrm>
            <a:off x="859536" y="5513832"/>
            <a:ext cx="10424160" cy="640080"/>
          </a:xfrm>
          <a:prstGeom prst="rect">
            <a:avLst/>
          </a:prstGeom>
          <a:noFill/>
          <a:ln/>
        </p:spPr>
        <p:txBody>
          <a:bodyPr wrap="square" lIns="0" tIns="0" rIns="0" bIns="0" rtlCol="0" anchor="t"/>
          <a:lstStyle/>
          <a:p>
            <a:pPr algn="l" indent="0" marL="0">
              <a:lnSpc>
                <a:spcPct val="115000"/>
              </a:lnSpc>
              <a:buNone/>
            </a:pPr>
            <a:r>
              <a:rPr lang="en-US" sz="1300" dirty="0">
                <a:solidFill>
                  <a:srgbClr val="24303A"/>
                </a:solidFill>
                <a:latin typeface="Calibri" pitchFamily="34" charset="0"/>
                <a:ea typeface="Calibri" pitchFamily="34" charset="-122"/>
                <a:cs typeface="Calibri" pitchFamily="34" charset="-120"/>
              </a:rPr>
              <a:t>You pay for the columns your query references. The saving comes from needing fewer columns, not from how the FROM clause is written. Only a bare SELECT star, with nothing left to prune, reached 5.34 MB.</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46304"/>
            <a:ext cx="11027664" cy="274320"/>
          </a:xfrm>
          <a:prstGeom prst="rect">
            <a:avLst/>
          </a:prstGeom>
          <a:noFill/>
          <a:ln/>
        </p:spPr>
        <p:txBody>
          <a:bodyPr wrap="square" lIns="0" tIns="0" rIns="0" bIns="0" rtlCol="0" anchor="ctr"/>
          <a:lstStyle/>
          <a:p>
            <a:pPr indent="0" marL="0">
              <a:buNone/>
            </a:pPr>
            <a:r>
              <a:rPr lang="en-US" sz="1150" b="1" spc="200" kern="0" dirty="0">
                <a:solidFill>
                  <a:srgbClr val="2E6F5E"/>
                </a:solidFill>
                <a:latin typeface="Calibri" pitchFamily="34" charset="0"/>
                <a:ea typeface="Calibri" pitchFamily="34" charset="-122"/>
                <a:cs typeface="Calibri" pitchFamily="34" charset="-120"/>
              </a:rPr>
              <a:t>LAB 5</a:t>
            </a:r>
            <a:endParaRPr lang="en-US" sz="1150" dirty="0"/>
          </a:p>
        </p:txBody>
      </p:sp>
      <p:sp>
        <p:nvSpPr>
          <p:cNvPr id="3" name="Text 1"/>
          <p:cNvSpPr/>
          <p:nvPr/>
        </p:nvSpPr>
        <p:spPr>
          <a:xfrm>
            <a:off x="566928" y="411480"/>
            <a:ext cx="11027664" cy="685800"/>
          </a:xfrm>
          <a:prstGeom prst="rect">
            <a:avLst/>
          </a:prstGeom>
          <a:noFill/>
          <a:ln/>
        </p:spPr>
        <p:txBody>
          <a:bodyPr wrap="square" lIns="0" tIns="0" rIns="0" bIns="0" rtlCol="0" anchor="ctr"/>
          <a:lstStyle/>
          <a:p>
            <a:pPr algn="l" indent="0" marL="0">
              <a:buNone/>
            </a:pPr>
            <a:r>
              <a:rPr lang="en-US" sz="3200" b="1" dirty="0">
                <a:solidFill>
                  <a:srgbClr val="24303A"/>
                </a:solidFill>
                <a:latin typeface="Cambria" pitchFamily="34" charset="0"/>
                <a:ea typeface="Cambria" pitchFamily="34" charset="-122"/>
                <a:cs typeface="Cambria" pitchFamily="34" charset="-120"/>
              </a:rPr>
              <a:t>The pipeline, with a meter on every box</a:t>
            </a:r>
            <a:endParaRPr lang="en-US" sz="3200" dirty="0"/>
          </a:p>
        </p:txBody>
      </p:sp>
      <p:pic>
        <p:nvPicPr>
          <p:cNvPr id="4" name="Image 0" descr="pipeline.png">    </p:cNvPr>
          <p:cNvPicPr>
            <a:picLocks noChangeAspect="1"/>
          </p:cNvPicPr>
          <p:nvPr/>
        </p:nvPicPr>
        <p:blipFill>
          <a:blip r:embed="rId1"/>
          <a:stretch>
            <a:fillRect/>
          </a:stretch>
        </p:blipFill>
        <p:spPr>
          <a:xfrm>
            <a:off x="1188720" y="1234440"/>
            <a:ext cx="9784080" cy="4718304"/>
          </a:xfrm>
          <a:prstGeom prst="rect">
            <a:avLst/>
          </a:prstGeom>
        </p:spPr>
      </p:pic>
      <p:sp>
        <p:nvSpPr>
          <p:cNvPr id="5" name="Text 2"/>
          <p:cNvSpPr/>
          <p:nvPr/>
        </p:nvSpPr>
        <p:spPr>
          <a:xfrm>
            <a:off x="566928" y="6053328"/>
            <a:ext cx="11027664" cy="411480"/>
          </a:xfrm>
          <a:prstGeom prst="rect">
            <a:avLst/>
          </a:prstGeom>
          <a:noFill/>
          <a:ln/>
        </p:spPr>
        <p:txBody>
          <a:bodyPr wrap="square" lIns="0" tIns="0" rIns="0" bIns="0" rtlCol="0" anchor="t"/>
          <a:lstStyle/>
          <a:p>
            <a:pPr algn="l" indent="0" marL="0">
              <a:lnSpc>
                <a:spcPct val="115000"/>
              </a:lnSpc>
              <a:buNone/>
            </a:pPr>
            <a:r>
              <a:rPr lang="en-US" sz="1150" dirty="0">
                <a:solidFill>
                  <a:srgbClr val="5E6B77"/>
                </a:solidFill>
                <a:latin typeface="Calibri" pitchFamily="34" charset="0"/>
                <a:ea typeface="Calibri" pitchFamily="34" charset="-122"/>
                <a:cs typeface="Calibri" pitchFamily="34" charset="-120"/>
              </a:rPr>
              <a:t>The pipeline this project already builds, drawn with cloud services in place of local ones. Colour marks which meter each stage runs on. The reject path and the audit table get boxes of their own, because most diagrams draw only the happy path.</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4303A"/>
        </a:solidFill>
      </p:bgPr>
    </p:bg>
    <p:spTree>
      <p:nvGrpSpPr>
        <p:cNvPr id="1" name=""/>
        <p:cNvGrpSpPr/>
        <p:nvPr/>
      </p:nvGrpSpPr>
      <p:grpSpPr>
        <a:xfrm>
          <a:off x="0" y="0"/>
          <a:ext cx="0" cy="0"/>
          <a:chOff x="0" y="0"/>
          <a:chExt cx="0" cy="0"/>
        </a:xfrm>
      </p:grpSpPr>
      <p:sp>
        <p:nvSpPr>
          <p:cNvPr id="2" name="Text 0"/>
          <p:cNvSpPr/>
          <p:nvPr/>
        </p:nvSpPr>
        <p:spPr>
          <a:xfrm>
            <a:off x="566928" y="1051560"/>
            <a:ext cx="100584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repository</a:t>
            </a:r>
            <a:endParaRPr lang="en-US" sz="3000" dirty="0"/>
          </a:p>
        </p:txBody>
      </p:sp>
      <p:sp>
        <p:nvSpPr>
          <p:cNvPr id="3" name="Text 1"/>
          <p:cNvSpPr/>
          <p:nvPr/>
        </p:nvSpPr>
        <p:spPr>
          <a:xfrm>
            <a:off x="566928" y="1645920"/>
            <a:ext cx="10058400" cy="411480"/>
          </a:xfrm>
          <a:prstGeom prst="rect">
            <a:avLst/>
          </a:prstGeom>
          <a:noFill/>
          <a:ln/>
        </p:spPr>
        <p:txBody>
          <a:bodyPr wrap="square" lIns="0" tIns="0" rIns="0" bIns="0" rtlCol="0" anchor="ctr"/>
          <a:lstStyle/>
          <a:p>
            <a:pPr indent="0" marL="0">
              <a:buNone/>
            </a:pPr>
            <a:r>
              <a:rPr lang="en-US" sz="1600" dirty="0">
                <a:solidFill>
                  <a:srgbClr val="8FC3B2"/>
                </a:solidFill>
                <a:latin typeface="Consolas" pitchFamily="34" charset="0"/>
                <a:ea typeface="Consolas" pitchFamily="34" charset="-122"/>
                <a:cs typeface="Consolas" pitchFamily="34" charset="-120"/>
              </a:rPr>
              <a:t>github.com/zukazudo/dsai6226-data-engineering</a:t>
            </a:r>
            <a:endParaRPr lang="en-US" sz="1600" dirty="0"/>
          </a:p>
        </p:txBody>
      </p:sp>
      <p:sp>
        <p:nvSpPr>
          <p:cNvPr id="4" name="Shape 2"/>
          <p:cNvSpPr/>
          <p:nvPr/>
        </p:nvSpPr>
        <p:spPr>
          <a:xfrm>
            <a:off x="566928" y="2514600"/>
            <a:ext cx="2066544" cy="1828800"/>
          </a:xfrm>
          <a:prstGeom prst="roundRect">
            <a:avLst>
              <a:gd name="adj" fmla="val 3000"/>
            </a:avLst>
          </a:prstGeom>
          <a:solidFill>
            <a:srgbClr val="313E4A"/>
          </a:solidFill>
          <a:ln w="12700">
            <a:solidFill>
              <a:srgbClr val="313E4A"/>
            </a:solidFill>
            <a:prstDash val="solid"/>
          </a:ln>
        </p:spPr>
      </p:sp>
      <p:sp>
        <p:nvSpPr>
          <p:cNvPr id="5" name="Text 3"/>
          <p:cNvSpPr/>
          <p:nvPr/>
        </p:nvSpPr>
        <p:spPr>
          <a:xfrm>
            <a:off x="749808" y="2724912"/>
            <a:ext cx="182880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1</a:t>
            </a:r>
            <a:endParaRPr lang="en-US" sz="1100" dirty="0"/>
          </a:p>
        </p:txBody>
      </p:sp>
      <p:sp>
        <p:nvSpPr>
          <p:cNvPr id="6" name="Text 4"/>
          <p:cNvSpPr/>
          <p:nvPr/>
        </p:nvSpPr>
        <p:spPr>
          <a:xfrm>
            <a:off x="749808" y="3035808"/>
            <a:ext cx="1920240" cy="320040"/>
          </a:xfrm>
          <a:prstGeom prst="rect">
            <a:avLst/>
          </a:prstGeom>
          <a:noFill/>
          <a:ln/>
        </p:spPr>
        <p:txBody>
          <a:bodyPr wrap="square" lIns="0" tIns="0" rIns="0" bIns="0" rtlCol="0" anchor="ctr"/>
          <a:lstStyle/>
          <a:p>
            <a:pPr indent="0" marL="0">
              <a:buNone/>
            </a:pPr>
            <a:r>
              <a:rPr lang="en-US" sz="1050" b="1" dirty="0">
                <a:solidFill>
                  <a:srgbClr val="FFFFFF"/>
                </a:solidFill>
                <a:latin typeface="Consolas" pitchFamily="34" charset="0"/>
                <a:ea typeface="Consolas" pitchFamily="34" charset="-122"/>
                <a:cs typeface="Consolas" pitchFamily="34" charset="-120"/>
              </a:rPr>
              <a:t>docs/</a:t>
            </a:r>
            <a:endParaRPr lang="en-US" sz="1050" dirty="0"/>
          </a:p>
        </p:txBody>
      </p:sp>
      <p:sp>
        <p:nvSpPr>
          <p:cNvPr id="7" name="Text 5"/>
          <p:cNvSpPr/>
          <p:nvPr/>
        </p:nvSpPr>
        <p:spPr>
          <a:xfrm>
            <a:off x="749808" y="3456432"/>
            <a:ext cx="1737360" cy="822960"/>
          </a:xfrm>
          <a:prstGeom prst="rect">
            <a:avLst/>
          </a:prstGeom>
          <a:noFill/>
          <a:ln/>
        </p:spPr>
        <p:txBody>
          <a:bodyPr wrap="square" lIns="0" tIns="0" rIns="0" bIns="0" rtlCol="0" anchor="ctr"/>
          <a:lstStyle/>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The problem statement,</a:t>
            </a:r>
            <a:endParaRPr lang="en-US" sz="1000" dirty="0"/>
          </a:p>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with four appendices</a:t>
            </a:r>
            <a:endParaRPr lang="en-US" sz="1000" dirty="0"/>
          </a:p>
        </p:txBody>
      </p:sp>
      <p:sp>
        <p:nvSpPr>
          <p:cNvPr id="8" name="Shape 6"/>
          <p:cNvSpPr/>
          <p:nvPr/>
        </p:nvSpPr>
        <p:spPr>
          <a:xfrm>
            <a:off x="2798064" y="2514600"/>
            <a:ext cx="2066544" cy="1828800"/>
          </a:xfrm>
          <a:prstGeom prst="roundRect">
            <a:avLst>
              <a:gd name="adj" fmla="val 3000"/>
            </a:avLst>
          </a:prstGeom>
          <a:solidFill>
            <a:srgbClr val="313E4A"/>
          </a:solidFill>
          <a:ln w="12700">
            <a:solidFill>
              <a:srgbClr val="313E4A"/>
            </a:solidFill>
            <a:prstDash val="solid"/>
          </a:ln>
        </p:spPr>
      </p:sp>
      <p:sp>
        <p:nvSpPr>
          <p:cNvPr id="9" name="Text 7"/>
          <p:cNvSpPr/>
          <p:nvPr/>
        </p:nvSpPr>
        <p:spPr>
          <a:xfrm>
            <a:off x="2980944" y="2724912"/>
            <a:ext cx="182880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2</a:t>
            </a:r>
            <a:endParaRPr lang="en-US" sz="1100" dirty="0"/>
          </a:p>
        </p:txBody>
      </p:sp>
      <p:sp>
        <p:nvSpPr>
          <p:cNvPr id="10" name="Text 8"/>
          <p:cNvSpPr/>
          <p:nvPr/>
        </p:nvSpPr>
        <p:spPr>
          <a:xfrm>
            <a:off x="2980944" y="3035808"/>
            <a:ext cx="1920240" cy="320040"/>
          </a:xfrm>
          <a:prstGeom prst="rect">
            <a:avLst/>
          </a:prstGeom>
          <a:noFill/>
          <a:ln/>
        </p:spPr>
        <p:txBody>
          <a:bodyPr wrap="square" lIns="0" tIns="0" rIns="0" bIns="0" rtlCol="0" anchor="ctr"/>
          <a:lstStyle/>
          <a:p>
            <a:pPr indent="0" marL="0">
              <a:buNone/>
            </a:pPr>
            <a:r>
              <a:rPr lang="en-US" sz="1050" b="1" dirty="0">
                <a:solidFill>
                  <a:srgbClr val="FFFFFF"/>
                </a:solidFill>
                <a:latin typeface="Consolas" pitchFamily="34" charset="0"/>
                <a:ea typeface="Consolas" pitchFamily="34" charset="-122"/>
                <a:cs typeface="Consolas" pitchFamily="34" charset="-120"/>
              </a:rPr>
              <a:t>sql/</a:t>
            </a:r>
            <a:endParaRPr lang="en-US" sz="1050" dirty="0"/>
          </a:p>
        </p:txBody>
      </p:sp>
      <p:sp>
        <p:nvSpPr>
          <p:cNvPr id="11" name="Text 9"/>
          <p:cNvSpPr/>
          <p:nvPr/>
        </p:nvSpPr>
        <p:spPr>
          <a:xfrm>
            <a:off x="2980944" y="3456432"/>
            <a:ext cx="1737360" cy="822960"/>
          </a:xfrm>
          <a:prstGeom prst="rect">
            <a:avLst/>
          </a:prstGeom>
          <a:noFill/>
          <a:ln/>
        </p:spPr>
        <p:txBody>
          <a:bodyPr wrap="square" lIns="0" tIns="0" rIns="0" bIns="0" rtlCol="0" anchor="ctr"/>
          <a:lstStyle/>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Staging, the star,</a:t>
            </a:r>
            <a:endParaRPr lang="en-US" sz="1000" dirty="0"/>
          </a:p>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the load and the query</a:t>
            </a:r>
            <a:endParaRPr lang="en-US" sz="1000" dirty="0"/>
          </a:p>
        </p:txBody>
      </p:sp>
      <p:sp>
        <p:nvSpPr>
          <p:cNvPr id="12" name="Shape 10"/>
          <p:cNvSpPr/>
          <p:nvPr/>
        </p:nvSpPr>
        <p:spPr>
          <a:xfrm>
            <a:off x="5029200" y="2514600"/>
            <a:ext cx="2066544" cy="1828800"/>
          </a:xfrm>
          <a:prstGeom prst="roundRect">
            <a:avLst>
              <a:gd name="adj" fmla="val 3000"/>
            </a:avLst>
          </a:prstGeom>
          <a:solidFill>
            <a:srgbClr val="313E4A"/>
          </a:solidFill>
          <a:ln w="12700">
            <a:solidFill>
              <a:srgbClr val="313E4A"/>
            </a:solidFill>
            <a:prstDash val="solid"/>
          </a:ln>
        </p:spPr>
      </p:sp>
      <p:sp>
        <p:nvSpPr>
          <p:cNvPr id="13" name="Text 11"/>
          <p:cNvSpPr/>
          <p:nvPr/>
        </p:nvSpPr>
        <p:spPr>
          <a:xfrm>
            <a:off x="5212080" y="2724912"/>
            <a:ext cx="182880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3</a:t>
            </a:r>
            <a:endParaRPr lang="en-US" sz="1100" dirty="0"/>
          </a:p>
        </p:txBody>
      </p:sp>
      <p:sp>
        <p:nvSpPr>
          <p:cNvPr id="14" name="Text 12"/>
          <p:cNvSpPr/>
          <p:nvPr/>
        </p:nvSpPr>
        <p:spPr>
          <a:xfrm>
            <a:off x="5212080" y="3035808"/>
            <a:ext cx="1920240" cy="320040"/>
          </a:xfrm>
          <a:prstGeom prst="rect">
            <a:avLst/>
          </a:prstGeom>
          <a:noFill/>
          <a:ln/>
        </p:spPr>
        <p:txBody>
          <a:bodyPr wrap="square" lIns="0" tIns="0" rIns="0" bIns="0" rtlCol="0" anchor="ctr"/>
          <a:lstStyle/>
          <a:p>
            <a:pPr indent="0" marL="0">
              <a:buNone/>
            </a:pPr>
            <a:r>
              <a:rPr lang="en-US" sz="1050" b="1" dirty="0">
                <a:solidFill>
                  <a:srgbClr val="FFFFFF"/>
                </a:solidFill>
                <a:latin typeface="Consolas" pitchFamily="34" charset="0"/>
                <a:ea typeface="Consolas" pitchFamily="34" charset="-122"/>
                <a:cs typeface="Consolas" pitchFamily="34" charset="-120"/>
              </a:rPr>
              <a:t>ingest.py</a:t>
            </a:r>
            <a:endParaRPr lang="en-US" sz="1050" dirty="0"/>
          </a:p>
        </p:txBody>
      </p:sp>
      <p:sp>
        <p:nvSpPr>
          <p:cNvPr id="15" name="Text 13"/>
          <p:cNvSpPr/>
          <p:nvPr/>
        </p:nvSpPr>
        <p:spPr>
          <a:xfrm>
            <a:off x="5212080" y="3456432"/>
            <a:ext cx="1737360" cy="822960"/>
          </a:xfrm>
          <a:prstGeom prst="rect">
            <a:avLst/>
          </a:prstGeom>
          <a:noFill/>
          <a:ln/>
        </p:spPr>
        <p:txBody>
          <a:bodyPr wrap="square" lIns="0" tIns="0" rIns="0" bIns="0" rtlCol="0" anchor="ctr"/>
          <a:lstStyle/>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The ingester, and a fixture</a:t>
            </a:r>
            <a:endParaRPr lang="en-US" sz="1000" dirty="0"/>
          </a:p>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for every reject rule</a:t>
            </a:r>
            <a:endParaRPr lang="en-US" sz="1000" dirty="0"/>
          </a:p>
        </p:txBody>
      </p:sp>
      <p:sp>
        <p:nvSpPr>
          <p:cNvPr id="16" name="Shape 14"/>
          <p:cNvSpPr/>
          <p:nvPr/>
        </p:nvSpPr>
        <p:spPr>
          <a:xfrm>
            <a:off x="7260336" y="2514600"/>
            <a:ext cx="2066544" cy="1828800"/>
          </a:xfrm>
          <a:prstGeom prst="roundRect">
            <a:avLst>
              <a:gd name="adj" fmla="val 3000"/>
            </a:avLst>
          </a:prstGeom>
          <a:solidFill>
            <a:srgbClr val="313E4A"/>
          </a:solidFill>
          <a:ln w="12700">
            <a:solidFill>
              <a:srgbClr val="313E4A"/>
            </a:solidFill>
            <a:prstDash val="solid"/>
          </a:ln>
        </p:spPr>
      </p:sp>
      <p:sp>
        <p:nvSpPr>
          <p:cNvPr id="17" name="Text 15"/>
          <p:cNvSpPr/>
          <p:nvPr/>
        </p:nvSpPr>
        <p:spPr>
          <a:xfrm>
            <a:off x="7443216" y="2724912"/>
            <a:ext cx="182880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4</a:t>
            </a:r>
            <a:endParaRPr lang="en-US" sz="1100" dirty="0"/>
          </a:p>
        </p:txBody>
      </p:sp>
      <p:sp>
        <p:nvSpPr>
          <p:cNvPr id="18" name="Text 16"/>
          <p:cNvSpPr/>
          <p:nvPr/>
        </p:nvSpPr>
        <p:spPr>
          <a:xfrm>
            <a:off x="7443216" y="3035808"/>
            <a:ext cx="1920240" cy="320040"/>
          </a:xfrm>
          <a:prstGeom prst="rect">
            <a:avLst/>
          </a:prstGeom>
          <a:noFill/>
          <a:ln/>
        </p:spPr>
        <p:txBody>
          <a:bodyPr wrap="square" lIns="0" tIns="0" rIns="0" bIns="0" rtlCol="0" anchor="ctr"/>
          <a:lstStyle/>
          <a:p>
            <a:pPr indent="0" marL="0">
              <a:buNone/>
            </a:pPr>
            <a:r>
              <a:rPr lang="en-US" sz="1050" b="1" dirty="0">
                <a:solidFill>
                  <a:srgbClr val="FFFFFF"/>
                </a:solidFill>
                <a:latin typeface="Consolas" pitchFamily="34" charset="0"/>
                <a:ea typeface="Consolas" pitchFamily="34" charset="-122"/>
                <a:cs typeface="Consolas" pitchFamily="34" charset="-120"/>
              </a:rPr>
              <a:t>benchmark.py</a:t>
            </a:r>
            <a:endParaRPr lang="en-US" sz="1050" dirty="0"/>
          </a:p>
        </p:txBody>
      </p:sp>
      <p:sp>
        <p:nvSpPr>
          <p:cNvPr id="19" name="Text 17"/>
          <p:cNvSpPr/>
          <p:nvPr/>
        </p:nvSpPr>
        <p:spPr>
          <a:xfrm>
            <a:off x="7443216" y="3456432"/>
            <a:ext cx="1737360" cy="822960"/>
          </a:xfrm>
          <a:prstGeom prst="rect">
            <a:avLst/>
          </a:prstGeom>
          <a:noFill/>
          <a:ln/>
        </p:spPr>
        <p:txBody>
          <a:bodyPr wrap="square" lIns="0" tIns="0" rIns="0" bIns="0" rtlCol="0" anchor="ctr"/>
          <a:lstStyle/>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The benchmark, and the</a:t>
            </a:r>
            <a:endParaRPr lang="en-US" sz="1000" dirty="0"/>
          </a:p>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check it runs first</a:t>
            </a:r>
            <a:endParaRPr lang="en-US" sz="1000" dirty="0"/>
          </a:p>
        </p:txBody>
      </p:sp>
      <p:sp>
        <p:nvSpPr>
          <p:cNvPr id="20" name="Shape 18"/>
          <p:cNvSpPr/>
          <p:nvPr/>
        </p:nvSpPr>
        <p:spPr>
          <a:xfrm>
            <a:off x="9491472" y="2514600"/>
            <a:ext cx="2066544" cy="1828800"/>
          </a:xfrm>
          <a:prstGeom prst="roundRect">
            <a:avLst>
              <a:gd name="adj" fmla="val 3000"/>
            </a:avLst>
          </a:prstGeom>
          <a:solidFill>
            <a:srgbClr val="313E4A"/>
          </a:solidFill>
          <a:ln w="12700">
            <a:solidFill>
              <a:srgbClr val="313E4A"/>
            </a:solidFill>
            <a:prstDash val="solid"/>
          </a:ln>
        </p:spPr>
      </p:sp>
      <p:sp>
        <p:nvSpPr>
          <p:cNvPr id="21" name="Text 19"/>
          <p:cNvSpPr/>
          <p:nvPr/>
        </p:nvSpPr>
        <p:spPr>
          <a:xfrm>
            <a:off x="9674352" y="2724912"/>
            <a:ext cx="1828800" cy="274320"/>
          </a:xfrm>
          <a:prstGeom prst="rect">
            <a:avLst/>
          </a:prstGeom>
          <a:noFill/>
          <a:ln/>
        </p:spPr>
        <p:txBody>
          <a:bodyPr wrap="square" lIns="0" tIns="0" rIns="0" bIns="0" rtlCol="0" anchor="ctr"/>
          <a:lstStyle/>
          <a:p>
            <a:pPr indent="0" marL="0">
              <a:buNone/>
            </a:pPr>
            <a:r>
              <a:rPr lang="en-US" sz="1100" b="1" spc="200" kern="0" dirty="0">
                <a:solidFill>
                  <a:srgbClr val="8FC3B2"/>
                </a:solidFill>
                <a:latin typeface="Calibri" pitchFamily="34" charset="0"/>
                <a:ea typeface="Calibri" pitchFamily="34" charset="-122"/>
                <a:cs typeface="Calibri" pitchFamily="34" charset="-120"/>
              </a:rPr>
              <a:t>Lab 5</a:t>
            </a:r>
            <a:endParaRPr lang="en-US" sz="1100" dirty="0"/>
          </a:p>
        </p:txBody>
      </p:sp>
      <p:sp>
        <p:nvSpPr>
          <p:cNvPr id="22" name="Text 20"/>
          <p:cNvSpPr/>
          <p:nvPr/>
        </p:nvSpPr>
        <p:spPr>
          <a:xfrm>
            <a:off x="9674352" y="3035808"/>
            <a:ext cx="1920240" cy="320040"/>
          </a:xfrm>
          <a:prstGeom prst="rect">
            <a:avLst/>
          </a:prstGeom>
          <a:noFill/>
          <a:ln/>
        </p:spPr>
        <p:txBody>
          <a:bodyPr wrap="square" lIns="0" tIns="0" rIns="0" bIns="0" rtlCol="0" anchor="ctr"/>
          <a:lstStyle/>
          <a:p>
            <a:pPr indent="0" marL="0">
              <a:buNone/>
            </a:pPr>
            <a:r>
              <a:rPr lang="en-US" sz="1050" b="1" dirty="0">
                <a:solidFill>
                  <a:srgbClr val="FFFFFF"/>
                </a:solidFill>
                <a:latin typeface="Consolas" pitchFamily="34" charset="0"/>
                <a:ea typeface="Consolas" pitchFamily="34" charset="-122"/>
                <a:cs typeface="Consolas" pitchFamily="34" charset="-120"/>
              </a:rPr>
              <a:t>bq_bytes.py</a:t>
            </a:r>
            <a:endParaRPr lang="en-US" sz="1050" dirty="0"/>
          </a:p>
        </p:txBody>
      </p:sp>
      <p:sp>
        <p:nvSpPr>
          <p:cNvPr id="23" name="Text 21"/>
          <p:cNvSpPr/>
          <p:nvPr/>
        </p:nvSpPr>
        <p:spPr>
          <a:xfrm>
            <a:off x="9674352" y="3456432"/>
            <a:ext cx="1737360" cy="822960"/>
          </a:xfrm>
          <a:prstGeom prst="rect">
            <a:avLst/>
          </a:prstGeom>
          <a:noFill/>
          <a:ln/>
        </p:spPr>
        <p:txBody>
          <a:bodyPr wrap="square" lIns="0" tIns="0" rIns="0" bIns="0" rtlCol="0" anchor="ctr"/>
          <a:lstStyle/>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The cloud scan, predicted</a:t>
            </a:r>
            <a:endParaRPr lang="en-US" sz="1000" dirty="0"/>
          </a:p>
          <a:p>
            <a:pPr indent="0" marL="0">
              <a:lnSpc>
                <a:spcPct val="115000"/>
              </a:lnSpc>
              <a:buNone/>
            </a:pPr>
            <a:r>
              <a:rPr lang="en-US" sz="1000" dirty="0">
                <a:solidFill>
                  <a:srgbClr val="A8B4BE"/>
                </a:solidFill>
                <a:latin typeface="Calibri" pitchFamily="34" charset="0"/>
                <a:ea typeface="Calibri" pitchFamily="34" charset="-122"/>
                <a:cs typeface="Calibri" pitchFamily="34" charset="-120"/>
              </a:rPr>
              <a:t>before it was measured</a:t>
            </a:r>
            <a:endParaRPr lang="en-US" sz="1000" dirty="0"/>
          </a:p>
        </p:txBody>
      </p:sp>
      <p:sp>
        <p:nvSpPr>
          <p:cNvPr id="24" name="Text 22"/>
          <p:cNvSpPr/>
          <p:nvPr/>
        </p:nvSpPr>
        <p:spPr>
          <a:xfrm>
            <a:off x="566928" y="4709160"/>
            <a:ext cx="10058400" cy="320040"/>
          </a:xfrm>
          <a:prstGeom prst="rect">
            <a:avLst/>
          </a:prstGeom>
          <a:noFill/>
          <a:ln/>
        </p:spPr>
        <p:txBody>
          <a:bodyPr wrap="square" lIns="0" tIns="0" rIns="0" bIns="0" rtlCol="0" anchor="ctr"/>
          <a:lstStyle/>
          <a:p>
            <a:pPr indent="0" marL="0">
              <a:buNone/>
            </a:pPr>
            <a:r>
              <a:rPr lang="en-US" sz="1300" dirty="0">
                <a:solidFill>
                  <a:srgbClr val="8D9AA6"/>
                </a:solidFill>
                <a:latin typeface="Calibri" pitchFamily="34" charset="0"/>
                <a:ea typeface="Calibri" pitchFamily="34" charset="-122"/>
                <a:cs typeface="Calibri" pitchFamily="34" charset="-120"/>
              </a:rPr>
              <a:t>Build the warehouse from a clean clone in one command</a:t>
            </a:r>
            <a:endParaRPr lang="en-US" sz="1300" dirty="0"/>
          </a:p>
        </p:txBody>
      </p:sp>
      <p:sp>
        <p:nvSpPr>
          <p:cNvPr id="25" name="Shape 23"/>
          <p:cNvSpPr/>
          <p:nvPr/>
        </p:nvSpPr>
        <p:spPr>
          <a:xfrm>
            <a:off x="566928" y="5074920"/>
            <a:ext cx="4937760" cy="457200"/>
          </a:xfrm>
          <a:prstGeom prst="roundRect">
            <a:avLst>
              <a:gd name="adj" fmla="val 10000"/>
            </a:avLst>
          </a:prstGeom>
          <a:solidFill>
            <a:srgbClr val="313E4A"/>
          </a:solidFill>
          <a:ln w="12700">
            <a:solidFill>
              <a:srgbClr val="313E4A"/>
            </a:solidFill>
            <a:prstDash val="solid"/>
          </a:ln>
        </p:spPr>
      </p:sp>
      <p:sp>
        <p:nvSpPr>
          <p:cNvPr id="26" name="Text 24"/>
          <p:cNvSpPr/>
          <p:nvPr/>
        </p:nvSpPr>
        <p:spPr>
          <a:xfrm>
            <a:off x="795528" y="5074920"/>
            <a:ext cx="4572000" cy="45720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python scripts/ingest.py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labs 1 to 5</dc:title>
  <dc:subject>PptxGenJS Presentation</dc:subject>
  <dc:creator>Team E</dc:creator>
  <cp:lastModifiedBy>Team E</cp:lastModifiedBy>
  <cp:revision>1</cp:revision>
  <dcterms:created xsi:type="dcterms:W3CDTF">2026-09-13T14:44:04Z</dcterms:created>
  <dcterms:modified xsi:type="dcterms:W3CDTF">2026-09-13T14:44:04Z</dcterms:modified>
</cp:coreProperties>
</file>